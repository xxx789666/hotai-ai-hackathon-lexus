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大綱列出七個章節與頁碼，並標示兩大產出各落在哪幾頁。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售後人走了才知道，三個前兆是過保、刪項、間隔拉長。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超過78字只標記不刪，仍全部進標註；重複句已上游刪除。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左邊是兩個迴路；右邊審核佇列是線框，決賽再給可操作版。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決策模型即時給出流失機率與可解釋規則，發言者層級高／中／低分級。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大綱（不計入內容頁，同提案摘要）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來源：本簡報章節；兩大產出依企業挑戰題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七個章節、兩大產出，對照頁碼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  提案概述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句；186 句沒抱怨就走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7268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8708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  目標對象與痛點分析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5–8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 17.3%；一般外廠 736 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  解決方案設計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9–11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1＋2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雙迴路、511 人、高風險 74%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0556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1996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  AI 應用方法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12–13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 98.4%；r4 F1 0.685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  獨特優勢與差異化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支撐兩份產出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 位靜默出走者看得到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7268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8708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  預期效益與落地評估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15–17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  補充資料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18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人工核准後才投遞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0556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1996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  附錄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19–24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不計入內容頁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術語、圖表、話術與門檻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133088"/>
            <a:ext cx="5623560" cy="228599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5367528" cy="21396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Persona、高風險議題、市場輿情、AI 技術／模型。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4–13 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句、四種流失 Persona、r4 F1 0.685。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人，74% 真有流失句。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4133088"/>
            <a:ext cx="5623560" cy="228599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4224528"/>
            <a:ext cx="5367528" cy="21396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核心溝通策略、AI 生成內容、接觸點、運作流程圖。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9、15–18、22–24 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 A3、門檻 A4、客訴 A5。人工核准才發。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來源：企業挑戰題、統計檢定報告（T7）、殘餘切分報告（T3）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11556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1064240" cy="10424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　論壇發言者流失率</a:t>
            </a: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χ²=99.5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  18.2%</a:t>
            </a: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　PTT  14.1%</a:t>
            </a: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　Dcard  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句沒抱怨就找出口。母體是論壇發言者，不是全體車主。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94560"/>
            <a:ext cx="5623560" cy="42245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49424"/>
            <a:ext cx="542239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852928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 客群 Persona（客群輪廓）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10 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730752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 高風險議題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6 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608575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 整體市場輿情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句；186 句沒抱怨就走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 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486399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 AI 技術／模型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13、9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194560"/>
            <a:ext cx="5623560" cy="42245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249424"/>
            <a:ext cx="542239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52928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 核心溝通策略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30752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 AI 生成內容範例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附錄 A3、A5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608575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 精準接觸點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保固前 60 天、間隔拉長、刪項後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486399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 運作流程圖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洞察與溝通雙迴路，人工核准才發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9、18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來源：統計檢定報告（T7）；Dcard 偏購車階段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212080" cy="18653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4919472" cy="16824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句流失裡，186 句沒抱怨就找出口。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962656"/>
            <a:ext cx="5212080" cy="18653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072383"/>
            <a:ext cx="4919472" cy="16824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 訊號，在離開之前先辨識。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過保前 60 天、刪項後、間隔拉長，先找到人。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79008" y="987552"/>
            <a:ext cx="5998464" cy="121919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7024" y="1060704"/>
            <a:ext cx="5760720" cy="11094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保固到期前先找到人。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79008" y="2298192"/>
            <a:ext cx="5998464" cy="121919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371344"/>
            <a:ext cx="5760720" cy="11094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次拒項就列管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未同意的項目，回廠時再問。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79008" y="3608831"/>
            <a:ext cx="5998464" cy="121919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3681983"/>
            <a:ext cx="5760720" cy="11094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 1.5 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間隔超過建議週期就提醒。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4937759"/>
            <a:ext cx="11356848" cy="14813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前兆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571292" y="5687568"/>
            <a:ext cx="219456" cy="201168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09036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5612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前兆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49977" y="5687568"/>
            <a:ext cx="219456" cy="201168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87721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4297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前兆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28662" y="5687568"/>
            <a:ext cx="219456" cy="201168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6406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2982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人走了才知道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07347" y="5687568"/>
            <a:ext cx="219456" cy="201168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45091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1667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736 句，可複選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pic>
        <p:nvPicPr>
          <p:cNvPr id="14" name="Picture 13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901952"/>
            <a:ext cx="11356848" cy="38466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803490"/>
            <a:ext cx="11356848" cy="61559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840066"/>
            <a:ext cx="11137392" cy="56073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對應接觸點：待料通知（R5），話術見附錄 A3。零件勝算比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1704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pic>
        <p:nvPicPr>
          <p:cNvPr id="14" name="Picture 13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901952"/>
            <a:ext cx="11356848" cy="38466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803490"/>
            <a:ext cx="11356848" cy="61559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840066"/>
            <a:ext cx="11137392" cy="56073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來源：題目選擇分析、資料品質報告（T7）、去識別報告（T7）；圖 F9_pipeline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3090672"/>
            <a:ext cx="11356848" cy="1051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127248"/>
            <a:ext cx="11137392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次，抽查 50 句（seed 42）漏網 0。超過 78 字（Q3+1.5×IQR）占 7.77%，品質檢查只標記、不刪除，21,183 句仍全部進入標註。切句時另把超過 200 字的段落依逗號切開。22.5 萬則留言切句後為 23.6 萬句（切句使句數增加）。</a:t>
            </a:r>
          </a:p>
        </p:txBody>
      </p:sp>
      <p:pic>
        <p:nvPicPr>
          <p:cNvPr id="10" name="Picture 9" descr="F9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224528"/>
            <a:ext cx="10515599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11356848" cy="43324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三站已爬完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937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595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切句去重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812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470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標註入庫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687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345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只出機率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規則辨識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6437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95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312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970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引用知識庫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2187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5845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核准才投遞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" y="6089903"/>
            <a:ext cx="11356848" cy="3291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108191"/>
            <a:ext cx="111556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2660903" cy="1517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24128"/>
            <a:ext cx="2660903" cy="1517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24128"/>
            <a:ext cx="2660903" cy="1517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24128"/>
            <a:ext cx="2660903" cy="1517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pic>
        <p:nvPicPr>
          <p:cNvPr id="14" name="Picture 1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633472"/>
            <a:ext cx="11356848" cy="320556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893897"/>
            <a:ext cx="11356848" cy="52519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930473"/>
            <a:ext cx="11155680" cy="48861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 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pic>
        <p:nvPicPr>
          <p:cNvPr id="6" name="Picture 5" descr="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456" y="987552"/>
            <a:ext cx="9747183" cy="2240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282696"/>
            <a:ext cx="11356848" cy="43891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319272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1.8%。過保精算派 511 人，平均風險 0.73。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0624" y="3776472"/>
          <a:ext cx="11356848" cy="2258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0624" y="6053327"/>
            <a:ext cx="1135684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700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0704"/>
            <a:ext cx="3499104" cy="17647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8912" y="987552"/>
            <a:ext cx="3700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8640" y="1060704"/>
            <a:ext cx="3499104" cy="17647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7200" y="987552"/>
            <a:ext cx="3700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6928" y="1060704"/>
            <a:ext cx="3499104" cy="17647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953512"/>
            <a:ext cx="5614416" cy="1874519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044952"/>
            <a:ext cx="5358383" cy="1728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句。限制：正例僅 9 句，召回區間 0.45–0.94。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2953512"/>
            <a:ext cx="5614416" cy="1874519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3044952"/>
            <a:ext cx="5358383" cy="1728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同一批人工金標。所以才要兩段式，不能只靠初篩。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4901183"/>
            <a:ext cx="11356848" cy="151790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56047"/>
            <a:ext cx="11119104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限制要一起看：正例僅 9 句，召回區間 0.45–0.94，0.82 不是穩定成績。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066544"/>
            <a:ext cx="5623560" cy="530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103120"/>
            <a:ext cx="5394960" cy="45719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987552"/>
            <a:ext cx="5504688" cy="16093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060704"/>
            <a:ext cx="5230368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2121408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57984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2121408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121408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2157984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59" y="2121408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65791" y="2121408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1" y="2157984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2724912"/>
            <a:ext cx="2198217" cy="259689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2779776"/>
            <a:ext cx="2070201" cy="250545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句售後語料。先寬鬆標，再帶上下文複核。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0281" y="2724912"/>
            <a:ext cx="2198217" cy="259689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3433" y="2779776"/>
            <a:ext cx="2070201" cy="250545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9939" y="2724912"/>
            <a:ext cx="2198217" cy="259689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3091" y="2779776"/>
            <a:ext cx="2070201" cy="250545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只取下一詞機率。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9596" y="2724912"/>
            <a:ext cx="2198217" cy="259689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2748" y="2779776"/>
            <a:ext cx="2070201" cy="250545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用 QLoRA r=16。過採樣到四成；2 epoch、8 GB、5 小時。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9254" y="2724912"/>
            <a:ext cx="2198217" cy="259689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52406" y="2779776"/>
            <a:ext cx="2070201" cy="250545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 P、R 與五段校準。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" y="5431536"/>
            <a:ext cx="11356848" cy="9875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486399"/>
            <a:ext cx="1115568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23560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5385816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規則看替代去向，不靠客訴關鍵字。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這 128 人裡，替代有 55% 是一般外廠。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987552"/>
            <a:ext cx="5623560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042416"/>
            <a:ext cx="5385816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分數說得出原因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風險＝模型機率 ×0.6＋命中規則／8 ×0.4。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74% 真有流失句，低風險只有 1.8%。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523744"/>
            <a:ext cx="5623560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5385816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Qwen3-4B，8 GB 約 5 小時，每句 0.7 秒。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測試集 F1 0.685。CRM 文字不上雲。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523744"/>
            <a:ext cx="5623560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578608"/>
            <a:ext cx="5385816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只有一組被資料分開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k=4 的 ARI 0.08，四個假設沒有全被拆開。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簡報仍用可回溯原句的規則，不假裝分群已分開。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0624" y="4041648"/>
          <a:ext cx="11356848" cy="2377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4754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754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4754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754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47549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7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3151662"/>
                <a:gridCol w="3151662"/>
                <a:gridCol w="3151571"/>
              </a:tblGrid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5266944"/>
            <a:ext cx="11356848" cy="115214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340096"/>
            <a:ext cx="11064240" cy="10424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十二則只列前 40 字。待料全文見附錄 A3，客訴回訪見附錄 A5。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 → 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286000"/>
            <a:ext cx="5074920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340864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584448"/>
            <a:ext cx="5074920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639312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費。人力改花在審名單、審話術。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882896"/>
            <a:ext cx="5074920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937759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五項主要風險，對策見右表。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50992" y="987552"/>
          <a:ext cx="6126480" cy="5084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148840"/>
                <a:gridCol w="2606040"/>
                <a:gridCol w="713232"/>
              </a:tblGrid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225296"/>
          <a:ext cx="1135684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246120"/>
                <a:gridCol w="3520440"/>
                <a:gridCol w="3538728"/>
              </a:tblGrid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7490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3108960"/>
            <a:ext cx="11356848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346704"/>
            <a:ext cx="11356848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11100816" cy="1060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小時可重訓。人工審核回饋持續再訓練。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資料接入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R1–R8 換成 DMS 實際欄位，工單文字去識別後接入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3939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8803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模型校準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重標 300 句金標，重驗 r4、調觸發門檻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54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2118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單一據點試行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一個服務廠跑完流程，專員審核後投遞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5433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 擴大至全台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依試行調整話術與渠道，分批上線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3884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748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 持續監控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日監控、週收樣本、月重評、季重驗模型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6126480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856" y="987552"/>
            <a:ext cx="9228382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4581144"/>
            <a:ext cx="11356848" cy="183794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4581144"/>
            <a:ext cx="11356848" cy="32918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4599431"/>
            <a:ext cx="1117396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65192"/>
            <a:ext cx="3931920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　觸發 R1 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1、13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4968" y="5020056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5056632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0848" y="5020056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5056632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96728" y="5020056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96728" y="5056632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035040"/>
            <a:ext cx="11064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未核准不投遞。決賽再給可操作版。代號為示意，不是論壇帳號。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Persona（客群輪廓）報告（T10）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4297680"/>
                <a:gridCol w="4727448"/>
              </a:tblGrid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9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Persona（客群輪廓）報告（T10）；圖 F2、F4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pic>
        <p:nvPicPr>
          <p:cNvPr id="6" name="Picture 5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40" y="987552"/>
            <a:ext cx="11000815" cy="20848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145536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F2　論壇發言者流失率。　Mobile01 18.2%、PTT 14.1%、Dcard 6.8%。母體是論壇發言者，χ²=99.5。</a:t>
            </a:r>
          </a:p>
        </p:txBody>
      </p:sp>
      <p:pic>
        <p:nvPicPr>
          <p:cNvPr id="9" name="Picture 8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40" y="3621024"/>
            <a:ext cx="11000815" cy="20848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" y="574243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779008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F4　發言者風險分布。　高風險發言者 1,049 人（16.4%）；約八成在低風險。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來源：本機模型報告（T8）、趨勢報告（T15）；圖 F6、F9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pic>
        <p:nvPicPr>
          <p:cNvPr id="6" name="Picture 5" descr="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40" y="987552"/>
            <a:ext cx="11000815" cy="20848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145536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F6　校準曲線。　最高信心桶 n=71，實際流失 68%。高分仍偏高，方向對。</a:t>
            </a:r>
          </a:p>
        </p:txBody>
      </p:sp>
      <p:pic>
        <p:nvPicPr>
          <p:cNvPr id="9" name="Picture 8" descr="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46" y="3621024"/>
            <a:ext cx="10551802" cy="20848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" y="574243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779008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F9　季趨勢預警。　討論量達前 4 週平均 3 倍且至少 5 句就亮燈。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 到貨後如需到府取送車，可在保養或維修預定入廠日前 2 天預約，單程距離限 10 公里以內。若想了解目前進度，請聯絡您的服務專員。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13047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 過保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 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 找出口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 零件等料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 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 已離開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 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13047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