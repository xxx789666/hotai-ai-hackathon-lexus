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由輿情到回廠：產出一看見誰有風險，產出二經人工核准後關懷。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；Haiku 初篩＋Sonnet／GPT 複核（兩段式標註）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 個百分點（假設值，基期實測校正）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 ≥ 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 ≥ 0.8、κ ≥ 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零成本推論: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5" name="toc-axis"/>
          <p:cNvCxnSpPr/>
          <p:nvPr/>
        </p:nvCxnSpPr>
        <p:spPr>
          <a:xfrm>
            <a:off x="822960" y="1344168"/>
            <a:ext cx="0" cy="5029200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20624" y="987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088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1024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2752" y="1024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1825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26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862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862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26639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7645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27005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7005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35021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36027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35387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5387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" y="43403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409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769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3769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" y="51785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" y="52791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52151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52151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" y="6016752"/>
            <a:ext cx="11356848" cy="7132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6117336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6053328"/>
            <a:ext cx="69494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6053328"/>
            <a:ext cx="329184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55448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1042416"/>
            <a:ext cx="4663440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Mobile01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PTT</a:t>
            </a: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Dcard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2864" y="1042416"/>
            <a:ext cx="4736592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公開輿情能在車主離開原廠之前先辨識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254496"/>
            <a:ext cx="8723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兩份產出，一個閉環：每日洞察 → 人工核准的關懷 → 結果回寫 CRM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3456" y="6254496"/>
            <a:ext cx="2286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各章節頁碼見第 2 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07024" y="2944368"/>
            <a:ext cx="384048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12096" y="2944368"/>
            <a:ext cx="1865376" cy="210312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062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公開論壇輿情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816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86000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14016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看見誰有風險</a:t>
            </a:r>
          </a:p>
        </p:txBody>
      </p:sp>
      <p:sp>
        <p:nvSpPr>
          <p:cNvPr id="20" name="Oval 19"/>
          <p:cNvSpPr/>
          <p:nvPr/>
        </p:nvSpPr>
        <p:spPr>
          <a:xfrm>
            <a:off x="2432304" y="322097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98064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四種客群，過保精算派 511 人</a:t>
            </a:r>
          </a:p>
        </p:txBody>
      </p:sp>
      <p:cxnSp>
        <p:nvCxnSpPr>
          <p:cNvPr id="22" name="chart-sep"/>
          <p:cNvCxnSpPr/>
          <p:nvPr/>
        </p:nvCxnSpPr>
        <p:spPr>
          <a:xfrm>
            <a:off x="2414016" y="371703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2432304" y="397535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高風險議題分析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零件等料 17.3%、價格 15.0%</a:t>
            </a:r>
          </a:p>
        </p:txBody>
      </p:sp>
      <p:cxnSp>
        <p:nvCxnSpPr>
          <p:cNvPr id="25" name="chart-sep"/>
          <p:cNvCxnSpPr/>
          <p:nvPr/>
        </p:nvCxnSpPr>
        <p:spPr>
          <a:xfrm>
            <a:off x="2414016" y="447141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2432304" y="472973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整體市場輿情洞察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句售後語料，日週季報</a:t>
            </a:r>
          </a:p>
        </p:txBody>
      </p:sp>
      <p:cxnSp>
        <p:nvCxnSpPr>
          <p:cNvPr id="28" name="chart-sep"/>
          <p:cNvCxnSpPr/>
          <p:nvPr/>
        </p:nvCxnSpPr>
        <p:spPr>
          <a:xfrm>
            <a:off x="2414016" y="5225796"/>
            <a:ext cx="3364992" cy="0"/>
          </a:xfrm>
          <a:prstGeom prst="line">
            <a:avLst/>
          </a:prstGeom>
          <a:ln w="9525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2432304" y="5484114"/>
            <a:ext cx="274320" cy="27432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98064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使用的 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本機模型，F1 0.685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61888" y="3794760"/>
            <a:ext cx="274320" cy="402336"/>
          </a:xfrm>
          <a:prstGeom prst="right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1901952"/>
            <a:ext cx="3621024" cy="4187952"/>
          </a:xfrm>
          <a:prstGeom prst="roundRect">
            <a:avLst>
              <a:gd name="adj" fmla="val 8000"/>
            </a:avLst>
          </a:prstGeom>
          <a:solidFill>
            <a:srgbClr val="FBF3F2"/>
          </a:solidFill>
          <a:ln w="15875">
            <a:solidFill>
              <a:srgbClr val="E3A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1975104"/>
            <a:ext cx="3364991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溝通計畫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對的人、對的時機、說對的話，人工核准</a:t>
            </a:r>
          </a:p>
        </p:txBody>
      </p:sp>
      <p:sp>
        <p:nvSpPr>
          <p:cNvPr id="34" name="Oval 33"/>
          <p:cNvSpPr/>
          <p:nvPr/>
        </p:nvSpPr>
        <p:spPr>
          <a:xfrm>
            <a:off x="6437376" y="322097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03136" y="300837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四種客群配三種進廠時機</a:t>
            </a:r>
          </a:p>
        </p:txBody>
      </p:sp>
      <p:cxnSp>
        <p:nvCxnSpPr>
          <p:cNvPr id="36" name="chart-sep"/>
          <p:cNvCxnSpPr/>
          <p:nvPr/>
        </p:nvCxnSpPr>
        <p:spPr>
          <a:xfrm>
            <a:off x="6419088" y="371703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37376" y="397535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03136" y="376275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則話術對 76 條條款查核</a:t>
            </a:r>
          </a:p>
        </p:txBody>
      </p:sp>
      <p:cxnSp>
        <p:nvCxnSpPr>
          <p:cNvPr id="39" name="chart-sep"/>
          <p:cNvCxnSpPr/>
          <p:nvPr/>
        </p:nvCxnSpPr>
        <p:spPr>
          <a:xfrm>
            <a:off x="6419088" y="447141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437376" y="472973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3136" y="451713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精準接觸點規劃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三個接觸點＋客訴第 7 天回訪</a:t>
            </a:r>
          </a:p>
        </p:txBody>
      </p:sp>
      <p:cxnSp>
        <p:nvCxnSpPr>
          <p:cNvPr id="42" name="chart-sep"/>
          <p:cNvCxnSpPr/>
          <p:nvPr/>
        </p:nvCxnSpPr>
        <p:spPr>
          <a:xfrm>
            <a:off x="6419088" y="5225796"/>
            <a:ext cx="3364992" cy="0"/>
          </a:xfrm>
          <a:prstGeom prst="line">
            <a:avLst/>
          </a:prstGeom>
          <a:ln w="9525">
            <a:solidFill>
              <a:srgbClr val="E3A9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437376" y="548411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5271516"/>
            <a:ext cx="2980944" cy="6995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方案運作流程圖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雙迴路，人工核准才投遞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966960" y="3794760"/>
            <a:ext cx="274320" cy="402336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0296144" y="3218688"/>
            <a:ext cx="1481328" cy="15544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69296" y="3273552"/>
            <a:ext cx="1335024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點擊・預約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寫回 CRM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回頭校正門檻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8836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78992"/>
            <a:ext cx="5358383" cy="1700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980944"/>
            <a:ext cx="11356848" cy="374903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3580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</a:t>
            </a:r>
            <a:br/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261616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85488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8640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98464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22336" y="3364992"/>
            <a:ext cx="3627120" cy="159105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5488" y="3410712"/>
            <a:ext cx="3480816" cy="149961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735312" y="497433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17550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522122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98464" y="5797296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998464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044184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6476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85503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2602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41505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555736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44600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5122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4149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230238"/>
            <a:ext cx="710549" cy="2439041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39815"/>
            <a:ext cx="0" cy="736985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3981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57680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6549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552852"/>
            <a:ext cx="710549" cy="2116427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90182"/>
            <a:ext cx="0" cy="31565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901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70584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11586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329754"/>
            <a:ext cx="710549" cy="133952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4067206"/>
            <a:ext cx="0" cy="48591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40672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55312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7928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415353"/>
            <a:ext cx="710549" cy="125392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269906"/>
            <a:ext cx="0" cy="27711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2699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54702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995586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629406"/>
            <a:ext cx="710549" cy="103987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4101923"/>
            <a:ext cx="0" cy="8870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410192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9890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827603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659522"/>
            <a:ext cx="710549" cy="100975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461267"/>
            <a:ext cx="0" cy="36609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4612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8273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1869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5000368"/>
            <a:ext cx="710549" cy="6689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818327"/>
            <a:ext cx="0" cy="3266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81832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514500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54400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5253023"/>
            <a:ext cx="710549" cy="41625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5032548"/>
            <a:ext cx="0" cy="366143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503254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39869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75822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473438"/>
            <a:ext cx="710549" cy="1958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364835"/>
            <a:ext cx="0" cy="178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36483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543653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509051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696712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3" name="chart:F3:card"/>
          <p:cNvSpPr/>
          <p:nvPr/>
        </p:nvSpPr>
        <p:spPr>
          <a:xfrm>
            <a:off x="420624" y="1975104"/>
            <a:ext cx="11356848" cy="40965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5" name="chart:F3:ylabel"/>
          <p:cNvSpPr txBox="1"/>
          <p:nvPr/>
        </p:nvSpPr>
        <p:spPr>
          <a:xfrm>
            <a:off x="548640" y="2048256"/>
            <a:ext cx="310896" cy="3931920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3:tick"/>
          <p:cNvSpPr txBox="1"/>
          <p:nvPr/>
        </p:nvSpPr>
        <p:spPr>
          <a:xfrm>
            <a:off x="877824" y="555955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90040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3:tick"/>
          <p:cNvSpPr txBox="1"/>
          <p:nvPr/>
        </p:nvSpPr>
        <p:spPr>
          <a:xfrm>
            <a:off x="877824" y="479067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1315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3:tick"/>
          <p:cNvSpPr txBox="1"/>
          <p:nvPr/>
        </p:nvSpPr>
        <p:spPr>
          <a:xfrm>
            <a:off x="877824" y="40217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3626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3:tick"/>
          <p:cNvSpPr txBox="1"/>
          <p:nvPr/>
        </p:nvSpPr>
        <p:spPr>
          <a:xfrm>
            <a:off x="877824" y="32529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566928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3:bar"/>
          <p:cNvSpPr/>
          <p:nvPr/>
        </p:nvSpPr>
        <p:spPr>
          <a:xfrm>
            <a:off x="1625071" y="2839815"/>
            <a:ext cx="1065824" cy="28294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3:value"/>
          <p:cNvSpPr txBox="1"/>
          <p:nvPr/>
        </p:nvSpPr>
        <p:spPr>
          <a:xfrm>
            <a:off x="1396471" y="2565495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7" name="chart:F3:cat"/>
          <p:cNvSpPr txBox="1"/>
          <p:nvPr/>
        </p:nvSpPr>
        <p:spPr>
          <a:xfrm>
            <a:off x="139647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8" name="chart:F3:bar"/>
          <p:cNvSpPr/>
          <p:nvPr/>
        </p:nvSpPr>
        <p:spPr>
          <a:xfrm>
            <a:off x="3344143" y="4769694"/>
            <a:ext cx="1065824" cy="89958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3:value"/>
          <p:cNvSpPr txBox="1"/>
          <p:nvPr/>
        </p:nvSpPr>
        <p:spPr>
          <a:xfrm>
            <a:off x="3115543" y="449537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0" name="chart:F3:cat"/>
          <p:cNvSpPr txBox="1"/>
          <p:nvPr/>
        </p:nvSpPr>
        <p:spPr>
          <a:xfrm>
            <a:off x="3115543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1" name="chart:F3:bar"/>
          <p:cNvSpPr/>
          <p:nvPr/>
        </p:nvSpPr>
        <p:spPr>
          <a:xfrm>
            <a:off x="5063215" y="5150288"/>
            <a:ext cx="1065824" cy="51899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3:value"/>
          <p:cNvSpPr txBox="1"/>
          <p:nvPr/>
        </p:nvSpPr>
        <p:spPr>
          <a:xfrm>
            <a:off x="4834615" y="487596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3" name="chart:F3:cat"/>
          <p:cNvSpPr txBox="1"/>
          <p:nvPr/>
        </p:nvSpPr>
        <p:spPr>
          <a:xfrm>
            <a:off x="4834615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4" name="chart:F3:bar"/>
          <p:cNvSpPr/>
          <p:nvPr/>
        </p:nvSpPr>
        <p:spPr>
          <a:xfrm>
            <a:off x="6782287" y="5400173"/>
            <a:ext cx="1065824" cy="26910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3:value"/>
          <p:cNvSpPr txBox="1"/>
          <p:nvPr/>
        </p:nvSpPr>
        <p:spPr>
          <a:xfrm>
            <a:off x="6553687" y="5125853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6" name="chart:F3:cat"/>
          <p:cNvSpPr txBox="1"/>
          <p:nvPr/>
        </p:nvSpPr>
        <p:spPr>
          <a:xfrm>
            <a:off x="6553687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7" name="chart:F3:bar"/>
          <p:cNvSpPr/>
          <p:nvPr/>
        </p:nvSpPr>
        <p:spPr>
          <a:xfrm>
            <a:off x="8501359" y="5515504"/>
            <a:ext cx="1065824" cy="15377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3:value"/>
          <p:cNvSpPr txBox="1"/>
          <p:nvPr/>
        </p:nvSpPr>
        <p:spPr>
          <a:xfrm>
            <a:off x="8272759" y="524118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39" name="chart:F3:cat"/>
          <p:cNvSpPr txBox="1"/>
          <p:nvPr/>
        </p:nvSpPr>
        <p:spPr>
          <a:xfrm>
            <a:off x="8272759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0" name="chart:F3:bar"/>
          <p:cNvSpPr/>
          <p:nvPr/>
        </p:nvSpPr>
        <p:spPr>
          <a:xfrm>
            <a:off x="10220431" y="5638524"/>
            <a:ext cx="1065824" cy="3075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3:value"/>
          <p:cNvSpPr txBox="1"/>
          <p:nvPr/>
        </p:nvSpPr>
        <p:spPr>
          <a:xfrm>
            <a:off x="9991831" y="5364204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3:cat"/>
          <p:cNvSpPr txBox="1"/>
          <p:nvPr/>
        </p:nvSpPr>
        <p:spPr>
          <a:xfrm>
            <a:off x="9991831" y="5696712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532120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27064" y="987552"/>
          <a:ext cx="5550408" cy="31455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5955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4224527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279391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864607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44444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09036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04841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69433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2585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65238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29830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2982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25635" y="5797296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90227" y="4974335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63379" y="5020055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554480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591056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2529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55648" y="1554480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3936" y="1591056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38144" y="1554480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591056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1554480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2624" y="1591056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47104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05856" y="1618488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77456" y="1554480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5744" y="1591056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1554480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79408" y="1591056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51008" y="1554480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69296" y="1591056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6420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346704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88289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986016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" y="2011680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259568" y="2011680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0624" y="2926080"/>
            <a:ext cx="11356848" cy="2798063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980176" y="2523744"/>
            <a:ext cx="0" cy="2194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512064" y="274320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2743200"/>
            <a:ext cx="0" cy="102412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376732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96312" y="262432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2971800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191256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" y="349300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52958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2344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4408" y="349300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82696" y="352958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71416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983480" y="349300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01768" y="352958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088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31152" y="349300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52958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41080" y="349300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9367" y="352958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74351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186415" y="349300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04703" y="352958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59" y="355701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191256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9103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858000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8567928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113263" y="395020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21792" y="460857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64408" y="460857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83480" y="460857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01768" y="464515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59207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931152" y="460857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49440" y="464515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49540" y="446227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641080" y="460857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649455" y="446227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512064" y="557784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512064" y="418795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2064" y="418795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420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849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5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278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4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06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43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356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722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5643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009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99312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02970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421874" y="5779007"/>
            <a:ext cx="1355598" cy="548640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458450" y="5806440"/>
            <a:ext cx="1300734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20624" y="6382512"/>
            <a:ext cx="11356848" cy="3474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0352" y="6391656"/>
            <a:ext cx="1115568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四種流失論壇發言者，過保精算派最多（511 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3" name="chart:F5:card"/>
          <p:cNvSpPr/>
          <p:nvPr/>
        </p:nvSpPr>
        <p:spPr>
          <a:xfrm>
            <a:off x="420624" y="2651760"/>
            <a:ext cx="11356848" cy="34564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5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6" name="chart:F5:row"/>
          <p:cNvSpPr txBox="1"/>
          <p:nvPr/>
        </p:nvSpPr>
        <p:spPr>
          <a:xfrm>
            <a:off x="548640" y="3072384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5:cell"/>
          <p:cNvSpPr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5:cellv"/>
          <p:cNvSpPr txBox="1"/>
          <p:nvPr/>
        </p:nvSpPr>
        <p:spPr>
          <a:xfrm>
            <a:off x="178308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19" name="chart:F5:cell"/>
          <p:cNvSpPr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F5:cellv"/>
          <p:cNvSpPr txBox="1"/>
          <p:nvPr/>
        </p:nvSpPr>
        <p:spPr>
          <a:xfrm>
            <a:off x="287934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1" name="chart:F5:cell"/>
          <p:cNvSpPr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F5:cellv"/>
          <p:cNvSpPr txBox="1"/>
          <p:nvPr/>
        </p:nvSpPr>
        <p:spPr>
          <a:xfrm>
            <a:off x="397560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chart:F5:cell"/>
          <p:cNvSpPr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5:cellv"/>
          <p:cNvSpPr txBox="1"/>
          <p:nvPr/>
        </p:nvSpPr>
        <p:spPr>
          <a:xfrm>
            <a:off x="507187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5" name="chart:F5:cell"/>
          <p:cNvSpPr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F5:cellv"/>
          <p:cNvSpPr txBox="1"/>
          <p:nvPr/>
        </p:nvSpPr>
        <p:spPr>
          <a:xfrm>
            <a:off x="6168136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7" name="chart:F5:cell"/>
          <p:cNvSpPr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5:cellv"/>
          <p:cNvSpPr txBox="1"/>
          <p:nvPr/>
        </p:nvSpPr>
        <p:spPr>
          <a:xfrm>
            <a:off x="7264400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29" name="chart:F5:cell"/>
          <p:cNvSpPr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5:cellv"/>
          <p:cNvSpPr txBox="1"/>
          <p:nvPr/>
        </p:nvSpPr>
        <p:spPr>
          <a:xfrm>
            <a:off x="8360664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chart:F5:cell"/>
          <p:cNvSpPr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5:cellv"/>
          <p:cNvSpPr txBox="1"/>
          <p:nvPr/>
        </p:nvSpPr>
        <p:spPr>
          <a:xfrm>
            <a:off x="9456928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chart:F5:cell"/>
          <p:cNvSpPr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5:cellv"/>
          <p:cNvSpPr txBox="1"/>
          <p:nvPr/>
        </p:nvSpPr>
        <p:spPr>
          <a:xfrm>
            <a:off x="10553192" y="3072384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5" name="chart:F5:row"/>
          <p:cNvSpPr txBox="1"/>
          <p:nvPr/>
        </p:nvSpPr>
        <p:spPr>
          <a:xfrm>
            <a:off x="548640" y="3599078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6" name="chart:F5:cell"/>
          <p:cNvSpPr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5:cellv"/>
          <p:cNvSpPr txBox="1"/>
          <p:nvPr/>
        </p:nvSpPr>
        <p:spPr>
          <a:xfrm>
            <a:off x="178308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8" name="chart:F5:cell"/>
          <p:cNvSpPr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5:cellv"/>
          <p:cNvSpPr txBox="1"/>
          <p:nvPr/>
        </p:nvSpPr>
        <p:spPr>
          <a:xfrm>
            <a:off x="287934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0" name="chart:F5:cell"/>
          <p:cNvSpPr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5:cellv"/>
          <p:cNvSpPr txBox="1"/>
          <p:nvPr/>
        </p:nvSpPr>
        <p:spPr>
          <a:xfrm>
            <a:off x="397560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2" name="chart:F5:cell"/>
          <p:cNvSpPr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art:F5:cellv"/>
          <p:cNvSpPr txBox="1"/>
          <p:nvPr/>
        </p:nvSpPr>
        <p:spPr>
          <a:xfrm>
            <a:off x="507187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4" name="chart:F5:cell"/>
          <p:cNvSpPr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5:cellv"/>
          <p:cNvSpPr txBox="1"/>
          <p:nvPr/>
        </p:nvSpPr>
        <p:spPr>
          <a:xfrm>
            <a:off x="6168136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6" name="chart:F5:cell"/>
          <p:cNvSpPr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5:cellv"/>
          <p:cNvSpPr txBox="1"/>
          <p:nvPr/>
        </p:nvSpPr>
        <p:spPr>
          <a:xfrm>
            <a:off x="7264400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8" name="chart:F5:cell"/>
          <p:cNvSpPr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art:F5:cellv"/>
          <p:cNvSpPr txBox="1"/>
          <p:nvPr/>
        </p:nvSpPr>
        <p:spPr>
          <a:xfrm>
            <a:off x="8360664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0" name="chart:F5:cell"/>
          <p:cNvSpPr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5:cellv"/>
          <p:cNvSpPr txBox="1"/>
          <p:nvPr/>
        </p:nvSpPr>
        <p:spPr>
          <a:xfrm>
            <a:off x="9456928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2" name="chart:F5:cell"/>
          <p:cNvSpPr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hart:F5:cellv"/>
          <p:cNvSpPr txBox="1"/>
          <p:nvPr/>
        </p:nvSpPr>
        <p:spPr>
          <a:xfrm>
            <a:off x="10553192" y="3599078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4" name="chart:F5:row"/>
          <p:cNvSpPr txBox="1"/>
          <p:nvPr/>
        </p:nvSpPr>
        <p:spPr>
          <a:xfrm>
            <a:off x="548640" y="4125772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5" name="chart:F5:cell"/>
          <p:cNvSpPr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5:cellv"/>
          <p:cNvSpPr txBox="1"/>
          <p:nvPr/>
        </p:nvSpPr>
        <p:spPr>
          <a:xfrm>
            <a:off x="178308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7" name="chart:F5:cell"/>
          <p:cNvSpPr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chart:F5:cellv"/>
          <p:cNvSpPr txBox="1"/>
          <p:nvPr/>
        </p:nvSpPr>
        <p:spPr>
          <a:xfrm>
            <a:off x="287934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9" name="chart:F5:cell"/>
          <p:cNvSpPr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5:cellv"/>
          <p:cNvSpPr txBox="1"/>
          <p:nvPr/>
        </p:nvSpPr>
        <p:spPr>
          <a:xfrm>
            <a:off x="397560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1" name="chart:F5:cell"/>
          <p:cNvSpPr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5:cellv"/>
          <p:cNvSpPr txBox="1"/>
          <p:nvPr/>
        </p:nvSpPr>
        <p:spPr>
          <a:xfrm>
            <a:off x="507187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3" name="chart:F5:cell"/>
          <p:cNvSpPr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5:cellv"/>
          <p:cNvSpPr txBox="1"/>
          <p:nvPr/>
        </p:nvSpPr>
        <p:spPr>
          <a:xfrm>
            <a:off x="6168136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5" name="chart:F5:cell"/>
          <p:cNvSpPr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chart:F5:cellv"/>
          <p:cNvSpPr txBox="1"/>
          <p:nvPr/>
        </p:nvSpPr>
        <p:spPr>
          <a:xfrm>
            <a:off x="7264400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7" name="chart:F5:cell"/>
          <p:cNvSpPr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art:F5:cellv"/>
          <p:cNvSpPr txBox="1"/>
          <p:nvPr/>
        </p:nvSpPr>
        <p:spPr>
          <a:xfrm>
            <a:off x="8360664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69" name="chart:F5:cell"/>
          <p:cNvSpPr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art:F5:cellv"/>
          <p:cNvSpPr txBox="1"/>
          <p:nvPr/>
        </p:nvSpPr>
        <p:spPr>
          <a:xfrm>
            <a:off x="9456928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1" name="chart:F5:cell"/>
          <p:cNvSpPr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hart:F5:cellv"/>
          <p:cNvSpPr txBox="1"/>
          <p:nvPr/>
        </p:nvSpPr>
        <p:spPr>
          <a:xfrm>
            <a:off x="10553192" y="4125772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3" name="chart:F5:row"/>
          <p:cNvSpPr txBox="1"/>
          <p:nvPr/>
        </p:nvSpPr>
        <p:spPr>
          <a:xfrm>
            <a:off x="548640" y="4652467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4" name="chart:F5:cell"/>
          <p:cNvSpPr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hart:F5:cellv"/>
          <p:cNvSpPr txBox="1"/>
          <p:nvPr/>
        </p:nvSpPr>
        <p:spPr>
          <a:xfrm>
            <a:off x="178308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6" name="chart:F5:cell"/>
          <p:cNvSpPr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hart:F5:cellv"/>
          <p:cNvSpPr txBox="1"/>
          <p:nvPr/>
        </p:nvSpPr>
        <p:spPr>
          <a:xfrm>
            <a:off x="287934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8" name="chart:F5:cell"/>
          <p:cNvSpPr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hart:F5:cellv"/>
          <p:cNvSpPr txBox="1"/>
          <p:nvPr/>
        </p:nvSpPr>
        <p:spPr>
          <a:xfrm>
            <a:off x="397560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0" name="chart:F5:cell"/>
          <p:cNvSpPr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hart:F5:cellv"/>
          <p:cNvSpPr txBox="1"/>
          <p:nvPr/>
        </p:nvSpPr>
        <p:spPr>
          <a:xfrm>
            <a:off x="507187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2" name="chart:F5:cell"/>
          <p:cNvSpPr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hart:F5:cellv"/>
          <p:cNvSpPr txBox="1"/>
          <p:nvPr/>
        </p:nvSpPr>
        <p:spPr>
          <a:xfrm>
            <a:off x="6168136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4" name="chart:F5:cell"/>
          <p:cNvSpPr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art:F5:cellv"/>
          <p:cNvSpPr txBox="1"/>
          <p:nvPr/>
        </p:nvSpPr>
        <p:spPr>
          <a:xfrm>
            <a:off x="7264400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6" name="chart:F5:cell"/>
          <p:cNvSpPr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art:F5:cellv"/>
          <p:cNvSpPr txBox="1"/>
          <p:nvPr/>
        </p:nvSpPr>
        <p:spPr>
          <a:xfrm>
            <a:off x="8360664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8" name="chart:F5:cell"/>
          <p:cNvSpPr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chart:F5:cellv"/>
          <p:cNvSpPr txBox="1"/>
          <p:nvPr/>
        </p:nvSpPr>
        <p:spPr>
          <a:xfrm>
            <a:off x="9456928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0" name="chart:F5:cell"/>
          <p:cNvSpPr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chart:F5:cellv"/>
          <p:cNvSpPr txBox="1"/>
          <p:nvPr/>
        </p:nvSpPr>
        <p:spPr>
          <a:xfrm>
            <a:off x="10553192" y="4652467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2" name="chart:F5:row"/>
          <p:cNvSpPr txBox="1"/>
          <p:nvPr/>
        </p:nvSpPr>
        <p:spPr>
          <a:xfrm>
            <a:off x="548640" y="5179161"/>
            <a:ext cx="1179576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3" name="chart:F5:cell"/>
          <p:cNvSpPr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art:F5:cellv"/>
          <p:cNvSpPr txBox="1"/>
          <p:nvPr/>
        </p:nvSpPr>
        <p:spPr>
          <a:xfrm>
            <a:off x="178308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5" name="chart:F5:cell"/>
          <p:cNvSpPr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art:F5:cellv"/>
          <p:cNvSpPr txBox="1"/>
          <p:nvPr/>
        </p:nvSpPr>
        <p:spPr>
          <a:xfrm>
            <a:off x="287934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7" name="chart:F5:cell"/>
          <p:cNvSpPr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art:F5:cellv"/>
          <p:cNvSpPr txBox="1"/>
          <p:nvPr/>
        </p:nvSpPr>
        <p:spPr>
          <a:xfrm>
            <a:off x="397560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99" name="chart:F5:cell"/>
          <p:cNvSpPr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chart:F5:cellv"/>
          <p:cNvSpPr txBox="1"/>
          <p:nvPr/>
        </p:nvSpPr>
        <p:spPr>
          <a:xfrm>
            <a:off x="507187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1" name="chart:F5:cell"/>
          <p:cNvSpPr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chart:F5:cellv"/>
          <p:cNvSpPr txBox="1"/>
          <p:nvPr/>
        </p:nvSpPr>
        <p:spPr>
          <a:xfrm>
            <a:off x="6168136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3" name="chart:F5:cell"/>
          <p:cNvSpPr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chart:F5:cellv"/>
          <p:cNvSpPr txBox="1"/>
          <p:nvPr/>
        </p:nvSpPr>
        <p:spPr>
          <a:xfrm>
            <a:off x="7264400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5" name="chart:F5:cell"/>
          <p:cNvSpPr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chart:F5:cellv"/>
          <p:cNvSpPr txBox="1"/>
          <p:nvPr/>
        </p:nvSpPr>
        <p:spPr>
          <a:xfrm>
            <a:off x="8360664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7" name="chart:F5:cell"/>
          <p:cNvSpPr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chart:F5:cellv"/>
          <p:cNvSpPr txBox="1"/>
          <p:nvPr/>
        </p:nvSpPr>
        <p:spPr>
          <a:xfrm>
            <a:off x="9456928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9" name="chart:F5:cell"/>
          <p:cNvSpPr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hart:F5:cellv"/>
          <p:cNvSpPr txBox="1"/>
          <p:nvPr/>
        </p:nvSpPr>
        <p:spPr>
          <a:xfrm>
            <a:off x="10553192" y="5179161"/>
            <a:ext cx="1096264" cy="52669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1" name="chart:F5:col"/>
          <p:cNvSpPr txBox="1"/>
          <p:nvPr/>
        </p:nvSpPr>
        <p:spPr>
          <a:xfrm>
            <a:off x="178308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287934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397560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507187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6168136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7264400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8360664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9456928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10553192" y="5733288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20624" y="6199632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48640" y="6254496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高風險論壇發言者 74% 確有流失句，分級可信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分級方向可信：高風險 74% 真有流失句，低風險只有 1.8%。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20624" y="3639312"/>
          <a:ext cx="11356847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0624" y="64739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274320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98064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4498848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53712"/>
            <a:ext cx="5230368" cy="14447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98.4%，是兩段標註一致率，不是準確率。九面向標完，殘餘僅 4 句，不再另開面向。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6752" y="987552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42416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3575304"/>
            <a:ext cx="5760720" cy="2478024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630168"/>
            <a:ext cx="5541264" cy="23682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6163056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17920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初篩召回約 57%，所以第二段複核不能省；人工金標 300 句、正例僅 9 句，0.82 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0624" y="2121408"/>
            <a:ext cx="5623560" cy="69494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76272"/>
            <a:ext cx="5367528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987552"/>
            <a:ext cx="5504688" cy="18288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359152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16952" y="2359152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16952" y="2395728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2359152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47503" y="2359152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47503" y="239572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2926080"/>
            <a:ext cx="11356848" cy="2560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35808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15184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16352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9504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82896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084064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57216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50608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51776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4928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418320" y="4215384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19488" y="3474720"/>
            <a:ext cx="2029968" cy="1481328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3520440"/>
            <a:ext cx="1883664" cy="13898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65776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" y="5577840"/>
            <a:ext cx="11356848" cy="11521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32704"/>
            <a:ext cx="11100816" cy="10424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沒抱怨就找出口；只看客訴看不到這群人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987552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91071" y="1042416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高風險確有流失句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人中 74% 有流失句，低風險 1.8%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API 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本機可訓可推，每句 0.7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2560320"/>
            <a:ext cx="5614416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1" y="2615184"/>
            <a:ext cx="5358383" cy="1371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R1–R8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每項可回溯原句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命中規則與機率一起標出，每句回得到去識別原句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4151376"/>
          <a:ext cx="11356848" cy="2578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532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您好，提醒您，愛車保固即將屆滿。新車基本保證為自交車日起4年或120,000公里，以先到者為準。若為2024/1/1起交車的自用車或租賃車，連續準時8次…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1、13　查核通過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987552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81928" y="1042416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3483864"/>
            <a:ext cx="5623560" cy="23865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81928" y="3538728"/>
            <a:ext cx="5367528" cy="22768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980176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1741932"/>
            <a:ext cx="4892040" cy="9147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96796"/>
            <a:ext cx="4636007" cy="8050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2729875"/>
            <a:ext cx="4892040" cy="194636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84739"/>
            <a:ext cx="4636007" cy="1836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4749393"/>
            <a:ext cx="4892040" cy="6812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04257"/>
            <a:ext cx="4636007" cy="5715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503773"/>
            <a:ext cx="4892040" cy="122621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558637"/>
            <a:ext cx="4636007" cy="111648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40679" y="987552"/>
          <a:ext cx="6336792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716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2" name="chart:gantt:card"/>
          <p:cNvSpPr/>
          <p:nvPr/>
        </p:nvSpPr>
        <p:spPr>
          <a:xfrm>
            <a:off x="420624" y="4407407"/>
            <a:ext cx="11356848" cy="23225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214884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hart-line"/>
          <p:cNvCxnSpPr/>
          <p:nvPr/>
        </p:nvCxnSpPr>
        <p:spPr>
          <a:xfrm>
            <a:off x="301599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3883152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4750308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5617464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6484620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7351776" y="4974335"/>
            <a:ext cx="0" cy="1664209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02188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974335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29" name="chart:gantt:bar"/>
          <p:cNvSpPr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gantt:label"/>
          <p:cNvSpPr txBox="1"/>
          <p:nvPr/>
        </p:nvSpPr>
        <p:spPr>
          <a:xfrm>
            <a:off x="2148840" y="5010911"/>
            <a:ext cx="867155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6096" y="4974335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354726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307177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4" name="chart:gantt:bar"/>
          <p:cNvSpPr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gantt:label"/>
          <p:cNvSpPr txBox="1"/>
          <p:nvPr/>
        </p:nvSpPr>
        <p:spPr>
          <a:xfrm>
            <a:off x="3015996" y="5343753"/>
            <a:ext cx="867156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5307177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687568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" y="5640019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39" name="chart:gantt:bar"/>
          <p:cNvSpPr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gantt:label"/>
          <p:cNvSpPr txBox="1"/>
          <p:nvPr/>
        </p:nvSpPr>
        <p:spPr>
          <a:xfrm>
            <a:off x="3883152" y="5676595"/>
            <a:ext cx="1734311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5640019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602040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5972860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4" name="chart:gantt:bar"/>
          <p:cNvSpPr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gantt:label"/>
          <p:cNvSpPr txBox="1"/>
          <p:nvPr/>
        </p:nvSpPr>
        <p:spPr>
          <a:xfrm>
            <a:off x="5617464" y="6009436"/>
            <a:ext cx="1734312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096" y="5972860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353251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" y="6305702"/>
            <a:ext cx="1307592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49" name="chart:gantt:bar"/>
          <p:cNvSpPr/>
          <p:nvPr/>
        </p:nvSpPr>
        <p:spPr>
          <a:xfrm>
            <a:off x="3883152" y="6342278"/>
            <a:ext cx="3706368" cy="259689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gantt:label"/>
          <p:cNvSpPr txBox="1"/>
          <p:nvPr/>
        </p:nvSpPr>
        <p:spPr>
          <a:xfrm>
            <a:off x="3883152" y="6342278"/>
            <a:ext cx="3468624" cy="259689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096" y="6305702"/>
            <a:ext cx="4023360" cy="332841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4" name="chart:trend:card"/>
          <p:cNvSpPr/>
          <p:nvPr/>
        </p:nvSpPr>
        <p:spPr>
          <a:xfrm>
            <a:off x="530352" y="2139696"/>
            <a:ext cx="3493007" cy="138074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6" name="chart:trend:line"/>
          <p:cNvSpPr/>
          <p:nvPr/>
        </p:nvSpPr>
        <p:spPr>
          <a:xfrm rot="505787">
            <a:off x="916153" y="2933166"/>
            <a:ext cx="1368092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art:trend:line"/>
          <p:cNvSpPr/>
          <p:nvPr/>
        </p:nvSpPr>
        <p:spPr>
          <a:xfrm rot="100046">
            <a:off x="2276569" y="3053143"/>
            <a:ext cx="135388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dot"/>
          <p:cNvSpPr/>
          <p:nvPr/>
        </p:nvSpPr>
        <p:spPr>
          <a:xfrm>
            <a:off x="859536" y="2773451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value"/>
          <p:cNvSpPr txBox="1"/>
          <p:nvPr/>
        </p:nvSpPr>
        <p:spPr>
          <a:xfrm>
            <a:off x="512064" y="2526563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0" name="chart:trend:cat"/>
          <p:cNvSpPr txBox="1"/>
          <p:nvPr/>
        </p:nvSpPr>
        <p:spPr>
          <a:xfrm>
            <a:off x="512064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1" name="chart:trend:dot"/>
          <p:cNvSpPr/>
          <p:nvPr/>
        </p:nvSpPr>
        <p:spPr>
          <a:xfrm>
            <a:off x="2212848" y="2974009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art:trend:value"/>
          <p:cNvSpPr txBox="1"/>
          <p:nvPr/>
        </p:nvSpPr>
        <p:spPr>
          <a:xfrm>
            <a:off x="1865376" y="2727121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3" name="chart:trend:cat"/>
          <p:cNvSpPr txBox="1"/>
          <p:nvPr/>
        </p:nvSpPr>
        <p:spPr>
          <a:xfrm>
            <a:off x="1865376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4" name="chart:trend:dot"/>
          <p:cNvSpPr/>
          <p:nvPr/>
        </p:nvSpPr>
        <p:spPr>
          <a:xfrm>
            <a:off x="3566160" y="3013405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trend:value"/>
          <p:cNvSpPr txBox="1"/>
          <p:nvPr/>
        </p:nvSpPr>
        <p:spPr>
          <a:xfrm>
            <a:off x="3218687" y="2766517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6" name="chart:trend:cat"/>
          <p:cNvSpPr txBox="1"/>
          <p:nvPr/>
        </p:nvSpPr>
        <p:spPr>
          <a:xfrm>
            <a:off x="3218687" y="328269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42816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138988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14828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140817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52544" y="1886712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25696" y="1979676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7488" y="1905000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2383536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2420112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52544" y="3096768"/>
            <a:ext cx="3493007" cy="42367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25696" y="318973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7488" y="3115056"/>
            <a:ext cx="2724911" cy="387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65008" y="987552"/>
            <a:ext cx="3712463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74736" y="1389888"/>
            <a:ext cx="3493007" cy="3291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1408176"/>
            <a:ext cx="3346703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1810512"/>
            <a:ext cx="3493007" cy="9144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66175" y="1847088"/>
            <a:ext cx="3310127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74736" y="2834640"/>
            <a:ext cx="3493007" cy="630936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5" y="2871216"/>
            <a:ext cx="3310127" cy="5577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0352" y="4123944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" y="4160520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0352" y="4837176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03504" y="4874895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856" y="4855464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205222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03504" y="5242941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" y="5223509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0352" y="5573268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03504" y="5610987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3856" y="5591555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" y="5941314"/>
            <a:ext cx="5404104" cy="31318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03504" y="5979032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3856" y="5959601"/>
            <a:ext cx="4727448" cy="27660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53912" y="3721608"/>
            <a:ext cx="5623560" cy="2624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53912" y="3721608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63640" y="3739896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63640" y="4123944"/>
            <a:ext cx="5404104" cy="12527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73368" y="4178807"/>
            <a:ext cx="5184648" cy="11430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6364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4380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823960" y="5468112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823960" y="5495544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63640" y="596188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5" name="chart:F2:card"/>
          <p:cNvSpPr/>
          <p:nvPr/>
        </p:nvSpPr>
        <p:spPr>
          <a:xfrm>
            <a:off x="420624" y="987552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7" name="chart:F2:ylabel"/>
          <p:cNvSpPr txBox="1"/>
          <p:nvPr/>
        </p:nvSpPr>
        <p:spPr>
          <a:xfrm>
            <a:off x="548640" y="1060704"/>
            <a:ext cx="310896" cy="208483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2:tick"/>
          <p:cNvSpPr txBox="1"/>
          <p:nvPr/>
        </p:nvSpPr>
        <p:spPr>
          <a:xfrm>
            <a:off x="877824" y="27249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283395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2:tick"/>
          <p:cNvSpPr txBox="1"/>
          <p:nvPr/>
        </p:nvSpPr>
        <p:spPr>
          <a:xfrm>
            <a:off x="877824" y="2173667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73215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2:tick"/>
          <p:cNvSpPr txBox="1"/>
          <p:nvPr/>
        </p:nvSpPr>
        <p:spPr>
          <a:xfrm>
            <a:off x="877824" y="162242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1298448" y="2834640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2:bar"/>
          <p:cNvSpPr/>
          <p:nvPr/>
        </p:nvSpPr>
        <p:spPr>
          <a:xfrm>
            <a:off x="2157984" y="2055976"/>
            <a:ext cx="1719072" cy="77866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hart-line"/>
          <p:cNvCxnSpPr/>
          <p:nvPr/>
        </p:nvCxnSpPr>
        <p:spPr>
          <a:xfrm>
            <a:off x="3017520" y="1972885"/>
            <a:ext cx="0" cy="159381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197288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hart-line"/>
          <p:cNvCxnSpPr/>
          <p:nvPr/>
        </p:nvCxnSpPr>
        <p:spPr>
          <a:xfrm>
            <a:off x="2944368" y="213226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2:value"/>
          <p:cNvSpPr txBox="1"/>
          <p:nvPr/>
        </p:nvSpPr>
        <p:spPr>
          <a:xfrm>
            <a:off x="1929384" y="1652845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20" name="chart:F2:cat"/>
          <p:cNvSpPr txBox="1"/>
          <p:nvPr/>
        </p:nvSpPr>
        <p:spPr>
          <a:xfrm>
            <a:off x="1929384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1" name="chart:F2:bar"/>
          <p:cNvSpPr/>
          <p:nvPr/>
        </p:nvSpPr>
        <p:spPr>
          <a:xfrm>
            <a:off x="5596128" y="1829477"/>
            <a:ext cx="1719072" cy="100516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hart-line"/>
          <p:cNvCxnSpPr/>
          <p:nvPr/>
        </p:nvCxnSpPr>
        <p:spPr>
          <a:xfrm>
            <a:off x="6455664" y="1747711"/>
            <a:ext cx="0" cy="15867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74771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hart-line"/>
          <p:cNvCxnSpPr/>
          <p:nvPr/>
        </p:nvCxnSpPr>
        <p:spPr>
          <a:xfrm>
            <a:off x="6382512" y="190638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2:value"/>
          <p:cNvSpPr txBox="1"/>
          <p:nvPr/>
        </p:nvSpPr>
        <p:spPr>
          <a:xfrm>
            <a:off x="5367528" y="1427671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6" name="chart:F2:cat"/>
          <p:cNvSpPr txBox="1"/>
          <p:nvPr/>
        </p:nvSpPr>
        <p:spPr>
          <a:xfrm>
            <a:off x="5367528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7" name="chart:F2:bar"/>
          <p:cNvSpPr/>
          <p:nvPr/>
        </p:nvSpPr>
        <p:spPr>
          <a:xfrm>
            <a:off x="9034272" y="2460581"/>
            <a:ext cx="1719072" cy="37405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9893808" y="2381246"/>
            <a:ext cx="0" cy="14563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38124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9820656" y="25268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2:value"/>
          <p:cNvSpPr txBox="1"/>
          <p:nvPr/>
        </p:nvSpPr>
        <p:spPr>
          <a:xfrm>
            <a:off x="8805672" y="206120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2" name="chart:F2:cat"/>
          <p:cNvSpPr txBox="1"/>
          <p:nvPr/>
        </p:nvSpPr>
        <p:spPr>
          <a:xfrm>
            <a:off x="8805672" y="2862072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3310128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364992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5" name="chart:F4:card"/>
          <p:cNvSpPr/>
          <p:nvPr/>
        </p:nvSpPr>
        <p:spPr>
          <a:xfrm>
            <a:off x="420624" y="3895344"/>
            <a:ext cx="11356848" cy="22494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4:title"/>
          <p:cNvSpPr txBox="1"/>
          <p:nvPr/>
        </p:nvSpPr>
        <p:spPr>
          <a:xfrm>
            <a:off x="914400" y="396849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7" name="chart:F4:ylabel"/>
          <p:cNvSpPr txBox="1"/>
          <p:nvPr/>
        </p:nvSpPr>
        <p:spPr>
          <a:xfrm>
            <a:off x="548640" y="3968496"/>
            <a:ext cx="310896" cy="2084832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8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art:F4:tick"/>
          <p:cNvSpPr txBox="1"/>
          <p:nvPr/>
        </p:nvSpPr>
        <p:spPr>
          <a:xfrm>
            <a:off x="877824" y="5614416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40" name="chart-line"/>
          <p:cNvCxnSpPr/>
          <p:nvPr/>
        </p:nvCxnSpPr>
        <p:spPr>
          <a:xfrm>
            <a:off x="1417320" y="5325224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chart:F4:tick"/>
          <p:cNvSpPr txBox="1"/>
          <p:nvPr/>
        </p:nvSpPr>
        <p:spPr>
          <a:xfrm>
            <a:off x="877824" y="5197208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2" name="chart-line"/>
          <p:cNvCxnSpPr/>
          <p:nvPr/>
        </p:nvCxnSpPr>
        <p:spPr>
          <a:xfrm>
            <a:off x="1417320" y="490801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4:tick"/>
          <p:cNvSpPr txBox="1"/>
          <p:nvPr/>
        </p:nvSpPr>
        <p:spPr>
          <a:xfrm>
            <a:off x="877824" y="478000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4" name="chart-line"/>
          <p:cNvCxnSpPr/>
          <p:nvPr/>
        </p:nvCxnSpPr>
        <p:spPr>
          <a:xfrm>
            <a:off x="1417320" y="5742432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chart:F4:bar"/>
          <p:cNvSpPr/>
          <p:nvPr/>
        </p:nvSpPr>
        <p:spPr>
          <a:xfrm>
            <a:off x="2164994" y="5306658"/>
            <a:ext cx="1903171" cy="435773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932006"/>
            <a:ext cx="1903171" cy="374652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bar"/>
          <p:cNvSpPr/>
          <p:nvPr/>
        </p:nvSpPr>
        <p:spPr>
          <a:xfrm>
            <a:off x="2164994" y="4675632"/>
            <a:ext cx="1903171" cy="25637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4:value"/>
          <p:cNvSpPr txBox="1"/>
          <p:nvPr/>
        </p:nvSpPr>
        <p:spPr>
          <a:xfrm>
            <a:off x="1936394" y="4355592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9" name="chart:F4:cat"/>
          <p:cNvSpPr txBox="1"/>
          <p:nvPr/>
        </p:nvSpPr>
        <p:spPr>
          <a:xfrm>
            <a:off x="198211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50" name="chart:F4:bar"/>
          <p:cNvSpPr/>
          <p:nvPr/>
        </p:nvSpPr>
        <p:spPr>
          <a:xfrm>
            <a:off x="5563514" y="5715104"/>
            <a:ext cx="1903171" cy="27327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bar"/>
          <p:cNvSpPr/>
          <p:nvPr/>
        </p:nvSpPr>
        <p:spPr>
          <a:xfrm>
            <a:off x="5563514" y="5699459"/>
            <a:ext cx="1903171" cy="15645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4:value"/>
          <p:cNvSpPr txBox="1"/>
          <p:nvPr/>
        </p:nvSpPr>
        <p:spPr>
          <a:xfrm>
            <a:off x="5334914" y="537420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3" name="chart:F4:cat"/>
          <p:cNvSpPr txBox="1"/>
          <p:nvPr/>
        </p:nvSpPr>
        <p:spPr>
          <a:xfrm>
            <a:off x="538063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4" name="chart:F4:bar"/>
          <p:cNvSpPr/>
          <p:nvPr/>
        </p:nvSpPr>
        <p:spPr>
          <a:xfrm>
            <a:off x="8962034" y="5628951"/>
            <a:ext cx="1903171" cy="113480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554062"/>
            <a:ext cx="1903171" cy="74888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bar"/>
          <p:cNvSpPr/>
          <p:nvPr/>
        </p:nvSpPr>
        <p:spPr>
          <a:xfrm>
            <a:off x="8962034" y="5523606"/>
            <a:ext cx="1903171" cy="3045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4:value"/>
          <p:cNvSpPr txBox="1"/>
          <p:nvPr/>
        </p:nvSpPr>
        <p:spPr>
          <a:xfrm>
            <a:off x="8733434" y="5203566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8" name="chart:F4:cat"/>
          <p:cNvSpPr txBox="1"/>
          <p:nvPr/>
        </p:nvSpPr>
        <p:spPr>
          <a:xfrm>
            <a:off x="8779154" y="5769864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9" name="chart:F4:legend"/>
          <p:cNvSpPr/>
          <p:nvPr/>
        </p:nvSpPr>
        <p:spPr>
          <a:xfrm>
            <a:off x="8778240" y="4370831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chart:F4:legend"/>
          <p:cNvSpPr txBox="1"/>
          <p:nvPr/>
        </p:nvSpPr>
        <p:spPr>
          <a:xfrm>
            <a:off x="9015984" y="4315968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1" name="chart:F4:legend"/>
          <p:cNvSpPr/>
          <p:nvPr/>
        </p:nvSpPr>
        <p:spPr>
          <a:xfrm>
            <a:off x="10003536" y="4370831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chart:F4:legend"/>
          <p:cNvSpPr txBox="1"/>
          <p:nvPr/>
        </p:nvSpPr>
        <p:spPr>
          <a:xfrm>
            <a:off x="10241280" y="4315968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3" name="chart:F4:legend"/>
          <p:cNvSpPr/>
          <p:nvPr/>
        </p:nvSpPr>
        <p:spPr>
          <a:xfrm>
            <a:off x="10725912" y="4370831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chart:F4:legend"/>
          <p:cNvSpPr txBox="1"/>
          <p:nvPr/>
        </p:nvSpPr>
        <p:spPr>
          <a:xfrm>
            <a:off x="10963656" y="4315968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0624" y="6217920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6272783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5" name="chart:F6:card"/>
          <p:cNvSpPr/>
          <p:nvPr/>
        </p:nvSpPr>
        <p:spPr>
          <a:xfrm>
            <a:off x="420624" y="987552"/>
            <a:ext cx="11356848" cy="22128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7" name="chart:F6:ylabel"/>
          <p:cNvSpPr txBox="1"/>
          <p:nvPr/>
        </p:nvSpPr>
        <p:spPr>
          <a:xfrm>
            <a:off x="548640" y="1060704"/>
            <a:ext cx="310896" cy="1847087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8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art:F6:tick"/>
          <p:cNvSpPr txBox="1"/>
          <p:nvPr/>
        </p:nvSpPr>
        <p:spPr>
          <a:xfrm>
            <a:off x="877824" y="256032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0" name="chart-line"/>
          <p:cNvCxnSpPr/>
          <p:nvPr/>
        </p:nvCxnSpPr>
        <p:spPr>
          <a:xfrm>
            <a:off x="1298448" y="207568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:F6:tick"/>
          <p:cNvSpPr txBox="1"/>
          <p:nvPr/>
        </p:nvSpPr>
        <p:spPr>
          <a:xfrm>
            <a:off x="877824" y="196596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2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4" name="chart-line"/>
          <p:cNvCxnSpPr/>
          <p:nvPr/>
        </p:nvCxnSpPr>
        <p:spPr>
          <a:xfrm>
            <a:off x="3313785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art:F6:tick"/>
          <p:cNvSpPr txBox="1"/>
          <p:nvPr/>
        </p:nvSpPr>
        <p:spPr>
          <a:xfrm>
            <a:off x="303946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5329123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6:tick"/>
          <p:cNvSpPr txBox="1"/>
          <p:nvPr/>
        </p:nvSpPr>
        <p:spPr>
          <a:xfrm>
            <a:off x="5054803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7344460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6:tick"/>
          <p:cNvSpPr txBox="1"/>
          <p:nvPr/>
        </p:nvSpPr>
        <p:spPr>
          <a:xfrm>
            <a:off x="7070140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9359798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6:tick"/>
          <p:cNvSpPr txBox="1"/>
          <p:nvPr/>
        </p:nvSpPr>
        <p:spPr>
          <a:xfrm>
            <a:off x="9085478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1375136" y="1481328"/>
            <a:ext cx="0" cy="118872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6:tick"/>
          <p:cNvSpPr txBox="1"/>
          <p:nvPr/>
        </p:nvSpPr>
        <p:spPr>
          <a:xfrm>
            <a:off x="11100815" y="2697479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670048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hart-line"/>
          <p:cNvCxnSpPr/>
          <p:nvPr/>
        </p:nvCxnSpPr>
        <p:spPr>
          <a:xfrm>
            <a:off x="1298448" y="1481328"/>
            <a:ext cx="0" cy="118872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6:diag"/>
          <p:cNvSpPr/>
          <p:nvPr/>
        </p:nvSpPr>
        <p:spPr>
          <a:xfrm rot="21196324">
            <a:off x="1263511" y="2071116"/>
            <a:ext cx="10146560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6:xlabel"/>
          <p:cNvSpPr txBox="1"/>
          <p:nvPr/>
        </p:nvSpPr>
        <p:spPr>
          <a:xfrm>
            <a:off x="1298448" y="2907791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8" name="chart:F6:dot"/>
          <p:cNvSpPr/>
          <p:nvPr/>
        </p:nvSpPr>
        <p:spPr>
          <a:xfrm>
            <a:off x="1273118" y="2515669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6:n"/>
          <p:cNvSpPr txBox="1"/>
          <p:nvPr/>
        </p:nvSpPr>
        <p:spPr>
          <a:xfrm>
            <a:off x="1574870" y="2277925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0" name="chart:F6:dot"/>
          <p:cNvSpPr/>
          <p:nvPr/>
        </p:nvSpPr>
        <p:spPr>
          <a:xfrm>
            <a:off x="3828276" y="2449320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6:n"/>
          <p:cNvSpPr txBox="1"/>
          <p:nvPr/>
        </p:nvSpPr>
        <p:spPr>
          <a:xfrm>
            <a:off x="4018270" y="241172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2" name="chart:F6:dot"/>
          <p:cNvSpPr/>
          <p:nvPr/>
        </p:nvSpPr>
        <p:spPr>
          <a:xfrm>
            <a:off x="6099781" y="2380376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6:n"/>
          <p:cNvSpPr txBox="1"/>
          <p:nvPr/>
        </p:nvSpPr>
        <p:spPr>
          <a:xfrm>
            <a:off x="5889857" y="2142632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4" name="chart:F6:dot"/>
          <p:cNvSpPr/>
          <p:nvPr/>
        </p:nvSpPr>
        <p:spPr>
          <a:xfrm>
            <a:off x="8443050" y="2340560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6:n"/>
          <p:cNvSpPr txBox="1"/>
          <p:nvPr/>
        </p:nvSpPr>
        <p:spPr>
          <a:xfrm>
            <a:off x="8234348" y="210281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6" name="chart:F6:dot"/>
          <p:cNvSpPr/>
          <p:nvPr/>
        </p:nvSpPr>
        <p:spPr>
          <a:xfrm>
            <a:off x="10879191" y="1778181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art:F6:n"/>
          <p:cNvSpPr txBox="1"/>
          <p:nvPr/>
        </p:nvSpPr>
        <p:spPr>
          <a:xfrm>
            <a:off x="10683952" y="19729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" y="3273552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0" name="chart:F9:card"/>
          <p:cNvSpPr/>
          <p:nvPr/>
        </p:nvSpPr>
        <p:spPr>
          <a:xfrm>
            <a:off x="420624" y="3803904"/>
            <a:ext cx="11356848" cy="23957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803904"/>
            <a:ext cx="11356848" cy="2394826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20624" y="62727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3276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913632"/>
            <a:ext cx="11356848" cy="28163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05072"/>
            <a:ext cx="11100816" cy="2633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6751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3776472"/>
            <a:ext cx="11356848" cy="267919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100816" cy="24963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6455664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【】為專員填寫欄位，刻意保留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page-number"/>
          <p:cNvSpPr txBox="1"/>
          <p:nvPr/>
        </p:nvSpPr>
        <p:spPr>
          <a:xfrm>
            <a:off x="11814048" y="6547104"/>
            <a:ext cx="347472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0624" y="987552"/>
          <a:ext cx="11356848" cy="574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7970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51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