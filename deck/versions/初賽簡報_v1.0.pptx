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題三初賽：公開輿情裡，每六位售後發言就有一位在找出口。</a:t>
            </a:r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先講規模感：六個人裡有一個在找出路，而且多數沒有先抱怨。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人走了才知道；三站作者流失率差一截，Dcard偏購車階段。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真正送走人的是等料和價格，態度罵很多，人卻還留著。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三站切完是二十三萬句，售後兩萬一千句，遮蔽五百多次、抽查沒漏。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兩個迴路：洞察每天進報告池，關懷由事件觸發，人審核過才投遞。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四種人過保精算最多；未分類一成五留觀察名單，不投遞。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高風險七成四真有流失句；過保精算派人最多，平均風險也最高。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兩段式補上漏標，Dcard 換模型複核，重疊句一致率達百分之九十八。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本機四Ｂ把流失句找回來；校準曲線放附錄，每句零點七秒。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四面向都有原型；成本只列結構，右表五項風險已有對策。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回廠率先假設加十點；接到全台約二十四週，監控不設終點。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左邊是兩個迴路；右邊審核佇列是線框，決賽再給可操作版。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附錄四張圖：來源差異、風險分布、校準曲線，和季趨勢預警。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zh-TW" sz="4400" b="1"/>
              <a:t>Lexus車主流失預警與 AI 溝通系統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2252640" y="4614411"/>
            <a:ext cx="7686600" cy="10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zh-TW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2026 和泰 AI 黑客松｜AI 流失風險洞察與智慧溝通：打造Lexus車主忠誠度的終極防線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r>
              <a:rPr sz="1800"/>
              <a:t>團隊：回廠率研究所</a:t>
            </a:r>
          </a:p>
          <a:p>
            <a:r>
              <a:rPr sz="1800"/>
              <a:t>初賽提案簡報（v1，2026-09）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864608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84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 21,183 句售後語料自動標註流失意圖與九大面向，找出 4 種流失 Persona。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System-One 決策模型即時給出流失機率與可解釋規則，作者層級高／中／低分級。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 × 接觸點的 RAG 關懷內容生成，價格與保固只引用官方知識庫並經人工審核。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Claude Haiku／Sonnet 兩段式標註、GPT-5.6 Sol 複核、Qwen3-4B QLoRA 自訓 prefill-only 決策模型（LLM2Jev 架構，本機 8 GB 顯卡）、K-means 分群、RAG（官方保修知識庫）、統計檢定（χ²、勝算比、Wilson CI）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成果：高風險車主 12 個月回廠率提升 10 個百分點（假設值，導入後以基期實測校正）。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流程：高風險名單每月更新、話術人工核准率 ≥ 80%。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模型：隨機層 F1 ≥ 0.8、κ ≥ 0.6，每季 300 句人工金標重驗。每句 0.7 秒、零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來源：reports/T7_stats_tests.md、reports/T3_residual_split_report.md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 6 位在論壇談 Lexus 售後的車主，就有 1 位已在找出口，而且大多沒有抱怨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作者流失率最高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4736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介於兩者之間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1261872"/>
            <a:ext cx="3688080" cy="16916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9120" y="1408176"/>
            <a:ext cx="3468623" cy="1417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作者流失率最低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3136391"/>
            <a:ext cx="11356848" cy="1234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作者層級 χ²=99.5，p&lt;.001（Cramér's V=0.125）。母體是論壇發言者，不是全體車主。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靜默出走：1,671 句流失裡，186 句沒有痛點訊號，只是在找出口。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方案：提早辨識、分成 Persona、在對的接觸點說對的話。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來源：reports/T7_stats_tests.md（作者層級流失率；Dcard 偏購車階段）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售後現在是人走了才知道，公開輿情可以把時間往前拉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097280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As-Is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60320"/>
            <a:ext cx="5074920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4782312" cy="12070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To-Be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 訊號，在離開之前先辨識。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4114800"/>
            <a:ext cx="507492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使用者是售後決策者，以及服務廠的客戶關係人員。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96712" y="987552"/>
          <a:ext cx="608076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4418"/>
                <a:gridCol w="2736342"/>
              </a:tblGrid>
              <a:tr h="49149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來源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作者流失率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9149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Mobile01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18.2%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PTT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14.1%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9149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Dcard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6.8%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96712" y="3090672"/>
            <a:ext cx="6080760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χ²(2)=99.5，V=0.125。母體是論壇發言者。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 偏購車階段。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來源：reports/T7_stats_tests.md；圖 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等料和價格才把人送走；態度抱怨很多，人卻很少真的離開</a:t>
            </a:r>
          </a:p>
        </p:txBody>
      </p:sp>
      <p:pic>
        <p:nvPicPr>
          <p:cNvPr id="6" name="Picture 5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17.3%（勝算比 2.58）、價格 15.0%（勝算比 2.64），是流失率最高的兩面向。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 1.4%（勝算比 0.15）最低。分母是全部 21,183 句。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 61%，流失卻只有 4.7%：抱怨多，不等於人會走。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來源：reports/T10_risk_persona_report.md（F3）、專案架構 §0.1、reports/T11_kb_prices_report.md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人主要去一般外廠；過保之後，口述價差把人推出去</a:t>
            </a:r>
          </a:p>
        </p:txBody>
      </p:sp>
      <p:pic>
        <p:nvPicPr>
          <p:cNvPr id="6" name="Picture 5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808" y="987552"/>
            <a:ext cx="8412480" cy="394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4949190"/>
            <a:ext cx="11356848" cy="10515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 736、自備料 234、DIY 135。一句可以多選，母體是 1,671 句流失。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標得到保固狀態的流失句：過保 62，保固內 17。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口述中位，不是定價：定保原廠 9,000 對外廠 3,500；機油 5,000 對 1,950。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來源：題目選擇分析 §6.5、reports/T7_data_quality.md、reports/T7_deid_report.md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三站售後語料已經齊，品質門檻過了，句子也去過識別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800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400507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去識別：文本遮蔽 517 次。抽查 50 句（seed 42）漏網 0。簡報例句只用去識別版，不出現論壇帳號。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484632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異常值是字數超過 Q3+1.5×IQR 的句子，門檻 78 字，占 7.77%。上游已先去掉 15,182 句重複。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來源：L7運作流程_2026-09-30.md、專案架構_2026-09-23.md §2；圖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兩個迴路：洞察每日進報告池；關懷由事件觸發，人工核准後才投遞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188720"/>
            <a:ext cx="10607040" cy="49720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6215634"/>
            <a:ext cx="11356848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八層對應：L0 蒐集　L1 前處理　L2 標註　L3 決策模型　L4 風險辨識　L5 Persona　L6 RAG 生成　L7 接觸點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 §6；圖 F5。未分類處置見會議記錄_2026-09-30.md §四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四種流失樣貌裡，最多的是過保之後還在算價格的人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7268" y="98755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8708" y="106070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7268" y="2953512"/>
            <a:ext cx="2756916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78708" y="3026664"/>
            <a:ext cx="2592324" cy="1746503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pic>
        <p:nvPicPr>
          <p:cNvPr id="14" name="Picture 13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488" y="987552"/>
            <a:ext cx="5586983" cy="314267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0624" y="4882895"/>
            <a:ext cx="11356848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規則指派，分母是高／中風險 1,280 人。未分類 199 人（15.5%）保留為觀察名單，不投遞。分群只獨立支持靜默出走者。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 §2、§6；圖 F7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高風險七成四真有流失句；過保精算派規模最大、平均風險也最高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261872"/>
            <a:ext cx="5989320" cy="21488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分數＝作者 p_churn 最大值 × 0.6 ＋（命中規則數／8）× 0.4。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高風險作者 74% 有流失句，低風險 1.8%。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右圖是 Persona 規模與平均風險：過保精算派 511 人、平均風險 0.73，五組裡最高。</a:t>
            </a:r>
          </a:p>
        </p:txBody>
      </p:sp>
      <p:pic>
        <p:nvPicPr>
          <p:cNvPr id="7" name="Picture 6" descr="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472" y="1261872"/>
            <a:ext cx="4421632" cy="2487168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3840480"/>
          <a:ext cx="1135684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7973568"/>
              </a:tblGrid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保固到期日（4 年／12 萬）、延保購買狀態：到期前 90 天未購延保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 vs 實收、拒絕估價項目、滿意度價格題：連續 2 次拒項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 vs 建議週期、預約取消、App 查據點未預約：逾期 1.5 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工單自備零件／機油註記、只做換油套餐、金額逐次下降 &gt; 40%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零件待料天數、待料改期次數：待料 &gt; 7 天或同車 ≥ 2 次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天內同項目重複進廠、技術客訴、召回未完成：comeback ≥ 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個月無工單、過戶／退出會員、App 長期未開啟（驗證用）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238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貶損者（0–6）且 12 個月內有客訴、推薦計畫無紀錄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0624" y="6035040"/>
            <a:ext cx="11356848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 §2、reports/T1_dcard_verify_report.md、T2、T3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先寬鬆抓住，再帶上下文複核；九個面向已經全量標完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 Haiku 初篩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57%，先把可能流失的句子留住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5008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3024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 帶上下文複核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Mobile01、PTT 用 Sonnet；Dcard 5,355 句用 GPT-5.6 Sol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9392" y="987552"/>
            <a:ext cx="3688080" cy="15544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7408" y="1097280"/>
            <a:ext cx="3432047" cy="133502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 對得起來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句，c≥2 一致率 98.4%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2724912"/>
            <a:ext cx="11356848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同時標九個面向、替代選項，和車主特徵（車型、是否過保）。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流失原因裡標成「其他」的 396 句再細分；真正沒有原因的殘餘剩 4 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" y="3639312"/>
            <a:ext cx="11356848" cy="777240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749039"/>
            <a:ext cx="1106424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句（9/29）：兩人 κ 0.40，仲裁後隨機層 150 句以人工為準：r4 F1 0.82／κ 0.81 與 Sonnet 相同，Haiku F1 0.50；正例僅 9 句，召回 CI 0.45–0.94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來源：reports/T8_r4_report.md；校準曲線 F6 見附錄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84124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 4B 比雲端 Haiku 更會把流失句找回來，而且不生成文字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1261872"/>
          <a:ext cx="56235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2615184"/>
            <a:ext cx="562356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句測試集。r4 原值 P 0.617、R 0.769、κ 0.642（T8 ep2）。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261872"/>
            <a:ext cx="5504688" cy="28803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408176"/>
            <a:ext cx="5212080" cy="2606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 ETL＋弱監督標註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爬蟲→清洗去重→切句→關鍵詞篩選得 21,183 句；LLM-as-labeler 兩段式：Haiku 初篩、Sonnet／GPT 帶上下文複核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3939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23667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 資料切分（防洩漏）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GroupSplit 按 doc_id：600 句 held-out 測試集整篇排除；驗證 1,096、訓練池 9,431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07254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6982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 任務轉換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多類別→二元候選：流失四級拆成四個 yes/no 題，prefill-only 只取下一 token 機率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0569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10297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 監督式微調 SFT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Qwen3-4B NF4 4-bit QLoRA（r=16）；類別不平衡用過採樣至四成；2 epoch、8 GB VRAM、5 小時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93884" y="4507992"/>
            <a:ext cx="2183587" cy="123444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03612" y="4581144"/>
            <a:ext cx="1964131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 評估與校準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P／R／F1／Cohen's κ；五段 reliability bins；人工金標 300 句：隨機層 F1 0.82、κ 0.81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5833872"/>
            <a:ext cx="11356848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做法沿用 jev 的 System-One 思路（LLM2Jev 開源框架，prefill-only 只出機率），非 jev 官方模型；機率校準以測試集五段分箱事後驗證（最高信心桶約七成為真正例），尚未達官方宣稱水準。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來源：reports/T10_risk_persona_report.md、reports/T8_r4_report.md、專案架構 §2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靜默出走別隊看不到；分數說得出是哪條規則，也能回到原句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別隊若只看客訴，看不到這群沒抱怨就離開的人。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987552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88720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機率可解釋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輸出各等級機率，並標出命中的規則，不是一顆黑箱分數。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CRM 資料不能出門。8 GB 顯卡可訓可推，零 API 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008376"/>
            <a:ext cx="5605272" cy="187451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209544"/>
            <a:ext cx="5276088" cy="154533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數字回得去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每個比率有檢定或區間，也能回到去識別原句。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來源：knowledge/generated_examples.md、reports/T14_generation_report.md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先對上是誰、在什麼時候開口；十二則話術已對過知識庫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/>
                <a:gridCol w="3291840"/>
                <a:gridCol w="3291840"/>
                <a:gridCol w="3291840"/>
              </a:tblGrid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保固到期前 60 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回廠間隔拉長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刪項後首次回廠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過保精算派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您好，您的愛車保固即將屆滿，新車基本保證為自交車日起4年或120,000公里，以…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一般使用建議每六個月回廠保養；若半年超過一萬公里，則以每一萬公里為週期。您可依實…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您好，我是Lexus服務廠專員。您上次有未同意的估價項目，因此致電說明；是否回廠…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品質失望派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您的保固即將屆滿，目前仍在保固窗口內，可先核對新車基本保證範圍；準時定保與否會影…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Lexus尊榮安檢提供25項原廠標準檢查，全年免費。一般使用建議每半年回廠保養及…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服務廠專員電話腳本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針對您上次未同意的項目，是否處理仍由您決定。若想再確認車況，可預約回廠接受全年免…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口碑建議者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保固即將屆滿，這則官方資訊可轉述給車友：新車基本保證為交車日起4年或120,00…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這份說明可供您轉傳：一般使用建議每半年定期保養；若半年超過一萬公里，建議每一萬公…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您好，提供一則可安心轉述的官方資訊：自費於Lexus服務廠更換的正廠零件，除消耗…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App 通知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您的愛車保固即將屆滿，仍可核對自交車日起4年或行駛120,000公里的新車基本保…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LINE 官方帳號推播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若距上次保養已有一段時間，可依一般使用每半年或每一萬公里的週期，視用車狀況安排回…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Email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若您想安排回廠，可透過官網或App預約，於回廠前1天以上選擇合適時段；預約保留2…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0624" y="5266944"/>
            <a:ext cx="11356848" cy="6583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則皆通過知識庫事實查核，人工審核後才投遞。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完整文字、引用條目與查核見附錄 knowledge/generated_examples.md。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來源：iPAS骨架頁_草稿.md、會議記錄_2026-09-30.md §五、iPAS導入對照_2026-09-25.md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四個面向都有原型；成本只列結構，五項風險已有對策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售後現在要等客訴或不回廠才知道車主走了；改用輿情與 CRM 訊號，在過保、刪項、回廠間隔拉長時就先找到人。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03120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2157984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判斷、分群、生成三段都有可跑的原型；八條規則已對到 DMS 欄位，導入時換成實際欄位名即可。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218688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3273552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判斷在本機跑，每句 0.7 秒、零 API 費；8 GB 顯卡就能訓練與推論。成本結構已列（人力、標註、模型、整合、授權），回報待試行基期。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334256"/>
            <a:ext cx="5074920" cy="10424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4389120"/>
            <a:ext cx="4873752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代表性、雙複核模型、個資、生成亂編、Persona 主觀性；對策在右表，每項都已有處理。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50992" y="987552"/>
          <a:ext cx="6126480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/>
                <a:gridCol w="2148840"/>
                <a:gridCol w="2606040"/>
                <a:gridCol w="713232"/>
              </a:tblGrid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只引用知識庫、數字逐字比對、人工審核必經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719328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 被質疑主觀（ARI 0.08）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來源：iPAS骨架頁_草稿.md、會議記錄_2026-09-30.md §四；模型現況見 T9、T8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回廠率先假設提升十個百分點；導入約二十四週，之後持續監控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987552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0624" y="1261872"/>
          <a:ext cx="11356848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246120"/>
                <a:gridCol w="3520440"/>
                <a:gridCol w="3538728"/>
              </a:tblGrid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則已查核、待人工審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42291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20624" y="2980944"/>
            <a:ext cx="1135684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3291840"/>
            <a:ext cx="2183587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3364992"/>
            <a:ext cx="2073859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資料接入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754880"/>
            <a:ext cx="2183587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R1–R8 換成 DMS 實際欄位，工單文字去識別後接入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3939" y="3291840"/>
            <a:ext cx="2183587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8803" y="3364992"/>
            <a:ext cx="2073859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模型校準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3939" y="4754880"/>
            <a:ext cx="2183587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重標 300 句金標，重驗 r4、調觸發門檻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7254" y="3291840"/>
            <a:ext cx="2183587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62118" y="3364992"/>
            <a:ext cx="2073859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7254" y="4754880"/>
            <a:ext cx="2183587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一個服務廠跑完流程，專員審核後投遞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00569" y="3291840"/>
            <a:ext cx="2183587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5433" y="3364992"/>
            <a:ext cx="2073859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擴大至全台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0569" y="4754880"/>
            <a:ext cx="2183587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依試行調整話術與渠道，分批上線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93884" y="3291840"/>
            <a:ext cx="2183587" cy="1417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48748" y="3364992"/>
            <a:ext cx="2073859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持續監控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不設終點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3884" y="4754880"/>
            <a:ext cx="2183587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日監控、週收樣本、月重評、季重驗模型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" y="5340096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合計約 24 週（持續監控不設終點）。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 補充資料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來源：L7運作流程_2026-09-30.md；圖 F8。線框為示意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流程圖在左；右邊是溝通審核佇列線框，決賽再給可操作版</a:t>
            </a:r>
          </a:p>
        </p:txBody>
      </p:sp>
      <p:pic>
        <p:nvPicPr>
          <p:cNvPr id="6" name="Picture 5" descr="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87552"/>
            <a:ext cx="5669280" cy="26574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699890"/>
            <a:ext cx="56692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兩個迴路、四個資料庫、五個 Dashboard。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報告 T1–T15 與程式在私有庫，評審需要時開。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987552"/>
            <a:ext cx="5522976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54496" y="987552"/>
            <a:ext cx="5522976" cy="384048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5936" y="1024128"/>
            <a:ext cx="534009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481328"/>
            <a:ext cx="5266944" cy="10515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36192"/>
            <a:ext cx="5084064" cy="9326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　H-7F3A　　風險　高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　過保精算派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　R1 過保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2651760"/>
            <a:ext cx="5266944" cy="1234440"/>
          </a:xfrm>
          <a:prstGeom prst="roundRect">
            <a:avLst>
              <a:gd name="adj" fmla="val 8000"/>
            </a:avLst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724912"/>
            <a:ext cx="5084064" cy="107899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話術草稿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 1、13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82512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8640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8640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54768" y="4023360"/>
            <a:ext cx="1694688" cy="438912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54768" y="4078224"/>
            <a:ext cx="1694688" cy="32918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599432"/>
            <a:ext cx="5266944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決賽提供可操作版。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未核准不投遞。代號為示意，不是論壇帳號。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來源：reports/T8_r4_report.md、T9_human_eval.md、T10_risk_persona_report.md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407408"/>
              </a:tblGrid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36576" marB="27432">
                    <a:solidFill>
                      <a:srgbClr val="44546A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72 條官網＋手冊條目；12 則話術每則附引用與查核</a:t>
                      </a:r>
                    </a:p>
                  </a:txBody>
                  <a:tcPr anchor="ctr" marL="73152" marR="54864" marT="36576" marB="27432">
                    <a:solidFill>
                      <a:srgbClr val="F7F9FB"/>
                    </a:solidFill>
                  </a:tcPr>
                </a:tc>
              </a:tr>
              <a:tr h="365760"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1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950" b="0" i="0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Persona：只有靜默出走者被資料獨立支持</a:t>
                      </a:r>
                    </a:p>
                  </a:txBody>
                  <a:tcPr anchor="ctr" marL="73152" marR="54864" marT="36576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來源：reports/T7_stats_tests.md、T10_risk_persona_report.md、T8_r4_report.md、T15_trend_reports.md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來源差異、風險分布、校準曲線，與季趨勢</a:t>
            </a:r>
          </a:p>
        </p:txBody>
      </p:sp>
      <p:pic>
        <p:nvPicPr>
          <p:cNvPr id="6" name="Picture 5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987552"/>
            <a:ext cx="4242816" cy="23865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062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F2　Mobile01 18.2%、PTT 14.1%、Dcard 6.8%（作者流失率）。</a:t>
            </a:r>
          </a:p>
        </p:txBody>
      </p:sp>
      <p:pic>
        <p:nvPicPr>
          <p:cNvPr id="8" name="Picture 7" descr="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87552"/>
            <a:ext cx="4242816" cy="23865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81344" y="3374136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F4　高風險 1,049 人（16.4%）；約八成作者在低風險。</a:t>
            </a:r>
          </a:p>
        </p:txBody>
      </p:sp>
      <p:pic>
        <p:nvPicPr>
          <p:cNvPr id="10" name="Picture 9" descr="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3739896"/>
            <a:ext cx="4242816" cy="23865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062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F6　最高信心桶 n=71，實際流失 68%（校準曲線）。</a:t>
            </a:r>
          </a:p>
        </p:txBody>
      </p:sp>
      <p:pic>
        <p:nvPicPr>
          <p:cNvPr id="12" name="Picture 11" descr="F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718" y="3739896"/>
            <a:ext cx="5091379" cy="23865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81344" y="6126479"/>
            <a:ext cx="5596128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F9　季趨勢，日報／週報／季報與 200% 預警。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