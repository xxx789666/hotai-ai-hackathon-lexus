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7" r:id="rId7"/>
    <p:sldId id="258" r:id="rId9"/>
    <p:sldId id="259" r:id="rId10"/>
    <p:sldId id="260" r:id="rId11"/>
    <p:sldId id="261" r:id="rId12"/>
    <p:sldId id="262" r:id="rId13"/>
    <p:sldId id="263" r:id="rId14"/>
    <p:sldId id="264" r:id="rId8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jrqaUac791TJS0tEO4hw7w3R3N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131772B-9D1A-420D-A6D2-8A18A351E451}">
  <a:tblStyle styleId="{F131772B-9D1A-420D-A6D2-8A18A351E45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8" Type="http://schemas.openxmlformats.org/officeDocument/2006/relationships/slide" Target="slides/slide9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customschemas.google.com/relationships/presentationmetadata" Target="metadata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7e10331f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摘要給評審三層目標：回廠率假設加十點，核准八成，模型每季重驗。</a:t>
            </a:r>
          </a:p>
        </p:txBody>
      </p:sp>
      <p:sp>
        <p:nvSpPr>
          <p:cNvPr id="88" name="Google Shape;88;g3e7e10331f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大綱列出六個章節與頁碼，並標示兩大產出各落在哪幾頁。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提案分成兩份產出：一份輿情洞察，一份對準四種客群的溝通。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三個前兆並行，不是依序發生：過保、刪項、間隔拉長。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零件勝算比二點五八、價格二點六四，分母兩萬一千句。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出口在一般外廠；定保口述中位原廠九千、外廠三千五，不是公告價。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長句門檻是Q3+1.5×IQR，超過78字只標記。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八層對到雙迴路：上面是產出一，下面是產出二，審核後才投遞。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分群只獨立支持靜默出走者；其餘 Persona（客群輪廓）用規則定義。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高風險七成四真有流失句；過保精算派人最多，平均風險也最高。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人工兩人 κ 0.40，不一致處要經仲裁後才成為金標。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r4 原值 P 0.617、R 0.769、κ 0.642。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別人看不到不抱怨就走的人；我們給規則和機率，每句都能回原句。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四種人配三種進廠時機，十二則已過查核，投遞前仍要人工審。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人工篩選工時省九成以上（估），五項風險都已有對策。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每季三百句金標、兩人共五小時，審核回饋持續再訓練。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上方是兩個迴路；下方審核佇列是線框，決賽再給可操作版。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附錄術語表：每個名詞一句定義、一句本案用法，評審追問時翻這頁。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附錄前兩張圖：三站發言者流失率，以及高中低風險分布。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附錄後兩張圖：校準曲線五個信心桶，以及季趨勢預警。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附錄待料通知兩則：進度不承諾到貨日，代步車只照知識庫條件。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CRM 八條規則的門檻列在本頁，投影片只留欄位名稱。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客訴結案七天回訪兩則：電話先道歉，LINE 不要求刪評。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內容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個內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內容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圖片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7e10331f4_0_0"/>
          <p:cNvSpPr txBox="1"/>
          <p:nvPr/>
        </p:nvSpPr>
        <p:spPr>
          <a:xfrm>
            <a:off x="2625750" y="375575"/>
            <a:ext cx="9342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本頁為提案摘要，請以簡短文字填寫各欄位，協助評審快速掌握方案核心。詳細提案內容請於後續頁面展開。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※ 本頁</a:t>
            </a:r>
            <a:r>
              <a:rPr b="1" lang="zh-TW">
                <a:solidFill>
                  <a:schemeClr val="dk1"/>
                </a:solidFill>
              </a:rPr>
              <a:t>不計入提案簡報 15 頁限制</a:t>
            </a:r>
            <a:r>
              <a:rPr lang="zh-TW">
                <a:solidFill>
                  <a:schemeClr val="dk1"/>
                </a:solidFill>
              </a:rPr>
              <a:t>，</a:t>
            </a:r>
            <a:r>
              <a:rPr b="1" lang="zh-TW">
                <a:solidFill>
                  <a:schemeClr val="dk1"/>
                </a:solidFill>
              </a:rPr>
              <a:t>所有欄位皆為必填</a:t>
            </a:r>
            <a:r>
              <a:rPr lang="zh-TW">
                <a:solidFill>
                  <a:schemeClr val="dk1"/>
                </a:solidFill>
              </a:rPr>
              <a:t>。表格樣式可自行美化，但</a:t>
            </a:r>
            <a:r>
              <a:rPr b="1" lang="zh-TW">
                <a:solidFill>
                  <a:schemeClr val="dk1"/>
                </a:solidFill>
              </a:rPr>
              <a:t>欄位名稱與順序請保持一致</a:t>
            </a:r>
            <a:r>
              <a:rPr lang="zh-TW">
                <a:solidFill>
                  <a:schemeClr val="dk1"/>
                </a:solidFill>
              </a:rPr>
              <a:t>。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1" name="Google Shape;91;g3e7e10331f4_0_0"/>
          <p:cNvSpPr txBox="1"/>
          <p:nvPr>
            <p:ph type="title"/>
          </p:nvPr>
        </p:nvSpPr>
        <p:spPr>
          <a:xfrm>
            <a:off x="435425" y="350675"/>
            <a:ext cx="21111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zh-TW" sz="3600"/>
              <a:t>提案</a:t>
            </a:r>
            <a:r>
              <a:rPr b="1" lang="zh-TW" sz="3600"/>
              <a:t>摘要</a:t>
            </a:r>
            <a:endParaRPr sz="3600"/>
          </a:p>
        </p:txBody>
      </p:sp>
      <p:graphicFrame>
        <p:nvGraphicFramePr>
          <p:cNvPr id="92" name="Google Shape;92;g3e7e10331f4_0_0"/>
          <p:cNvGraphicFramePr/>
          <p:nvPr/>
        </p:nvGraphicFramePr>
        <p:xfrm>
          <a:off x="435425" y="1248788"/>
          <a:ext cx="3000000" cy="4919472"/>
        </p:xfrm>
        <a:graphic>
          <a:graphicData uri="http://schemas.openxmlformats.org/drawingml/2006/table">
            <a:tbl>
              <a:tblPr>
                <a:noFill/>
                <a:tableStyleId>{F131772B-9D1A-420D-A6D2-8A18A351E451}</a:tableStyleId>
              </a:tblPr>
              <a:tblGrid>
                <a:gridCol w="2190325"/>
                <a:gridCol w="9036475"/>
              </a:tblGrid>
              <a:tr h="36576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團隊名稱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回廠率研究所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產品/服務名稱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Lexus車主流失預警與 AI 溝通系統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企業挑戰題目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AI 流失風險洞察與智慧溝通：打造Lexus車主忠誠度的終極防線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目標對象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Lexus 售後服務部門決策者與服務廠客戶關係人員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1170432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解決方案設計重點</a:t>
                      </a:r>
                      <a:endParaRPr sz="1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(至多3項)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1. 從公開輿情 21,183 句售後語料自動標註流失意圖與九大面向，找出 4 種流失 Persona（客群輪廓）。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2. 本機自訓 System-One 決策模型即時給出流失機率與可解釋規則，發言者層級高／中／低分級。</a:t>
                      </a:r>
                    </a:p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3. Persona（客群輪廓） × 接觸點的 RAG 關懷內容生成，價格與保固只引用官方知識庫並經人工審核。</a:t>
                      </a: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運用到的AI技術、</a:t>
                      </a:r>
                      <a:endParaRPr sz="1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服務或模型等資源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Claude Haiku／Sonnet 兩段式標註、GPT-5.6 Sol 複核、Qwen3-4B QLoRA 自訓 prefill-only 決策模型（LLM2Jev 架構，本機 8 GB 顯卡）、K-means 分群、RAG（官方保修知識庫）、統計檢定（χ²、勝算比、Wilson CI）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1170432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預期效益簡述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成果：高風險車主 12 個月回廠率提升 10 個百分點（假設值，導入後以基期實測校正）。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流程：高風險名單每月更新、話術人工核准率 ≥ 80%。高風險名單人工篩選工時 −90% 以上（估）。</a:t>
                      </a:r>
                    </a:p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模型：隨機層 F1 ≥ 0.8、κ ≥ 0.6，每季 300 句人工金標重驗。每句 0.7 秒、零 API 費。</a:t>
                      </a: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大綱（計入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來源：本簡報章節；兩大產出依企業挑戰題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六個章節、兩大產出，對照頁碼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6903720" cy="713231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143000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" y="1042416"/>
            <a:ext cx="6135624" cy="60350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提案概述</a:t>
            </a: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</a:t>
            </a: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3 頁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產出 1</a:t>
            </a: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</a:t>
            </a: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21,183 句；186 句沒抱怨就走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" y="1773936"/>
            <a:ext cx="6903720" cy="713231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1929384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" y="1828800"/>
            <a:ext cx="6135624" cy="60350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目標對象與痛點分析</a:t>
            </a: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</a:t>
            </a: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4–7 頁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產出 1</a:t>
            </a: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</a:t>
            </a: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零件 17.3%；一般外廠 736 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" y="2560320"/>
            <a:ext cx="6903720" cy="713231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2715768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" y="2615184"/>
            <a:ext cx="6135624" cy="60350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解決方案設計</a:t>
            </a: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</a:t>
            </a: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8–10 頁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產出 1＋2</a:t>
            </a: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</a:t>
            </a: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雙迴路、511 人、高風險 74%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" y="3346703"/>
            <a:ext cx="6903720" cy="713231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8640" y="3502151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" y="3401568"/>
            <a:ext cx="6135624" cy="60350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AI 應用方法</a:t>
            </a: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</a:t>
            </a: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11–12 頁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產出 1</a:t>
            </a: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</a:t>
            </a: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兩段式 98.4%；r4 F1 0.685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624" y="4133087"/>
            <a:ext cx="6903720" cy="713231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8640" y="4288536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" y="4187951"/>
            <a:ext cx="6135624" cy="60350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獨特優勢與差異化</a:t>
            </a: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</a:t>
            </a: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13 頁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支撐兩份產出</a:t>
            </a: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</a:t>
            </a: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128 位靜默出走者看得到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0624" y="4919471"/>
            <a:ext cx="6903720" cy="713231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5074919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" y="4974335"/>
            <a:ext cx="6135624" cy="60350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預期效益與落地評估</a:t>
            </a: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</a:t>
            </a: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14–16 頁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產出 2</a:t>
            </a: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</a:t>
            </a: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12 則主表＋4 則附錄已查核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0624" y="5705855"/>
            <a:ext cx="6903720" cy="713231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8640" y="5861303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" y="5760719"/>
            <a:ext cx="6135624" cy="60350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附錄</a:t>
            </a: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</a:t>
            </a: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17–23 頁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不計入 15 頁</a:t>
            </a: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</a:t>
            </a: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補充資料、術語、圖表與話術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52360" y="987552"/>
            <a:ext cx="4325112" cy="267004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0376" y="1042416"/>
            <a:ext cx="4069080" cy="2560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產出 1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AI 網路輿情洞察系統架構與報告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客群 Persona、高風險議題、市場輿情、AI 技術／模型。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落在第 3–12 頁。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21,183 句、四種流失 Persona、r4 F1 0.685。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高風險 1,049 人，74% 真有流失句。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52360" y="3749039"/>
            <a:ext cx="4325112" cy="267004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80376" y="3803903"/>
            <a:ext cx="4069080" cy="2560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產出 2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針對目標 Persona（客群輪廓）的 AI 溝通計畫與系統流程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核心溝通策略、AI 生成內容、接觸點、運作流程圖。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落在第 8、14–17、21–23 頁（第 17 頁為附錄 A0）。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12 則主表＋4 則附錄已查核。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待料 A3、門檻 A4、客訴 A5。人工核准才發。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 提案概述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來源：企業挑戰題、統計檢定報告（T7）、殘餘切分報告（T3）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提案是兩份產出：輿情洞察，以及對準客群的溝通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11356848" cy="89611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60704"/>
            <a:ext cx="1783080" cy="7498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為什麼要做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論壇發言者流失率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χ²=99.5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86584" y="1042416"/>
            <a:ext cx="1417320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18.2%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Mobile01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03904" y="1042416"/>
            <a:ext cx="1417320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14.1%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PTT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21224" y="1042416"/>
            <a:ext cx="1417320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6.8%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Dcard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9983" y="1060704"/>
            <a:ext cx="4919472" cy="7498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1,671 句流失中，186 句沒抱怨就找出口。母體是論壇發言者，不是全體車主。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" y="1993392"/>
            <a:ext cx="5614416" cy="4425696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048256"/>
            <a:ext cx="5358383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產出 1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AI 網路輿情洞察系統架構與報告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816352"/>
            <a:ext cx="329184" cy="32918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2761488"/>
            <a:ext cx="4919472" cy="84581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客群 Persona（客群輪廓）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四種流失樣貌；過保精算派 511 人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9 頁</a:t>
            </a:r>
          </a:p>
        </p:txBody>
      </p:sp>
      <p:cxnSp>
        <p:nvCxnSpPr>
          <p:cNvPr id="16" name="divider"/>
          <p:cNvCxnSpPr/>
          <p:nvPr/>
        </p:nvCxnSpPr>
        <p:spPr>
          <a:xfrm>
            <a:off x="548640" y="3625596"/>
            <a:ext cx="5358384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48640" y="3717035"/>
            <a:ext cx="329184" cy="32918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3662172"/>
            <a:ext cx="4919472" cy="84581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高風險議題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零件供應 17.3%、價格 15.0%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5 頁</a:t>
            </a:r>
          </a:p>
        </p:txBody>
      </p:sp>
      <p:cxnSp>
        <p:nvCxnSpPr>
          <p:cNvPr id="19" name="divider"/>
          <p:cNvCxnSpPr/>
          <p:nvPr/>
        </p:nvCxnSpPr>
        <p:spPr>
          <a:xfrm>
            <a:off x="548640" y="4526280"/>
            <a:ext cx="5358384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48640" y="4617720"/>
            <a:ext cx="329184" cy="32918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4562855"/>
            <a:ext cx="4919472" cy="84581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整體市場輿情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售後語料 21,183 句；186 句沒抱怨就走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7 頁</a:t>
            </a:r>
          </a:p>
        </p:txBody>
      </p:sp>
      <p:cxnSp>
        <p:nvCxnSpPr>
          <p:cNvPr id="22" name="divider"/>
          <p:cNvCxnSpPr/>
          <p:nvPr/>
        </p:nvCxnSpPr>
        <p:spPr>
          <a:xfrm>
            <a:off x="548640" y="5426964"/>
            <a:ext cx="5358384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48640" y="5518404"/>
            <a:ext cx="329184" cy="32918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" y="5463540"/>
            <a:ext cx="4919472" cy="84581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AI 技術／模型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r4 本機模型 F1 0.685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8、12 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63055" y="1993392"/>
            <a:ext cx="5614416" cy="4425696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91071" y="2048256"/>
            <a:ext cx="5358383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產出 2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針對目標 Persona（客群輪廓）的 AI 溝通計畫與系統流程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91071" y="2816352"/>
            <a:ext cx="329184" cy="32918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9983" y="2761488"/>
            <a:ext cx="4919472" cy="84581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核心溝通策略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對的人、對的時機開口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14 頁</a:t>
            </a:r>
          </a:p>
        </p:txBody>
      </p:sp>
      <p:cxnSp>
        <p:nvCxnSpPr>
          <p:cNvPr id="29" name="divider"/>
          <p:cNvCxnSpPr/>
          <p:nvPr/>
        </p:nvCxnSpPr>
        <p:spPr>
          <a:xfrm>
            <a:off x="6291071" y="3625596"/>
            <a:ext cx="5358384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291071" y="3717035"/>
            <a:ext cx="329184" cy="32918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9983" y="3662172"/>
            <a:ext cx="4919472" cy="84581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AI 生成內容範例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12 則主表已對 76 條條款查核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14 頁；附錄 A3、A5</a:t>
            </a:r>
          </a:p>
        </p:txBody>
      </p:sp>
      <p:cxnSp>
        <p:nvCxnSpPr>
          <p:cNvPr id="32" name="divider"/>
          <p:cNvCxnSpPr/>
          <p:nvPr/>
        </p:nvCxnSpPr>
        <p:spPr>
          <a:xfrm>
            <a:off x="6291071" y="4526280"/>
            <a:ext cx="5358384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291071" y="4617720"/>
            <a:ext cx="329184" cy="32918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9983" y="4562855"/>
            <a:ext cx="4919472" cy="84581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精準接觸點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保固前 60 天、間隔拉長、刪項後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14 頁</a:t>
            </a:r>
          </a:p>
        </p:txBody>
      </p:sp>
      <p:cxnSp>
        <p:nvCxnSpPr>
          <p:cNvPr id="35" name="divider"/>
          <p:cNvCxnSpPr/>
          <p:nvPr/>
        </p:nvCxnSpPr>
        <p:spPr>
          <a:xfrm>
            <a:off x="6291071" y="5426964"/>
            <a:ext cx="5358384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6291071" y="5518404"/>
            <a:ext cx="329184" cy="32918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9983" y="5463540"/>
            <a:ext cx="4919472" cy="84581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運作流程圖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洞察與溝通雙迴路，人工核准才發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8、17 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來源：統計檢定（T7）、專案架構、風險報告（T10）；門檻見附錄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售後是人走了才知道；輿情能提前預警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7132320" cy="10972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042416"/>
            <a:ext cx="6912864" cy="9875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As-Is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只靠客訴與回廠紀錄，人流失之後才知道。1,671 句裡 186 句沒抱怨就找出口。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使用者是售後決策者與服務廠客戶關係人員。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2176272"/>
            <a:ext cx="7132320" cy="10972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2231136"/>
            <a:ext cx="6912864" cy="9875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To-Be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三個訊號並行。到期前 90 天進名單，第 60 天再開口。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公開輿情加上 CRM，在離開原廠之前先辨識。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987552"/>
            <a:ext cx="4096512" cy="713231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08976" y="1033272"/>
            <a:ext cx="3840480" cy="6217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到期前先找到人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1773936"/>
            <a:ext cx="4096512" cy="713231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08976" y="1819656"/>
            <a:ext cx="3840480" cy="6217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刪項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回廠時再問一次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2560320"/>
            <a:ext cx="4096512" cy="713231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8976" y="2606039"/>
            <a:ext cx="3840480" cy="6217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間隔拉長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超過週期就提醒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" y="3383280"/>
            <a:ext cx="11356848" cy="3035807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438144"/>
            <a:ext cx="11100816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三個前兆並排，匯流後才是離開；資料沒有先後順序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67328"/>
            <a:ext cx="3627120" cy="1024127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3813048"/>
            <a:ext cx="3480816" cy="932687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過保 62 句、保固內 17 句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觸發：到期前 90 天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2261616" y="4809743"/>
            <a:ext cx="201168" cy="182879"/>
          </a:xfrm>
          <a:prstGeom prst="downArrow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285488" y="3767328"/>
            <a:ext cx="3627120" cy="1024127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58640" y="3813048"/>
            <a:ext cx="3480816" cy="932687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刪項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連續 2 次拒項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拒絕估價項目就列管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5998464" y="4809743"/>
            <a:ext cx="201168" cy="182879"/>
          </a:xfrm>
          <a:prstGeom prst="downArrow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22336" y="3767328"/>
            <a:ext cx="3627120" cy="1024127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95488" y="3813048"/>
            <a:ext cx="3480816" cy="932687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間隔拉長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逾期超過建議週期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1.5 倍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9735312" y="4809743"/>
            <a:ext cx="201168" cy="182879"/>
          </a:xfrm>
          <a:prstGeom prst="downArrow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48640" y="5010912"/>
            <a:ext cx="11100816" cy="530352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5056631"/>
            <a:ext cx="10954512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離開原廠</a:t>
            </a:r>
            <a:r>
              <a:rPr sz="15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　　人走了才知道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5998464" y="5559551"/>
            <a:ext cx="201168" cy="182879"/>
          </a:xfrm>
          <a:prstGeom prst="downArrow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48640" y="5760720"/>
            <a:ext cx="11100816" cy="530352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" y="5806440"/>
            <a:ext cx="10954512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一般外廠　736 句</a:t>
            </a:r>
            <a:r>
              <a:rPr sz="15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　　可複選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來源：統計檢定報告（T7）；圖 F1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等料和價格送走人；態度抱怨多，卻少有人走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17.3%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零件供應最高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82696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55848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15.0%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價格次高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44768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1.4%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銷售交車最低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06840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79992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61%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態度負面；流失 4.7%</a:t>
            </a:r>
          </a:p>
        </p:txBody>
      </p:sp>
      <p:sp>
        <p:nvSpPr>
          <p:cNvPr id="14" name="chart:F1:card"/>
          <p:cNvSpPr/>
          <p:nvPr/>
        </p:nvSpPr>
        <p:spPr>
          <a:xfrm>
            <a:off x="420624" y="1975104"/>
            <a:ext cx="11356848" cy="3785615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art:F1:title"/>
          <p:cNvSpPr txBox="1"/>
          <p:nvPr/>
        </p:nvSpPr>
        <p:spPr>
          <a:xfrm>
            <a:off x="914400" y="2048256"/>
            <a:ext cx="107350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零件供應流失率最高（17.3%），銷售交車最低</a:t>
            </a:r>
          </a:p>
        </p:txBody>
      </p:sp>
      <p:sp>
        <p:nvSpPr>
          <p:cNvPr id="16" name="chart:F1:ylabel"/>
          <p:cNvSpPr txBox="1"/>
          <p:nvPr/>
        </p:nvSpPr>
        <p:spPr>
          <a:xfrm>
            <a:off x="548640" y="2048256"/>
            <a:ext cx="310896" cy="3621024"/>
          </a:xfrm>
          <a:prstGeom prst="rect">
            <a:avLst/>
          </a:prstGeom>
          <a:noFill/>
        </p:spPr>
        <p:txBody>
          <a:bodyPr wrap="square" lIns="18288" rIns="18288" tIns="18288" bIns="18288" anchor="ctr" vert="vert270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流失率（%）</a:t>
            </a:r>
          </a:p>
        </p:txBody>
      </p:sp>
      <p:cxnSp>
        <p:nvCxnSpPr>
          <p:cNvPr id="17" name="chart-line"/>
          <p:cNvCxnSpPr/>
          <p:nvPr/>
        </p:nvCxnSpPr>
        <p:spPr>
          <a:xfrm>
            <a:off x="1298448" y="5358384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hart:F1:tick"/>
          <p:cNvSpPr txBox="1"/>
          <p:nvPr/>
        </p:nvSpPr>
        <p:spPr>
          <a:xfrm>
            <a:off x="877824" y="5248656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0</a:t>
            </a:r>
          </a:p>
        </p:txBody>
      </p:sp>
      <p:cxnSp>
        <p:nvCxnSpPr>
          <p:cNvPr id="19" name="chart-line"/>
          <p:cNvCxnSpPr/>
          <p:nvPr/>
        </p:nvCxnSpPr>
        <p:spPr>
          <a:xfrm>
            <a:off x="1298448" y="4726898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hart:F1:tick"/>
          <p:cNvSpPr txBox="1"/>
          <p:nvPr/>
        </p:nvSpPr>
        <p:spPr>
          <a:xfrm>
            <a:off x="877824" y="4617170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cxnSp>
        <p:nvCxnSpPr>
          <p:cNvPr id="21" name="chart-line"/>
          <p:cNvCxnSpPr/>
          <p:nvPr/>
        </p:nvCxnSpPr>
        <p:spPr>
          <a:xfrm>
            <a:off x="1298448" y="4095413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hart:F1:tick"/>
          <p:cNvSpPr txBox="1"/>
          <p:nvPr/>
        </p:nvSpPr>
        <p:spPr>
          <a:xfrm>
            <a:off x="877824" y="3985685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10</a:t>
            </a:r>
          </a:p>
        </p:txBody>
      </p:sp>
      <p:cxnSp>
        <p:nvCxnSpPr>
          <p:cNvPr id="23" name="chart-line"/>
          <p:cNvCxnSpPr/>
          <p:nvPr/>
        </p:nvCxnSpPr>
        <p:spPr>
          <a:xfrm>
            <a:off x="1298448" y="3463927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hart:F1:tick"/>
          <p:cNvSpPr txBox="1"/>
          <p:nvPr/>
        </p:nvSpPr>
        <p:spPr>
          <a:xfrm>
            <a:off x="877824" y="3354199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15</a:t>
            </a:r>
          </a:p>
        </p:txBody>
      </p:sp>
      <p:cxnSp>
        <p:nvCxnSpPr>
          <p:cNvPr id="25" name="chart-line"/>
          <p:cNvCxnSpPr/>
          <p:nvPr/>
        </p:nvCxnSpPr>
        <p:spPr>
          <a:xfrm>
            <a:off x="1298448" y="2832442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hart:F1:tick"/>
          <p:cNvSpPr txBox="1"/>
          <p:nvPr/>
        </p:nvSpPr>
        <p:spPr>
          <a:xfrm>
            <a:off x="877824" y="2722714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20</a:t>
            </a:r>
          </a:p>
        </p:txBody>
      </p:sp>
      <p:cxnSp>
        <p:nvCxnSpPr>
          <p:cNvPr id="27" name="chart-line"/>
          <p:cNvCxnSpPr/>
          <p:nvPr/>
        </p:nvCxnSpPr>
        <p:spPr>
          <a:xfrm>
            <a:off x="1298448" y="5358384"/>
            <a:ext cx="10314432" cy="0"/>
          </a:xfrm>
          <a:prstGeom prst="line">
            <a:avLst/>
          </a:prstGeom>
          <a:ln w="12700">
            <a:solidFill>
              <a:srgbClr val="8A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hart:F1:bar"/>
          <p:cNvSpPr/>
          <p:nvPr/>
        </p:nvSpPr>
        <p:spPr>
          <a:xfrm>
            <a:off x="1516197" y="3172170"/>
            <a:ext cx="710549" cy="2186213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hart-line"/>
          <p:cNvCxnSpPr/>
          <p:nvPr/>
        </p:nvCxnSpPr>
        <p:spPr>
          <a:xfrm>
            <a:off x="1871472" y="2822217"/>
            <a:ext cx="0" cy="66059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hart-line"/>
          <p:cNvCxnSpPr/>
          <p:nvPr/>
        </p:nvCxnSpPr>
        <p:spPr>
          <a:xfrm>
            <a:off x="1798320" y="2822217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hart-line"/>
          <p:cNvCxnSpPr/>
          <p:nvPr/>
        </p:nvCxnSpPr>
        <p:spPr>
          <a:xfrm>
            <a:off x="1798320" y="3482807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hart:F1:value"/>
          <p:cNvSpPr txBox="1"/>
          <p:nvPr/>
        </p:nvSpPr>
        <p:spPr>
          <a:xfrm>
            <a:off x="1307592" y="2547897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17.3</a:t>
            </a:r>
          </a:p>
        </p:txBody>
      </p:sp>
      <p:sp>
        <p:nvSpPr>
          <p:cNvPr id="33" name="chart:F1:cat"/>
          <p:cNvSpPr txBox="1"/>
          <p:nvPr/>
        </p:nvSpPr>
        <p:spPr>
          <a:xfrm>
            <a:off x="1307592" y="5385816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零件供應</a:t>
            </a:r>
          </a:p>
        </p:txBody>
      </p:sp>
      <p:sp>
        <p:nvSpPr>
          <p:cNvPr id="34" name="chart:F1:bar"/>
          <p:cNvSpPr/>
          <p:nvPr/>
        </p:nvSpPr>
        <p:spPr>
          <a:xfrm>
            <a:off x="2662245" y="3461342"/>
            <a:ext cx="710549" cy="1897041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hart-line"/>
          <p:cNvCxnSpPr/>
          <p:nvPr/>
        </p:nvCxnSpPr>
        <p:spPr>
          <a:xfrm>
            <a:off x="3017520" y="3315534"/>
            <a:ext cx="0" cy="282938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hart-line"/>
          <p:cNvCxnSpPr/>
          <p:nvPr/>
        </p:nvCxnSpPr>
        <p:spPr>
          <a:xfrm>
            <a:off x="2944368" y="3315534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hart-line"/>
          <p:cNvCxnSpPr/>
          <p:nvPr/>
        </p:nvCxnSpPr>
        <p:spPr>
          <a:xfrm>
            <a:off x="2944368" y="3598472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chart:F1:value"/>
          <p:cNvSpPr txBox="1"/>
          <p:nvPr/>
        </p:nvSpPr>
        <p:spPr>
          <a:xfrm>
            <a:off x="2453640" y="3041214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15.0</a:t>
            </a:r>
          </a:p>
        </p:txBody>
      </p:sp>
      <p:sp>
        <p:nvSpPr>
          <p:cNvPr id="39" name="chart:F1:cat"/>
          <p:cNvSpPr txBox="1"/>
          <p:nvPr/>
        </p:nvSpPr>
        <p:spPr>
          <a:xfrm>
            <a:off x="2453640" y="5385816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價格</a:t>
            </a:r>
          </a:p>
        </p:txBody>
      </p:sp>
      <p:sp>
        <p:nvSpPr>
          <p:cNvPr id="40" name="chart:F1:bar"/>
          <p:cNvSpPr/>
          <p:nvPr/>
        </p:nvSpPr>
        <p:spPr>
          <a:xfrm>
            <a:off x="3808293" y="4157712"/>
            <a:ext cx="710549" cy="1200671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hart-line"/>
          <p:cNvCxnSpPr/>
          <p:nvPr/>
        </p:nvCxnSpPr>
        <p:spPr>
          <a:xfrm>
            <a:off x="4163568" y="3922378"/>
            <a:ext cx="0" cy="435547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hart-line"/>
          <p:cNvCxnSpPr/>
          <p:nvPr/>
        </p:nvCxnSpPr>
        <p:spPr>
          <a:xfrm>
            <a:off x="4090416" y="3922378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hart-line"/>
          <p:cNvCxnSpPr/>
          <p:nvPr/>
        </p:nvCxnSpPr>
        <p:spPr>
          <a:xfrm>
            <a:off x="4090416" y="4357925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chart:F1:value"/>
          <p:cNvSpPr txBox="1"/>
          <p:nvPr/>
        </p:nvSpPr>
        <p:spPr>
          <a:xfrm>
            <a:off x="3599688" y="3648058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9.5</a:t>
            </a:r>
          </a:p>
        </p:txBody>
      </p:sp>
      <p:sp>
        <p:nvSpPr>
          <p:cNvPr id="45" name="chart:F1:cat"/>
          <p:cNvSpPr txBox="1"/>
          <p:nvPr/>
        </p:nvSpPr>
        <p:spPr>
          <a:xfrm>
            <a:off x="3599688" y="5385816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報價透明</a:t>
            </a:r>
          </a:p>
        </p:txBody>
      </p:sp>
      <p:sp>
        <p:nvSpPr>
          <p:cNvPr id="46" name="chart:F1:bar"/>
          <p:cNvSpPr/>
          <p:nvPr/>
        </p:nvSpPr>
        <p:spPr>
          <a:xfrm>
            <a:off x="4954341" y="4234437"/>
            <a:ext cx="710549" cy="1123946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hart-line"/>
          <p:cNvCxnSpPr/>
          <p:nvPr/>
        </p:nvCxnSpPr>
        <p:spPr>
          <a:xfrm>
            <a:off x="5309616" y="4104067"/>
            <a:ext cx="0" cy="248388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hart-line"/>
          <p:cNvCxnSpPr/>
          <p:nvPr/>
        </p:nvCxnSpPr>
        <p:spPr>
          <a:xfrm>
            <a:off x="5236464" y="4104067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hart-line"/>
          <p:cNvCxnSpPr/>
          <p:nvPr/>
        </p:nvCxnSpPr>
        <p:spPr>
          <a:xfrm>
            <a:off x="5236464" y="4352455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chart:F1:value"/>
          <p:cNvSpPr txBox="1"/>
          <p:nvPr/>
        </p:nvSpPr>
        <p:spPr>
          <a:xfrm>
            <a:off x="4745736" y="3829747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8.9</a:t>
            </a:r>
          </a:p>
        </p:txBody>
      </p:sp>
      <p:sp>
        <p:nvSpPr>
          <p:cNvPr id="51" name="chart:F1:cat"/>
          <p:cNvSpPr txBox="1"/>
          <p:nvPr/>
        </p:nvSpPr>
        <p:spPr>
          <a:xfrm>
            <a:off x="4745736" y="5385816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技術品質</a:t>
            </a:r>
          </a:p>
        </p:txBody>
      </p:sp>
      <p:sp>
        <p:nvSpPr>
          <p:cNvPr id="52" name="chart:F1:bar"/>
          <p:cNvSpPr/>
          <p:nvPr/>
        </p:nvSpPr>
        <p:spPr>
          <a:xfrm>
            <a:off x="6100389" y="4426302"/>
            <a:ext cx="710549" cy="932081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hart-line"/>
          <p:cNvCxnSpPr/>
          <p:nvPr/>
        </p:nvCxnSpPr>
        <p:spPr>
          <a:xfrm>
            <a:off x="6455664" y="3953497"/>
            <a:ext cx="0" cy="795134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hart-line"/>
          <p:cNvCxnSpPr/>
          <p:nvPr/>
        </p:nvCxnSpPr>
        <p:spPr>
          <a:xfrm>
            <a:off x="6382512" y="3953497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hart-line"/>
          <p:cNvCxnSpPr/>
          <p:nvPr/>
        </p:nvCxnSpPr>
        <p:spPr>
          <a:xfrm>
            <a:off x="6382512" y="4748631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chart:F1:value"/>
          <p:cNvSpPr txBox="1"/>
          <p:nvPr/>
        </p:nvSpPr>
        <p:spPr>
          <a:xfrm>
            <a:off x="5891784" y="3679177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7.4</a:t>
            </a:r>
          </a:p>
        </p:txBody>
      </p:sp>
      <p:sp>
        <p:nvSpPr>
          <p:cNvPr id="57" name="chart:F1:cat"/>
          <p:cNvSpPr txBox="1"/>
          <p:nvPr/>
        </p:nvSpPr>
        <p:spPr>
          <a:xfrm>
            <a:off x="5891784" y="5385816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等待預約</a:t>
            </a:r>
          </a:p>
        </p:txBody>
      </p:sp>
      <p:sp>
        <p:nvSpPr>
          <p:cNvPr id="58" name="chart:F1:bar"/>
          <p:cNvSpPr/>
          <p:nvPr/>
        </p:nvSpPr>
        <p:spPr>
          <a:xfrm>
            <a:off x="7246437" y="4453296"/>
            <a:ext cx="710549" cy="905087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hart-line"/>
          <p:cNvCxnSpPr/>
          <p:nvPr/>
        </p:nvCxnSpPr>
        <p:spPr>
          <a:xfrm>
            <a:off x="7601712" y="4275592"/>
            <a:ext cx="0" cy="32815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hart-line"/>
          <p:cNvCxnSpPr/>
          <p:nvPr/>
        </p:nvCxnSpPr>
        <p:spPr>
          <a:xfrm>
            <a:off x="7528560" y="4275592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hart-line"/>
          <p:cNvCxnSpPr/>
          <p:nvPr/>
        </p:nvCxnSpPr>
        <p:spPr>
          <a:xfrm>
            <a:off x="7528560" y="4603742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chart:F1:value"/>
          <p:cNvSpPr txBox="1"/>
          <p:nvPr/>
        </p:nvSpPr>
        <p:spPr>
          <a:xfrm>
            <a:off x="7037832" y="4001272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7.2</a:t>
            </a:r>
          </a:p>
        </p:txBody>
      </p:sp>
      <p:sp>
        <p:nvSpPr>
          <p:cNvPr id="63" name="chart:F1:cat"/>
          <p:cNvSpPr txBox="1"/>
          <p:nvPr/>
        </p:nvSpPr>
        <p:spPr>
          <a:xfrm>
            <a:off x="7037832" y="5385816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保固延保</a:t>
            </a:r>
          </a:p>
        </p:txBody>
      </p:sp>
      <p:sp>
        <p:nvSpPr>
          <p:cNvPr id="64" name="chart:F1:bar"/>
          <p:cNvSpPr/>
          <p:nvPr/>
        </p:nvSpPr>
        <p:spPr>
          <a:xfrm>
            <a:off x="8392485" y="4758811"/>
            <a:ext cx="710549" cy="599572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hart-line"/>
          <p:cNvCxnSpPr/>
          <p:nvPr/>
        </p:nvCxnSpPr>
        <p:spPr>
          <a:xfrm>
            <a:off x="8747760" y="4595640"/>
            <a:ext cx="0" cy="292818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hart-line"/>
          <p:cNvCxnSpPr/>
          <p:nvPr/>
        </p:nvCxnSpPr>
        <p:spPr>
          <a:xfrm>
            <a:off x="8674608" y="4595640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hart-line"/>
          <p:cNvCxnSpPr/>
          <p:nvPr/>
        </p:nvCxnSpPr>
        <p:spPr>
          <a:xfrm>
            <a:off x="8674608" y="4888458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chart:F1:value"/>
          <p:cNvSpPr txBox="1"/>
          <p:nvPr/>
        </p:nvSpPr>
        <p:spPr>
          <a:xfrm>
            <a:off x="8183880" y="4321320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4.7</a:t>
            </a:r>
          </a:p>
        </p:txBody>
      </p:sp>
      <p:sp>
        <p:nvSpPr>
          <p:cNvPr id="69" name="chart:F1:cat"/>
          <p:cNvSpPr txBox="1"/>
          <p:nvPr/>
        </p:nvSpPr>
        <p:spPr>
          <a:xfrm>
            <a:off x="8183880" y="5385816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態度</a:t>
            </a:r>
          </a:p>
        </p:txBody>
      </p:sp>
      <p:sp>
        <p:nvSpPr>
          <p:cNvPr id="70" name="chart:F1:bar"/>
          <p:cNvSpPr/>
          <p:nvPr/>
        </p:nvSpPr>
        <p:spPr>
          <a:xfrm>
            <a:off x="9538533" y="4985275"/>
            <a:ext cx="710549" cy="373108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" name="chart-line"/>
          <p:cNvCxnSpPr/>
          <p:nvPr/>
        </p:nvCxnSpPr>
        <p:spPr>
          <a:xfrm>
            <a:off x="9893808" y="4787655"/>
            <a:ext cx="0" cy="328189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hart-line"/>
          <p:cNvCxnSpPr/>
          <p:nvPr/>
        </p:nvCxnSpPr>
        <p:spPr>
          <a:xfrm>
            <a:off x="9820656" y="4787655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hart-line"/>
          <p:cNvCxnSpPr/>
          <p:nvPr/>
        </p:nvCxnSpPr>
        <p:spPr>
          <a:xfrm>
            <a:off x="9820656" y="5115844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chart:F1:value"/>
          <p:cNvSpPr txBox="1"/>
          <p:nvPr/>
        </p:nvSpPr>
        <p:spPr>
          <a:xfrm>
            <a:off x="9329928" y="4513335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3.0</a:t>
            </a:r>
          </a:p>
        </p:txBody>
      </p:sp>
      <p:sp>
        <p:nvSpPr>
          <p:cNvPr id="75" name="chart:F1:cat"/>
          <p:cNvSpPr txBox="1"/>
          <p:nvPr/>
        </p:nvSpPr>
        <p:spPr>
          <a:xfrm>
            <a:off x="9329928" y="5385816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便利設施</a:t>
            </a:r>
          </a:p>
        </p:txBody>
      </p:sp>
      <p:sp>
        <p:nvSpPr>
          <p:cNvPr id="76" name="chart:F1:bar"/>
          <p:cNvSpPr/>
          <p:nvPr/>
        </p:nvSpPr>
        <p:spPr>
          <a:xfrm>
            <a:off x="10684581" y="5182843"/>
            <a:ext cx="710549" cy="175540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7" name="chart-line"/>
          <p:cNvCxnSpPr/>
          <p:nvPr/>
        </p:nvCxnSpPr>
        <p:spPr>
          <a:xfrm>
            <a:off x="11039856" y="5085497"/>
            <a:ext cx="0" cy="160282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hart-line"/>
          <p:cNvCxnSpPr/>
          <p:nvPr/>
        </p:nvCxnSpPr>
        <p:spPr>
          <a:xfrm>
            <a:off x="10966704" y="5085497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hart-line"/>
          <p:cNvCxnSpPr/>
          <p:nvPr/>
        </p:nvCxnSpPr>
        <p:spPr>
          <a:xfrm>
            <a:off x="10966704" y="5245779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chart:F1:value"/>
          <p:cNvSpPr txBox="1"/>
          <p:nvPr/>
        </p:nvSpPr>
        <p:spPr>
          <a:xfrm>
            <a:off x="10475976" y="4811177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1.4</a:t>
            </a:r>
          </a:p>
        </p:txBody>
      </p:sp>
      <p:sp>
        <p:nvSpPr>
          <p:cNvPr id="81" name="chart:F1:cat"/>
          <p:cNvSpPr txBox="1"/>
          <p:nvPr/>
        </p:nvSpPr>
        <p:spPr>
          <a:xfrm>
            <a:off x="10475976" y="5385816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銷售交車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420624" y="5852159"/>
            <a:ext cx="11356848" cy="56692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48640" y="5907023"/>
            <a:ext cx="11100816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對應接觸點：待料通知（R5），話術見附錄 A3。零件勝算比 2.58、價格 2.64，分母 21,183 句。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來源：風險與 Persona（客群輪廓）報告（T10）、專案架構、知識庫價格摘錄（T11）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出口是一般外廠；過保後價差把人推走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736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一般外廠（句）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82696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55848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234／135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自備料／DIY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44768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62／17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過保／保固內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06840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79992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9,000／3,500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定保口述價</a:t>
            </a:r>
          </a:p>
        </p:txBody>
      </p:sp>
      <p:sp>
        <p:nvSpPr>
          <p:cNvPr id="14" name="chart:F3:card"/>
          <p:cNvSpPr/>
          <p:nvPr/>
        </p:nvSpPr>
        <p:spPr>
          <a:xfrm>
            <a:off x="420624" y="1975104"/>
            <a:ext cx="11356848" cy="3785615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art:F3:title"/>
          <p:cNvSpPr txBox="1"/>
          <p:nvPr/>
        </p:nvSpPr>
        <p:spPr>
          <a:xfrm>
            <a:off x="914400" y="2048256"/>
            <a:ext cx="107350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1,671 句流失裡，替代去向以一般外廠最多（736 句）</a:t>
            </a:r>
          </a:p>
        </p:txBody>
      </p:sp>
      <p:sp>
        <p:nvSpPr>
          <p:cNvPr id="16" name="chart:F3:ylabel"/>
          <p:cNvSpPr txBox="1"/>
          <p:nvPr/>
        </p:nvSpPr>
        <p:spPr>
          <a:xfrm>
            <a:off x="548640" y="2048256"/>
            <a:ext cx="310896" cy="3621024"/>
          </a:xfrm>
          <a:prstGeom prst="rect">
            <a:avLst/>
          </a:prstGeom>
          <a:noFill/>
        </p:spPr>
        <p:txBody>
          <a:bodyPr wrap="square" lIns="18288" rIns="18288" tIns="18288" bIns="18288" anchor="ctr" vert="vert270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句數（一句可多選）</a:t>
            </a:r>
          </a:p>
        </p:txBody>
      </p:sp>
      <p:cxnSp>
        <p:nvCxnSpPr>
          <p:cNvPr id="17" name="chart-line"/>
          <p:cNvCxnSpPr/>
          <p:nvPr/>
        </p:nvCxnSpPr>
        <p:spPr>
          <a:xfrm>
            <a:off x="1298448" y="5358384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hart:F3:tick"/>
          <p:cNvSpPr txBox="1"/>
          <p:nvPr/>
        </p:nvSpPr>
        <p:spPr>
          <a:xfrm>
            <a:off x="877824" y="5248656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0</a:t>
            </a:r>
          </a:p>
        </p:txBody>
      </p:sp>
      <p:cxnSp>
        <p:nvCxnSpPr>
          <p:cNvPr id="19" name="chart-line"/>
          <p:cNvCxnSpPr/>
          <p:nvPr/>
        </p:nvCxnSpPr>
        <p:spPr>
          <a:xfrm>
            <a:off x="1298448" y="4669208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hart:F3:tick"/>
          <p:cNvSpPr txBox="1"/>
          <p:nvPr/>
        </p:nvSpPr>
        <p:spPr>
          <a:xfrm>
            <a:off x="877824" y="4559480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200</a:t>
            </a:r>
          </a:p>
        </p:txBody>
      </p:sp>
      <p:cxnSp>
        <p:nvCxnSpPr>
          <p:cNvPr id="21" name="chart-line"/>
          <p:cNvCxnSpPr/>
          <p:nvPr/>
        </p:nvCxnSpPr>
        <p:spPr>
          <a:xfrm>
            <a:off x="1298448" y="3980032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hart:F3:tick"/>
          <p:cNvSpPr txBox="1"/>
          <p:nvPr/>
        </p:nvSpPr>
        <p:spPr>
          <a:xfrm>
            <a:off x="877824" y="3870304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400</a:t>
            </a:r>
          </a:p>
        </p:txBody>
      </p:sp>
      <p:cxnSp>
        <p:nvCxnSpPr>
          <p:cNvPr id="23" name="chart-line"/>
          <p:cNvCxnSpPr/>
          <p:nvPr/>
        </p:nvCxnSpPr>
        <p:spPr>
          <a:xfrm>
            <a:off x="1298448" y="3290857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hart:F3:tick"/>
          <p:cNvSpPr txBox="1"/>
          <p:nvPr/>
        </p:nvSpPr>
        <p:spPr>
          <a:xfrm>
            <a:off x="877824" y="3181129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600</a:t>
            </a:r>
          </a:p>
        </p:txBody>
      </p:sp>
      <p:cxnSp>
        <p:nvCxnSpPr>
          <p:cNvPr id="25" name="chart-line"/>
          <p:cNvCxnSpPr/>
          <p:nvPr/>
        </p:nvCxnSpPr>
        <p:spPr>
          <a:xfrm>
            <a:off x="1298448" y="5358384"/>
            <a:ext cx="10314432" cy="0"/>
          </a:xfrm>
          <a:prstGeom prst="line">
            <a:avLst/>
          </a:prstGeom>
          <a:ln w="12700">
            <a:solidFill>
              <a:srgbClr val="8A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hart:F3:bar"/>
          <p:cNvSpPr/>
          <p:nvPr/>
        </p:nvSpPr>
        <p:spPr>
          <a:xfrm>
            <a:off x="1625071" y="2822217"/>
            <a:ext cx="1065824" cy="253616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hart:F3:value"/>
          <p:cNvSpPr txBox="1"/>
          <p:nvPr/>
        </p:nvSpPr>
        <p:spPr>
          <a:xfrm>
            <a:off x="1396471" y="2547897"/>
            <a:ext cx="1523024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736</a:t>
            </a:r>
          </a:p>
        </p:txBody>
      </p:sp>
      <p:sp>
        <p:nvSpPr>
          <p:cNvPr id="28" name="chart:F3:cat"/>
          <p:cNvSpPr txBox="1"/>
          <p:nvPr/>
        </p:nvSpPr>
        <p:spPr>
          <a:xfrm>
            <a:off x="1396471" y="5385816"/>
            <a:ext cx="152302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一般外廠</a:t>
            </a:r>
          </a:p>
        </p:txBody>
      </p:sp>
      <p:sp>
        <p:nvSpPr>
          <p:cNvPr id="29" name="chart:F3:bar"/>
          <p:cNvSpPr/>
          <p:nvPr/>
        </p:nvSpPr>
        <p:spPr>
          <a:xfrm>
            <a:off x="3344143" y="4552048"/>
            <a:ext cx="1065824" cy="806335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hart:F3:value"/>
          <p:cNvSpPr txBox="1"/>
          <p:nvPr/>
        </p:nvSpPr>
        <p:spPr>
          <a:xfrm>
            <a:off x="3115543" y="4277728"/>
            <a:ext cx="1523024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234</a:t>
            </a:r>
          </a:p>
        </p:txBody>
      </p:sp>
      <p:sp>
        <p:nvSpPr>
          <p:cNvPr id="31" name="chart:F3:cat"/>
          <p:cNvSpPr txBox="1"/>
          <p:nvPr/>
        </p:nvSpPr>
        <p:spPr>
          <a:xfrm>
            <a:off x="3115543" y="5385816"/>
            <a:ext cx="152302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自備料</a:t>
            </a:r>
          </a:p>
        </p:txBody>
      </p:sp>
      <p:sp>
        <p:nvSpPr>
          <p:cNvPr id="32" name="chart:F3:bar"/>
          <p:cNvSpPr/>
          <p:nvPr/>
        </p:nvSpPr>
        <p:spPr>
          <a:xfrm>
            <a:off x="5063215" y="4893190"/>
            <a:ext cx="1065824" cy="465193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hart:F3:value"/>
          <p:cNvSpPr txBox="1"/>
          <p:nvPr/>
        </p:nvSpPr>
        <p:spPr>
          <a:xfrm>
            <a:off x="4834615" y="4618870"/>
            <a:ext cx="1523024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135</a:t>
            </a:r>
          </a:p>
        </p:txBody>
      </p:sp>
      <p:sp>
        <p:nvSpPr>
          <p:cNvPr id="34" name="chart:F3:cat"/>
          <p:cNvSpPr txBox="1"/>
          <p:nvPr/>
        </p:nvSpPr>
        <p:spPr>
          <a:xfrm>
            <a:off x="4834615" y="5385816"/>
            <a:ext cx="152302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DIY</a:t>
            </a:r>
          </a:p>
        </p:txBody>
      </p:sp>
      <p:sp>
        <p:nvSpPr>
          <p:cNvPr id="35" name="chart:F3:bar"/>
          <p:cNvSpPr/>
          <p:nvPr/>
        </p:nvSpPr>
        <p:spPr>
          <a:xfrm>
            <a:off x="6782287" y="5117172"/>
            <a:ext cx="1065824" cy="241211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hart:F3:value"/>
          <p:cNvSpPr txBox="1"/>
          <p:nvPr/>
        </p:nvSpPr>
        <p:spPr>
          <a:xfrm>
            <a:off x="6553687" y="4842852"/>
            <a:ext cx="1523024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70</a:t>
            </a:r>
          </a:p>
        </p:txBody>
      </p:sp>
      <p:sp>
        <p:nvSpPr>
          <p:cNvPr id="37" name="chart:F3:cat"/>
          <p:cNvSpPr txBox="1"/>
          <p:nvPr/>
        </p:nvSpPr>
        <p:spPr>
          <a:xfrm>
            <a:off x="6553687" y="5385816"/>
            <a:ext cx="152302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他牌或換車</a:t>
            </a:r>
          </a:p>
        </p:txBody>
      </p:sp>
      <p:sp>
        <p:nvSpPr>
          <p:cNvPr id="38" name="chart:F3:bar"/>
          <p:cNvSpPr/>
          <p:nvPr/>
        </p:nvSpPr>
        <p:spPr>
          <a:xfrm>
            <a:off x="8501359" y="5220548"/>
            <a:ext cx="1065824" cy="137835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hart:F3:value"/>
          <p:cNvSpPr txBox="1"/>
          <p:nvPr/>
        </p:nvSpPr>
        <p:spPr>
          <a:xfrm>
            <a:off x="8272759" y="4946228"/>
            <a:ext cx="1523024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40</a:t>
            </a:r>
          </a:p>
        </p:txBody>
      </p:sp>
      <p:sp>
        <p:nvSpPr>
          <p:cNvPr id="40" name="chart:F3:cat"/>
          <p:cNvSpPr txBox="1"/>
          <p:nvPr/>
        </p:nvSpPr>
        <p:spPr>
          <a:xfrm>
            <a:off x="8272759" y="5385816"/>
            <a:ext cx="152302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技師開業</a:t>
            </a:r>
          </a:p>
        </p:txBody>
      </p:sp>
      <p:sp>
        <p:nvSpPr>
          <p:cNvPr id="41" name="chart:F3:bar"/>
          <p:cNvSpPr/>
          <p:nvPr/>
        </p:nvSpPr>
        <p:spPr>
          <a:xfrm>
            <a:off x="10220431" y="5330816"/>
            <a:ext cx="1065824" cy="27567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hart:F3:value"/>
          <p:cNvSpPr txBox="1"/>
          <p:nvPr/>
        </p:nvSpPr>
        <p:spPr>
          <a:xfrm>
            <a:off x="9991831" y="5056496"/>
            <a:ext cx="1523024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8</a:t>
            </a:r>
          </a:p>
        </p:txBody>
      </p:sp>
      <p:sp>
        <p:nvSpPr>
          <p:cNvPr id="43" name="chart:F3:cat"/>
          <p:cNvSpPr txBox="1"/>
          <p:nvPr/>
        </p:nvSpPr>
        <p:spPr>
          <a:xfrm>
            <a:off x="9991831" y="5385816"/>
            <a:ext cx="152302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連鎖保養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20624" y="5852159"/>
            <a:ext cx="11356848" cy="56692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5907023"/>
            <a:ext cx="11100816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去向可複選，母體 1,671 句流失。定保價是論壇口述中位數，原廠 9,000、外廠 3,500，不是公告價。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來源：資料品質與去識別（T7）、趨勢報告（T15）；圖 F9_pipeline。季趨勢圖見附錄 A2b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2.1 萬句售後語料，品質過關、全數去識別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0624" y="987552"/>
          <a:ext cx="5532120" cy="2340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2651760"/>
              </a:tblGrid>
              <a:tr h="365760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項目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數量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395020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三站文章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5,765 篇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395020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留言／樓層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225,157（22.5 萬）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395020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切句去重後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235,775（23.6 萬）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395020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售後句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21,183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395020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流失句 c≥2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1,671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27064" y="987552"/>
          <a:ext cx="5550408" cy="2340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3240"/>
                <a:gridCol w="2487168"/>
              </a:tblGrid>
              <a:tr h="365760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指標（售後句）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結果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395020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關鍵欄缺失率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0.00%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395020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重複率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0.00%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395020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一致性率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100%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395020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異常值率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7.77%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395020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完整性率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100%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20624" y="3419856"/>
            <a:ext cx="11356848" cy="7315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474720"/>
            <a:ext cx="11100816" cy="6217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去識別：文本遮蔽 517 次，抽查 50 句（seed 42）漏網 0。超過 78 字的長句占 7.77%，只標記、不刪除。21,183 句仍全部進入標註。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4242816"/>
            <a:ext cx="11356848" cy="5120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297679"/>
            <a:ext cx="11100816" cy="4023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整體輿情：2026Q3 流失率 4.2%，上季 5.3%，去年同季 10.9%（至 9/19）。佐證見附錄 A2b 的 F9。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" y="4846319"/>
            <a:ext cx="11356848" cy="157276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4956047"/>
            <a:ext cx="2059228" cy="1353312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5001767"/>
            <a:ext cx="1912924" cy="12618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爬取留言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22.5 萬則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44444" y="5632703"/>
            <a:ext cx="128016" cy="0"/>
          </a:xfrm>
          <a:prstGeom prst="line">
            <a:avLst/>
          </a:prstGeom>
          <a:ln w="22225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809036" y="4956047"/>
            <a:ext cx="2059228" cy="1353312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82188" y="5001767"/>
            <a:ext cx="1912924" cy="12618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切句・去重・去識別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23.6 萬句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904841" y="5632703"/>
            <a:ext cx="128016" cy="0"/>
          </a:xfrm>
          <a:prstGeom prst="line">
            <a:avLst/>
          </a:prstGeom>
          <a:ln w="22225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069433" y="4956047"/>
            <a:ext cx="2059228" cy="1353312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42585" y="5001767"/>
            <a:ext cx="1912924" cy="12618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3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售後關鍵詞篩選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21,183 句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165238" y="5632703"/>
            <a:ext cx="128016" cy="0"/>
          </a:xfrm>
          <a:prstGeom prst="line">
            <a:avLst/>
          </a:prstGeom>
          <a:ln w="22225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329830" y="4956047"/>
            <a:ext cx="2059228" cy="1353312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02982" y="5001767"/>
            <a:ext cx="1912924" cy="12618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4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五指標品質檢查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超過 78 字只標記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425635" y="5632703"/>
            <a:ext cx="128016" cy="0"/>
          </a:xfrm>
          <a:prstGeom prst="line">
            <a:avLst/>
          </a:prstGeom>
          <a:ln w="22225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590227" y="4956047"/>
            <a:ext cx="2059228" cy="1353312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63379" y="5001767"/>
            <a:ext cx="1912924" cy="12618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5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進入標註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供模型與報告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 解決方案設計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來源：L7 運作流程、專案架構；圖 F8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洞察每日產出；關懷由事件觸發、人工核准才發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11356848" cy="1517904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1033272"/>
            <a:ext cx="11173968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產出 1：AI 網路輿情洞察系統架構與報告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" y="1252728"/>
            <a:ext cx="11173968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洞察迴路｜每日排程：新留言 → 標註與風險 → 日報 → 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" y="1499616"/>
            <a:ext cx="1335024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536192"/>
            <a:ext cx="129844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論壇爬蟲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每日抓新留言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三站公開論壇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16736" y="1563624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47088" y="1499616"/>
            <a:ext cx="1591056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65376" y="1536192"/>
            <a:ext cx="155448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去重・去識別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作者雜湊、店名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人名遮蔽（L1）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99232" y="1563624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9584" y="1499616"/>
            <a:ext cx="1536192" cy="969264"/>
          </a:xfrm>
          <a:prstGeom prst="roundRect">
            <a:avLst>
              <a:gd name="adj" fmla="val 8000"/>
            </a:avLst>
          </a:prstGeom>
          <a:solidFill>
            <a:srgbClr val="F6EFE3"/>
          </a:solidFill>
          <a:ln w="15875">
            <a:solidFill>
              <a:srgbClr val="8A6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7872" y="1536192"/>
            <a:ext cx="1499616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資料庫 B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原始輿情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去識別版，可溯源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26864" y="1563624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57216" y="1499616"/>
            <a:ext cx="1828800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75504" y="1536192"/>
            <a:ext cx="1792224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流失判斷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r4 逐句判流失、面向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→ 風險分數 →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Persona（客群輪廓）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89904" y="1563624"/>
            <a:ext cx="8412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L3·L4·L5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77456" y="1499616"/>
            <a:ext cx="1792224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95744" y="1536192"/>
            <a:ext cx="175564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洞察報告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日報・週報・季報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趨勢分析、200% 預警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61120" y="1499616"/>
            <a:ext cx="1298448" cy="969264"/>
          </a:xfrm>
          <a:prstGeom prst="roundRect">
            <a:avLst>
              <a:gd name="adj" fmla="val 8000"/>
            </a:avLst>
          </a:prstGeom>
          <a:solidFill>
            <a:srgbClr val="F6EFE3"/>
          </a:solidFill>
          <a:ln w="15875">
            <a:solidFill>
              <a:srgbClr val="8A6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79408" y="1536192"/>
            <a:ext cx="1261872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資料庫 A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報告池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日／週／季報、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預警紀錄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351008" y="1499616"/>
            <a:ext cx="1426464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69296" y="1536192"/>
            <a:ext cx="138988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Dashboard 1–3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1 戰情總覽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2 報告池・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3 原始輿情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755648" y="1956816"/>
            <a:ext cx="91440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438144" y="1956816"/>
            <a:ext cx="91440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065776" y="1956816"/>
            <a:ext cx="91440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986016" y="1956816"/>
            <a:ext cx="91440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869680" y="1956816"/>
            <a:ext cx="91439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0259568" y="1956816"/>
            <a:ext cx="91440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420624" y="2798064"/>
            <a:ext cx="11356848" cy="2761488"/>
          </a:xfrm>
          <a:prstGeom prst="roundRect">
            <a:avLst>
              <a:gd name="adj" fmla="val 8000"/>
            </a:avLst>
          </a:prstGeom>
          <a:solidFill>
            <a:srgbClr val="FB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6071616" y="2468880"/>
            <a:ext cx="0" cy="182880"/>
          </a:xfrm>
          <a:prstGeom prst="line">
            <a:avLst/>
          </a:prstGeom>
          <a:ln w="15875">
            <a:solidFill>
              <a:srgbClr val="5C65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512064" y="2651760"/>
            <a:ext cx="5559552" cy="0"/>
          </a:xfrm>
          <a:prstGeom prst="line">
            <a:avLst/>
          </a:prstGeom>
          <a:ln w="15875">
            <a:solidFill>
              <a:srgbClr val="5C65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512064" y="2651760"/>
            <a:ext cx="0" cy="932688"/>
          </a:xfrm>
          <a:prstGeom prst="line">
            <a:avLst/>
          </a:prstGeom>
          <a:ln w="15875">
            <a:solidFill>
              <a:srgbClr val="5C65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12064" y="3584448"/>
            <a:ext cx="109728" cy="0"/>
          </a:xfrm>
          <a:prstGeom prst="line">
            <a:avLst/>
          </a:prstGeom>
          <a:ln w="15875">
            <a:solidFill>
              <a:srgbClr val="5C65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2633472" y="2532888"/>
            <a:ext cx="1645920" cy="237744"/>
          </a:xfrm>
          <a:prstGeom prst="rect">
            <a:avLst/>
          </a:prstGeom>
          <a:solidFill>
            <a:srgbClr val="FFFFFF"/>
          </a:solidFill>
        </p:spPr>
        <p:txBody>
          <a:bodyPr wrap="square" lIns="36576" rIns="36576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570"/>
                </a:solidFill>
                <a:latin typeface="Arial"/>
                <a:ea typeface="微軟正黑體"/>
                <a:cs typeface="Arial"/>
              </a:rPr>
              <a:t>風險升為高 → 觸發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2843784"/>
            <a:ext cx="11027664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C0392B"/>
                </a:solidFill>
                <a:latin typeface="Arial"/>
                <a:ea typeface="微軟正黑體"/>
                <a:cs typeface="Arial"/>
              </a:rPr>
              <a:t>產出 2：針對目標 Persona（客群輪廓）的 AI 溝通計畫與系統流程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3063240"/>
            <a:ext cx="11027664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C0392B"/>
                </a:solidFill>
                <a:latin typeface="Arial"/>
                <a:ea typeface="微軟正黑體"/>
                <a:cs typeface="Arial"/>
              </a:rPr>
              <a:t>溝通迴路｜事件觸發：CRM 訊號・客訴結案 → Persona（客群輪廓）→ RAG 話術 → 人工核准 → 投遞 → KPI 回饋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" y="3310128"/>
            <a:ext cx="2569464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3346704"/>
            <a:ext cx="253288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觸發事件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CRM 命中 R1–R8（含 R5 待料）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客訴結案 → 第 7 天回訪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或風險分數升為高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752344" y="3374136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L4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264408" y="3310128"/>
            <a:ext cx="1645920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82696" y="3346704"/>
            <a:ext cx="1609344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判定 Persona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（客群輪廓）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四類之一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未分類 → 觀察名單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471416" y="3374136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L5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983480" y="3310128"/>
            <a:ext cx="1874519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01768" y="3346704"/>
            <a:ext cx="1837943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RAG 生成話術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檢索條款 → 生成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→ 第二輪事實查核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19088" y="3374136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L6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931152" y="3310128"/>
            <a:ext cx="1636776" cy="969264"/>
          </a:xfrm>
          <a:prstGeom prst="roundRect">
            <a:avLst>
              <a:gd name="adj" fmla="val 8000"/>
            </a:avLst>
          </a:prstGeom>
          <a:solidFill>
            <a:srgbClr val="F3C1BD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49440" y="3346704"/>
            <a:ext cx="160020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人工審核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Dashboard 5 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審核佇列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核准或改寫才投遞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641080" y="3310128"/>
            <a:ext cx="1472184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59367" y="3346704"/>
            <a:ext cx="143560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投遞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LINE・App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Email・專員電話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674351" y="3374136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L7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186415" y="3310128"/>
            <a:ext cx="1591056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204703" y="3346704"/>
            <a:ext cx="155448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KPI 回饋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點擊・預約・回廠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寫回 CRM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1338559" y="3374136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L7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3191256" y="3767328"/>
            <a:ext cx="73152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4910328" y="3767328"/>
            <a:ext cx="73152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6858000" y="3767328"/>
            <a:ext cx="73152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8567928" y="3767328"/>
            <a:ext cx="73152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113263" y="3767328"/>
            <a:ext cx="73152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621792" y="4425696"/>
            <a:ext cx="2569464" cy="8961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570"/>
                </a:solidFill>
                <a:latin typeface="Arial"/>
                <a:ea typeface="微軟正黑體"/>
                <a:cs typeface="Arial"/>
              </a:rPr>
              <a:t>客訴回訪不計頻率上限；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570"/>
                </a:solidFill>
                <a:latin typeface="Arial"/>
                <a:ea typeface="微軟正黑體"/>
                <a:cs typeface="Arial"/>
              </a:rPr>
              <a:t>觀察名單車主也回訪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264408" y="4425696"/>
            <a:ext cx="1645920" cy="896112"/>
          </a:xfrm>
          <a:prstGeom prst="rect">
            <a:avLst/>
          </a:prstGeom>
          <a:noFill/>
        </p:spPr>
        <p:txBody>
          <a:bodyPr wrap="square" lIns="36576" rIns="36576" tIns="18288" bIns="18288" anchor="b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C0392B"/>
                </a:solidFill>
                <a:latin typeface="Arial"/>
                <a:ea typeface="微軟正黑體"/>
                <a:cs typeface="Arial"/>
              </a:rPr>
              <a:t>回頭校正觸發門檻，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C0392B"/>
                </a:solidFill>
                <a:latin typeface="Arial"/>
                <a:ea typeface="微軟正黑體"/>
                <a:cs typeface="Arial"/>
              </a:rPr>
              <a:t>再訓練 r4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983480" y="4425696"/>
            <a:ext cx="1874519" cy="896112"/>
          </a:xfrm>
          <a:prstGeom prst="roundRect">
            <a:avLst>
              <a:gd name="adj" fmla="val 8000"/>
            </a:avLst>
          </a:prstGeom>
          <a:solidFill>
            <a:srgbClr val="F6EFE3"/>
          </a:solidFill>
          <a:ln w="15875">
            <a:solidFill>
              <a:srgbClr val="8A6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001768" y="4462272"/>
            <a:ext cx="1837943" cy="84124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資料庫 C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知識庫 76 條・保固條款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Dashboard 4 可查閱</a:t>
            </a:r>
          </a:p>
        </p:txBody>
      </p:sp>
      <p:cxnSp>
        <p:nvCxnSpPr>
          <p:cNvPr id="67" name="Connector 66"/>
          <p:cNvCxnSpPr/>
          <p:nvPr/>
        </p:nvCxnSpPr>
        <p:spPr>
          <a:xfrm flipV="1">
            <a:off x="5920740" y="4279392"/>
            <a:ext cx="0" cy="146304"/>
          </a:xfrm>
          <a:prstGeom prst="line">
            <a:avLst/>
          </a:prstGeom>
          <a:ln w="19050">
            <a:solidFill>
              <a:srgbClr val="8A6D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ounded Rectangle 67"/>
          <p:cNvSpPr/>
          <p:nvPr/>
        </p:nvSpPr>
        <p:spPr>
          <a:xfrm>
            <a:off x="6931152" y="4425696"/>
            <a:ext cx="1636776" cy="896112"/>
          </a:xfrm>
          <a:prstGeom prst="roundRect">
            <a:avLst>
              <a:gd name="adj" fmla="val 8000"/>
            </a:avLst>
          </a:prstGeom>
          <a:solidFill>
            <a:srgbClr val="F6EFE3"/>
          </a:solidFill>
          <a:ln w="15875">
            <a:solidFill>
              <a:srgbClr val="8A6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949440" y="4462272"/>
            <a:ext cx="1600200" cy="84124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資料庫 D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溝通佇列：草稿、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審核狀態、投遞結果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7749540" y="4279392"/>
            <a:ext cx="0" cy="146304"/>
          </a:xfrm>
          <a:prstGeom prst="line">
            <a:avLst/>
          </a:prstGeom>
          <a:ln w="19050">
            <a:solidFill>
              <a:srgbClr val="8A6D3B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8641080" y="4425696"/>
            <a:ext cx="2880360" cy="8961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資料庫與模型都在和泰內網，不出門；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論壇文字只作研究語料，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上線後輸入改為工單與客訴文字。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11649455" y="4279392"/>
            <a:ext cx="0" cy="1115568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H="1">
            <a:off x="512064" y="5394960"/>
            <a:ext cx="11137391" cy="0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512064" y="4005072"/>
            <a:ext cx="0" cy="1389888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512064" y="4005072"/>
            <a:ext cx="109728" cy="0"/>
          </a:xfrm>
          <a:prstGeom prst="line">
            <a:avLst/>
          </a:prstGeom>
          <a:ln w="19050">
            <a:solidFill>
              <a:srgbClr val="C039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ounded Rectangle 75"/>
          <p:cNvSpPr/>
          <p:nvPr/>
        </p:nvSpPr>
        <p:spPr>
          <a:xfrm>
            <a:off x="420624" y="5614416"/>
            <a:ext cx="1355598" cy="47548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57200" y="5641848"/>
            <a:ext cx="1300734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L0</a:t>
            </a: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三站已爬完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蒐集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849374" y="5614416"/>
            <a:ext cx="1355598" cy="47548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885950" y="5641848"/>
            <a:ext cx="1300734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L1</a:t>
            </a: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切句去重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前處理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3278124" y="5614416"/>
            <a:ext cx="1355598" cy="47548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314700" y="5641848"/>
            <a:ext cx="1300734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L2</a:t>
            </a: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標註入庫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標註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4706874" y="5614416"/>
            <a:ext cx="1355598" cy="47548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743450" y="5641848"/>
            <a:ext cx="1300734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L3</a:t>
            </a: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只出機率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決策模型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135624" y="5614416"/>
            <a:ext cx="1355598" cy="47548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172200" y="5641848"/>
            <a:ext cx="1300734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L4</a:t>
            </a: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規則辨識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風險辨識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564374" y="5614416"/>
            <a:ext cx="1355598" cy="47548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600950" y="5641848"/>
            <a:ext cx="1300734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L5</a:t>
            </a: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四種客群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客群輪廓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8993124" y="5614416"/>
            <a:ext cx="1355598" cy="47548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029700" y="5641848"/>
            <a:ext cx="1300734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L6</a:t>
            </a: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引用知識庫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RAG 生成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10421874" y="5614416"/>
            <a:ext cx="1355598" cy="47548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0458450" y="5641848"/>
            <a:ext cx="1300734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L7</a:t>
            </a: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核准才投遞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接觸點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420624" y="6144768"/>
            <a:ext cx="11356848" cy="27432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30352" y="6153912"/>
            <a:ext cx="11155680" cy="2560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先讀上帶產出 1（左到右），再讀下帶產出 2。外緣 L# 對下面八格。KPI 回頭校正門檻，再訓練 r4。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 解決方案設計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來源：風險與 Persona（客群輪廓）報告（T10）；圖 F5。未分類處置見 9/30 會議記錄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四種流失車主，過保精算派最多（511 人）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2770632" cy="157276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042416"/>
            <a:ext cx="2551176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過保精算派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511 人　39.9%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價格句 48%，走向一般外廠與自備料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「去外面換就好，原廠換很貴，外面四顆全換12000有找」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82696" y="987552"/>
            <a:ext cx="2770632" cy="157276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92424" y="1042416"/>
            <a:ext cx="2551176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品質失望派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247 人　19.3%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技術品質 43%，替代裡看得到換車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「原廠處理不好就去外場」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44768" y="987552"/>
            <a:ext cx="2770632" cy="157276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54496" y="1042416"/>
            <a:ext cx="2551176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口碑建議者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195 人　15.2%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立場「建議他人」占 61%，會把別人帶走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「電瓶、輪胎都不用在原廠換」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06840" y="987552"/>
            <a:ext cx="2770632" cy="157276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16568" y="1042416"/>
            <a:ext cx="2551176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靜默出走者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128 人　10.0%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沒有抱怨；替代有 55% 是一般外廠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「可以去外面民間保養廠」</a:t>
            </a:r>
          </a:p>
        </p:txBody>
      </p:sp>
      <p:sp>
        <p:nvSpPr>
          <p:cNvPr id="14" name="chart:F5:card"/>
          <p:cNvSpPr/>
          <p:nvPr/>
        </p:nvSpPr>
        <p:spPr>
          <a:xfrm>
            <a:off x="420624" y="2651760"/>
            <a:ext cx="11356848" cy="3145536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art:F5:title"/>
          <p:cNvSpPr txBox="1"/>
          <p:nvPr/>
        </p:nvSpPr>
        <p:spPr>
          <a:xfrm>
            <a:off x="548640" y="2724912"/>
            <a:ext cx="835761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過保精算派近半句子在談價格，品質失望派則集中在技術品質</a:t>
            </a:r>
          </a:p>
        </p:txBody>
      </p:sp>
      <p:sp>
        <p:nvSpPr>
          <p:cNvPr id="16" name="chart:F5:legend"/>
          <p:cNvSpPr txBox="1"/>
          <p:nvPr/>
        </p:nvSpPr>
        <p:spPr>
          <a:xfrm>
            <a:off x="8906256" y="2724912"/>
            <a:ext cx="274320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格內數字為面向出現比例（%）</a:t>
            </a:r>
          </a:p>
        </p:txBody>
      </p:sp>
      <p:sp>
        <p:nvSpPr>
          <p:cNvPr id="17" name="chart:F5:row"/>
          <p:cNvSpPr txBox="1"/>
          <p:nvPr/>
        </p:nvSpPr>
        <p:spPr>
          <a:xfrm>
            <a:off x="548640" y="3072384"/>
            <a:ext cx="1179576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過保精算派</a:t>
            </a:r>
          </a:p>
        </p:txBody>
      </p:sp>
      <p:sp>
        <p:nvSpPr>
          <p:cNvPr id="18" name="chart:F5:cell"/>
          <p:cNvSpPr/>
          <p:nvPr/>
        </p:nvSpPr>
        <p:spPr>
          <a:xfrm>
            <a:off x="1783080" y="3072384"/>
            <a:ext cx="1096264" cy="464515"/>
          </a:xfrm>
          <a:prstGeom prst="rect">
            <a:avLst/>
          </a:prstGeom>
          <a:solidFill>
            <a:srgbClr val="083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art:F5:cellv"/>
          <p:cNvSpPr txBox="1"/>
          <p:nvPr/>
        </p:nvSpPr>
        <p:spPr>
          <a:xfrm>
            <a:off x="1783080" y="3072384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48</a:t>
            </a:r>
          </a:p>
        </p:txBody>
      </p:sp>
      <p:sp>
        <p:nvSpPr>
          <p:cNvPr id="20" name="chart:F5:cell"/>
          <p:cNvSpPr/>
          <p:nvPr/>
        </p:nvSpPr>
        <p:spPr>
          <a:xfrm>
            <a:off x="2879344" y="3072384"/>
            <a:ext cx="1096264" cy="464515"/>
          </a:xfrm>
          <a:prstGeom prst="rect">
            <a:avLst/>
          </a:prstGeom>
          <a:solidFill>
            <a:srgbClr val="D1E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hart:F5:cellv"/>
          <p:cNvSpPr txBox="1"/>
          <p:nvPr/>
        </p:nvSpPr>
        <p:spPr>
          <a:xfrm>
            <a:off x="2879344" y="3072384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9</a:t>
            </a:r>
          </a:p>
        </p:txBody>
      </p:sp>
      <p:sp>
        <p:nvSpPr>
          <p:cNvPr id="22" name="chart:F5:cell"/>
          <p:cNvSpPr/>
          <p:nvPr/>
        </p:nvSpPr>
        <p:spPr>
          <a:xfrm>
            <a:off x="3975608" y="3072384"/>
            <a:ext cx="1096264" cy="464515"/>
          </a:xfrm>
          <a:prstGeom prst="rect">
            <a:avLst/>
          </a:prstGeom>
          <a:solidFill>
            <a:srgbClr val="EA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hart:F5:cellv"/>
          <p:cNvSpPr txBox="1"/>
          <p:nvPr/>
        </p:nvSpPr>
        <p:spPr>
          <a:xfrm>
            <a:off x="3975608" y="3072384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24" name="chart:F5:cell"/>
          <p:cNvSpPr/>
          <p:nvPr/>
        </p:nvSpPr>
        <p:spPr>
          <a:xfrm>
            <a:off x="5071872" y="3072384"/>
            <a:ext cx="1096264" cy="464515"/>
          </a:xfrm>
          <a:prstGeom prst="rect">
            <a:avLst/>
          </a:prstGeom>
          <a:solidFill>
            <a:srgbClr val="D8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hart:F5:cellv"/>
          <p:cNvSpPr txBox="1"/>
          <p:nvPr/>
        </p:nvSpPr>
        <p:spPr>
          <a:xfrm>
            <a:off x="5071872" y="3072384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8</a:t>
            </a:r>
          </a:p>
        </p:txBody>
      </p:sp>
      <p:sp>
        <p:nvSpPr>
          <p:cNvPr id="26" name="chart:F5:cell"/>
          <p:cNvSpPr/>
          <p:nvPr/>
        </p:nvSpPr>
        <p:spPr>
          <a:xfrm>
            <a:off x="6168136" y="3072384"/>
            <a:ext cx="1096264" cy="464515"/>
          </a:xfrm>
          <a:prstGeom prst="rect">
            <a:avLst/>
          </a:prstGeom>
          <a:solidFill>
            <a:srgbClr val="F4F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hart:F5:cellv"/>
          <p:cNvSpPr txBox="1"/>
          <p:nvPr/>
        </p:nvSpPr>
        <p:spPr>
          <a:xfrm>
            <a:off x="6168136" y="3072384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sp>
        <p:nvSpPr>
          <p:cNvPr id="28" name="chart:F5:cell"/>
          <p:cNvSpPr/>
          <p:nvPr/>
        </p:nvSpPr>
        <p:spPr>
          <a:xfrm>
            <a:off x="7264400" y="3072384"/>
            <a:ext cx="1096264" cy="464515"/>
          </a:xfrm>
          <a:prstGeom prst="rect">
            <a:avLst/>
          </a:prstGeom>
          <a:solidFill>
            <a:srgbClr val="DAE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hart:F5:cellv"/>
          <p:cNvSpPr txBox="1"/>
          <p:nvPr/>
        </p:nvSpPr>
        <p:spPr>
          <a:xfrm>
            <a:off x="7264400" y="3072384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</a:t>
            </a:r>
          </a:p>
        </p:txBody>
      </p:sp>
      <p:sp>
        <p:nvSpPr>
          <p:cNvPr id="30" name="chart:F5:cell"/>
          <p:cNvSpPr/>
          <p:nvPr/>
        </p:nvSpPr>
        <p:spPr>
          <a:xfrm>
            <a:off x="8360664" y="3072384"/>
            <a:ext cx="1096264" cy="464515"/>
          </a:xfrm>
          <a:prstGeom prst="rect">
            <a:avLst/>
          </a:prstGeom>
          <a:solidFill>
            <a:srgbClr val="E2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hart:F5:cellv"/>
          <p:cNvSpPr txBox="1"/>
          <p:nvPr/>
        </p:nvSpPr>
        <p:spPr>
          <a:xfrm>
            <a:off x="8360664" y="3072384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32" name="chart:F5:cell"/>
          <p:cNvSpPr/>
          <p:nvPr/>
        </p:nvSpPr>
        <p:spPr>
          <a:xfrm>
            <a:off x="9456928" y="3072384"/>
            <a:ext cx="1096264" cy="464515"/>
          </a:xfrm>
          <a:prstGeom prst="rect">
            <a:avLst/>
          </a:prstGeom>
          <a:solidFill>
            <a:srgbClr val="EE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hart:F5:cellv"/>
          <p:cNvSpPr txBox="1"/>
          <p:nvPr/>
        </p:nvSpPr>
        <p:spPr>
          <a:xfrm>
            <a:off x="9456928" y="3072384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34" name="chart:F5:cell"/>
          <p:cNvSpPr/>
          <p:nvPr/>
        </p:nvSpPr>
        <p:spPr>
          <a:xfrm>
            <a:off x="10553192" y="3072384"/>
            <a:ext cx="1096264" cy="464515"/>
          </a:xfrm>
          <a:prstGeom prst="rect">
            <a:avLst/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hart:F5:cellv"/>
          <p:cNvSpPr txBox="1"/>
          <p:nvPr/>
        </p:nvSpPr>
        <p:spPr>
          <a:xfrm>
            <a:off x="10553192" y="3072384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36" name="chart:F5:row"/>
          <p:cNvSpPr txBox="1"/>
          <p:nvPr/>
        </p:nvSpPr>
        <p:spPr>
          <a:xfrm>
            <a:off x="548640" y="3536899"/>
            <a:ext cx="1179576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品質失望派</a:t>
            </a:r>
          </a:p>
        </p:txBody>
      </p:sp>
      <p:sp>
        <p:nvSpPr>
          <p:cNvPr id="37" name="chart:F5:cell"/>
          <p:cNvSpPr/>
          <p:nvPr/>
        </p:nvSpPr>
        <p:spPr>
          <a:xfrm>
            <a:off x="1783080" y="3536899"/>
            <a:ext cx="1096264" cy="464515"/>
          </a:xfrm>
          <a:prstGeom prst="rect">
            <a:avLst/>
          </a:prstGeom>
          <a:solidFill>
            <a:srgbClr val="AFD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hart:F5:cellv"/>
          <p:cNvSpPr txBox="1"/>
          <p:nvPr/>
        </p:nvSpPr>
        <p:spPr>
          <a:xfrm>
            <a:off x="1783080" y="3536899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15</a:t>
            </a:r>
          </a:p>
        </p:txBody>
      </p:sp>
      <p:sp>
        <p:nvSpPr>
          <p:cNvPr id="39" name="chart:F5:cell"/>
          <p:cNvSpPr/>
          <p:nvPr/>
        </p:nvSpPr>
        <p:spPr>
          <a:xfrm>
            <a:off x="2879344" y="3536899"/>
            <a:ext cx="1096264" cy="464515"/>
          </a:xfrm>
          <a:prstGeom prst="rect">
            <a:avLst/>
          </a:prstGeom>
          <a:solidFill>
            <a:srgbClr val="E5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chart:F5:cellv"/>
          <p:cNvSpPr txBox="1"/>
          <p:nvPr/>
        </p:nvSpPr>
        <p:spPr>
          <a:xfrm>
            <a:off x="2879344" y="3536899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41" name="chart:F5:cell"/>
          <p:cNvSpPr/>
          <p:nvPr/>
        </p:nvSpPr>
        <p:spPr>
          <a:xfrm>
            <a:off x="3975608" y="3536899"/>
            <a:ext cx="1096264" cy="464515"/>
          </a:xfrm>
          <a:prstGeom prst="rect">
            <a:avLst/>
          </a:prstGeom>
          <a:solidFill>
            <a:srgbClr val="D7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hart:F5:cellv"/>
          <p:cNvSpPr txBox="1"/>
          <p:nvPr/>
        </p:nvSpPr>
        <p:spPr>
          <a:xfrm>
            <a:off x="3975608" y="3536899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8</a:t>
            </a:r>
          </a:p>
        </p:txBody>
      </p:sp>
      <p:sp>
        <p:nvSpPr>
          <p:cNvPr id="43" name="chart:F5:cell"/>
          <p:cNvSpPr/>
          <p:nvPr/>
        </p:nvSpPr>
        <p:spPr>
          <a:xfrm>
            <a:off x="5071872" y="3536899"/>
            <a:ext cx="1096264" cy="464515"/>
          </a:xfrm>
          <a:prstGeom prst="rect">
            <a:avLst/>
          </a:prstGeom>
          <a:solidFill>
            <a:srgbClr val="084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chart:F5:cellv"/>
          <p:cNvSpPr txBox="1"/>
          <p:nvPr/>
        </p:nvSpPr>
        <p:spPr>
          <a:xfrm>
            <a:off x="5071872" y="3536899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43</a:t>
            </a:r>
          </a:p>
        </p:txBody>
      </p:sp>
      <p:sp>
        <p:nvSpPr>
          <p:cNvPr id="45" name="chart:F5:cell"/>
          <p:cNvSpPr/>
          <p:nvPr/>
        </p:nvSpPr>
        <p:spPr>
          <a:xfrm>
            <a:off x="6168136" y="3536899"/>
            <a:ext cx="1096264" cy="464515"/>
          </a:xfrm>
          <a:prstGeom prst="rect">
            <a:avLst/>
          </a:prstGeom>
          <a:solidFill>
            <a:srgbClr val="F0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chart:F5:cellv"/>
          <p:cNvSpPr txBox="1"/>
          <p:nvPr/>
        </p:nvSpPr>
        <p:spPr>
          <a:xfrm>
            <a:off x="6168136" y="3536899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47" name="chart:F5:cell"/>
          <p:cNvSpPr/>
          <p:nvPr/>
        </p:nvSpPr>
        <p:spPr>
          <a:xfrm>
            <a:off x="7264400" y="3536899"/>
            <a:ext cx="1096264" cy="464515"/>
          </a:xfrm>
          <a:prstGeom prst="rect">
            <a:avLst/>
          </a:prstGeom>
          <a:solidFill>
            <a:srgbClr val="DBE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chart:F5:cellv"/>
          <p:cNvSpPr txBox="1"/>
          <p:nvPr/>
        </p:nvSpPr>
        <p:spPr>
          <a:xfrm>
            <a:off x="7264400" y="3536899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</a:t>
            </a:r>
          </a:p>
        </p:txBody>
      </p:sp>
      <p:sp>
        <p:nvSpPr>
          <p:cNvPr id="49" name="chart:F5:cell"/>
          <p:cNvSpPr/>
          <p:nvPr/>
        </p:nvSpPr>
        <p:spPr>
          <a:xfrm>
            <a:off x="8360664" y="3536899"/>
            <a:ext cx="1096264" cy="464515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chart:F5:cellv"/>
          <p:cNvSpPr txBox="1"/>
          <p:nvPr/>
        </p:nvSpPr>
        <p:spPr>
          <a:xfrm>
            <a:off x="8360664" y="3536899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51" name="chart:F5:cell"/>
          <p:cNvSpPr/>
          <p:nvPr/>
        </p:nvSpPr>
        <p:spPr>
          <a:xfrm>
            <a:off x="9456928" y="3536899"/>
            <a:ext cx="1096264" cy="464515"/>
          </a:xfrm>
          <a:prstGeom prst="rect">
            <a:avLst/>
          </a:prstGeom>
          <a:solidFill>
            <a:srgbClr val="EF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chart:F5:cellv"/>
          <p:cNvSpPr txBox="1"/>
          <p:nvPr/>
        </p:nvSpPr>
        <p:spPr>
          <a:xfrm>
            <a:off x="9456928" y="3536899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53" name="chart:F5:cell"/>
          <p:cNvSpPr/>
          <p:nvPr/>
        </p:nvSpPr>
        <p:spPr>
          <a:xfrm>
            <a:off x="10553192" y="3536899"/>
            <a:ext cx="1096264" cy="464515"/>
          </a:xfrm>
          <a:prstGeom prst="rect">
            <a:avLst/>
          </a:prstGeom>
          <a:solidFill>
            <a:srgbClr val="E9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chart:F5:cellv"/>
          <p:cNvSpPr txBox="1"/>
          <p:nvPr/>
        </p:nvSpPr>
        <p:spPr>
          <a:xfrm>
            <a:off x="10553192" y="3536899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55" name="chart:F5:row"/>
          <p:cNvSpPr txBox="1"/>
          <p:nvPr/>
        </p:nvSpPr>
        <p:spPr>
          <a:xfrm>
            <a:off x="548640" y="4001414"/>
            <a:ext cx="1179576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口碑建議者</a:t>
            </a:r>
          </a:p>
        </p:txBody>
      </p:sp>
      <p:sp>
        <p:nvSpPr>
          <p:cNvPr id="56" name="chart:F5:cell"/>
          <p:cNvSpPr/>
          <p:nvPr/>
        </p:nvSpPr>
        <p:spPr>
          <a:xfrm>
            <a:off x="1783080" y="4001414"/>
            <a:ext cx="1096264" cy="464515"/>
          </a:xfrm>
          <a:prstGeom prst="rect">
            <a:avLst/>
          </a:prstGeom>
          <a:solidFill>
            <a:srgbClr val="9B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chart:F5:cellv"/>
          <p:cNvSpPr txBox="1"/>
          <p:nvPr/>
        </p:nvSpPr>
        <p:spPr>
          <a:xfrm>
            <a:off x="1783080" y="4001414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18</a:t>
            </a:r>
          </a:p>
        </p:txBody>
      </p:sp>
      <p:sp>
        <p:nvSpPr>
          <p:cNvPr id="58" name="chart:F5:cell"/>
          <p:cNvSpPr/>
          <p:nvPr/>
        </p:nvSpPr>
        <p:spPr>
          <a:xfrm>
            <a:off x="2879344" y="4001414"/>
            <a:ext cx="1096264" cy="464515"/>
          </a:xfrm>
          <a:prstGeom prst="rect">
            <a:avLst/>
          </a:prstGeom>
          <a:solidFill>
            <a:srgbClr val="D6E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chart:F5:cellv"/>
          <p:cNvSpPr txBox="1"/>
          <p:nvPr/>
        </p:nvSpPr>
        <p:spPr>
          <a:xfrm>
            <a:off x="2879344" y="4001414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8</a:t>
            </a:r>
          </a:p>
        </p:txBody>
      </p:sp>
      <p:sp>
        <p:nvSpPr>
          <p:cNvPr id="60" name="chart:F5:cell"/>
          <p:cNvSpPr/>
          <p:nvPr/>
        </p:nvSpPr>
        <p:spPr>
          <a:xfrm>
            <a:off x="3975608" y="4001414"/>
            <a:ext cx="1096264" cy="464515"/>
          </a:xfrm>
          <a:prstGeom prst="rect">
            <a:avLst/>
          </a:prstGeom>
          <a:solidFill>
            <a:srgbClr val="E1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chart:F5:cellv"/>
          <p:cNvSpPr txBox="1"/>
          <p:nvPr/>
        </p:nvSpPr>
        <p:spPr>
          <a:xfrm>
            <a:off x="3975608" y="4001414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62" name="chart:F5:cell"/>
          <p:cNvSpPr/>
          <p:nvPr/>
        </p:nvSpPr>
        <p:spPr>
          <a:xfrm>
            <a:off x="5071872" y="4001414"/>
            <a:ext cx="1096264" cy="464515"/>
          </a:xfrm>
          <a:prstGeom prst="rect">
            <a:avLst/>
          </a:prstGeom>
          <a:solidFill>
            <a:srgbClr val="B8D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chart:F5:cellv"/>
          <p:cNvSpPr txBox="1"/>
          <p:nvPr/>
        </p:nvSpPr>
        <p:spPr>
          <a:xfrm>
            <a:off x="5071872" y="4001414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14</a:t>
            </a:r>
          </a:p>
        </p:txBody>
      </p:sp>
      <p:sp>
        <p:nvSpPr>
          <p:cNvPr id="64" name="chart:F5:cell"/>
          <p:cNvSpPr/>
          <p:nvPr/>
        </p:nvSpPr>
        <p:spPr>
          <a:xfrm>
            <a:off x="6168136" y="4001414"/>
            <a:ext cx="1096264" cy="464515"/>
          </a:xfrm>
          <a:prstGeom prst="rect">
            <a:avLst/>
          </a:prstGeom>
          <a:solidFill>
            <a:srgbClr val="ED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chart:F5:cellv"/>
          <p:cNvSpPr txBox="1"/>
          <p:nvPr/>
        </p:nvSpPr>
        <p:spPr>
          <a:xfrm>
            <a:off x="6168136" y="4001414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66" name="chart:F5:cell"/>
          <p:cNvSpPr/>
          <p:nvPr/>
        </p:nvSpPr>
        <p:spPr>
          <a:xfrm>
            <a:off x="7264400" y="4001414"/>
            <a:ext cx="1096264" cy="464515"/>
          </a:xfrm>
          <a:prstGeom prst="rect">
            <a:avLst/>
          </a:prstGeom>
          <a:solidFill>
            <a:srgbClr val="D2E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chart:F5:cellv"/>
          <p:cNvSpPr txBox="1"/>
          <p:nvPr/>
        </p:nvSpPr>
        <p:spPr>
          <a:xfrm>
            <a:off x="7264400" y="4001414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9</a:t>
            </a:r>
          </a:p>
        </p:txBody>
      </p:sp>
      <p:sp>
        <p:nvSpPr>
          <p:cNvPr id="68" name="chart:F5:cell"/>
          <p:cNvSpPr/>
          <p:nvPr/>
        </p:nvSpPr>
        <p:spPr>
          <a:xfrm>
            <a:off x="8360664" y="4001414"/>
            <a:ext cx="1096264" cy="464515"/>
          </a:xfrm>
          <a:prstGeom prst="rect">
            <a:avLst/>
          </a:prstGeom>
          <a:solidFill>
            <a:srgbClr val="DC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chart:F5:cellv"/>
          <p:cNvSpPr txBox="1"/>
          <p:nvPr/>
        </p:nvSpPr>
        <p:spPr>
          <a:xfrm>
            <a:off x="8360664" y="4001414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6</a:t>
            </a:r>
          </a:p>
        </p:txBody>
      </p:sp>
      <p:sp>
        <p:nvSpPr>
          <p:cNvPr id="70" name="chart:F5:cell"/>
          <p:cNvSpPr/>
          <p:nvPr/>
        </p:nvSpPr>
        <p:spPr>
          <a:xfrm>
            <a:off x="9456928" y="4001414"/>
            <a:ext cx="1096264" cy="464515"/>
          </a:xfrm>
          <a:prstGeom prst="rect">
            <a:avLst/>
          </a:prstGeom>
          <a:solidFill>
            <a:srgbClr val="F2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chart:F5:cellv"/>
          <p:cNvSpPr txBox="1"/>
          <p:nvPr/>
        </p:nvSpPr>
        <p:spPr>
          <a:xfrm>
            <a:off x="9456928" y="4001414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sp>
        <p:nvSpPr>
          <p:cNvPr id="72" name="chart:F5:cell"/>
          <p:cNvSpPr/>
          <p:nvPr/>
        </p:nvSpPr>
        <p:spPr>
          <a:xfrm>
            <a:off x="10553192" y="4001414"/>
            <a:ext cx="1096264" cy="464515"/>
          </a:xfrm>
          <a:prstGeom prst="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chart:F5:cellv"/>
          <p:cNvSpPr txBox="1"/>
          <p:nvPr/>
        </p:nvSpPr>
        <p:spPr>
          <a:xfrm>
            <a:off x="10553192" y="4001414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74" name="chart:F5:row"/>
          <p:cNvSpPr txBox="1"/>
          <p:nvPr/>
        </p:nvSpPr>
        <p:spPr>
          <a:xfrm>
            <a:off x="548640" y="4465929"/>
            <a:ext cx="1179576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靜默出走者</a:t>
            </a:r>
          </a:p>
        </p:txBody>
      </p:sp>
      <p:sp>
        <p:nvSpPr>
          <p:cNvPr id="75" name="chart:F5:cell"/>
          <p:cNvSpPr/>
          <p:nvPr/>
        </p:nvSpPr>
        <p:spPr>
          <a:xfrm>
            <a:off x="1783080" y="4465929"/>
            <a:ext cx="1096264" cy="464515"/>
          </a:xfrm>
          <a:prstGeom prst="rect">
            <a:avLst/>
          </a:prstGeom>
          <a:solidFill>
            <a:srgbClr val="B2D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chart:F5:cellv"/>
          <p:cNvSpPr txBox="1"/>
          <p:nvPr/>
        </p:nvSpPr>
        <p:spPr>
          <a:xfrm>
            <a:off x="1783080" y="4465929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15</a:t>
            </a:r>
          </a:p>
        </p:txBody>
      </p:sp>
      <p:sp>
        <p:nvSpPr>
          <p:cNvPr id="77" name="chart:F5:cell"/>
          <p:cNvSpPr/>
          <p:nvPr/>
        </p:nvSpPr>
        <p:spPr>
          <a:xfrm>
            <a:off x="2879344" y="4465929"/>
            <a:ext cx="1096264" cy="464515"/>
          </a:xfrm>
          <a:prstGeom prst="rect">
            <a:avLst/>
          </a:prstGeom>
          <a:solidFill>
            <a:srgbClr val="EC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chart:F5:cellv"/>
          <p:cNvSpPr txBox="1"/>
          <p:nvPr/>
        </p:nvSpPr>
        <p:spPr>
          <a:xfrm>
            <a:off x="2879344" y="4465929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79" name="chart:F5:cell"/>
          <p:cNvSpPr/>
          <p:nvPr/>
        </p:nvSpPr>
        <p:spPr>
          <a:xfrm>
            <a:off x="3975608" y="4465929"/>
            <a:ext cx="1096264" cy="464515"/>
          </a:xfrm>
          <a:prstGeom prst="rect">
            <a:avLst/>
          </a:prstGeom>
          <a:solidFill>
            <a:srgbClr val="ED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chart:F5:cellv"/>
          <p:cNvSpPr txBox="1"/>
          <p:nvPr/>
        </p:nvSpPr>
        <p:spPr>
          <a:xfrm>
            <a:off x="3975608" y="4465929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81" name="chart:F5:cell"/>
          <p:cNvSpPr/>
          <p:nvPr/>
        </p:nvSpPr>
        <p:spPr>
          <a:xfrm>
            <a:off x="5071872" y="4465929"/>
            <a:ext cx="1096264" cy="464515"/>
          </a:xfrm>
          <a:prstGeom prst="rect">
            <a:avLst/>
          </a:prstGeom>
          <a:solidFill>
            <a:srgbClr val="A0C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chart:F5:cellv"/>
          <p:cNvSpPr txBox="1"/>
          <p:nvPr/>
        </p:nvSpPr>
        <p:spPr>
          <a:xfrm>
            <a:off x="5071872" y="4465929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18</a:t>
            </a:r>
          </a:p>
        </p:txBody>
      </p:sp>
      <p:sp>
        <p:nvSpPr>
          <p:cNvPr id="83" name="chart:F5:cell"/>
          <p:cNvSpPr/>
          <p:nvPr/>
        </p:nvSpPr>
        <p:spPr>
          <a:xfrm>
            <a:off x="6168136" y="4465929"/>
            <a:ext cx="1096264" cy="464515"/>
          </a:xfrm>
          <a:prstGeom prst="rect">
            <a:avLst/>
          </a:prstGeom>
          <a:solidFill>
            <a:srgbClr val="F4F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chart:F5:cellv"/>
          <p:cNvSpPr txBox="1"/>
          <p:nvPr/>
        </p:nvSpPr>
        <p:spPr>
          <a:xfrm>
            <a:off x="6168136" y="4465929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sp>
        <p:nvSpPr>
          <p:cNvPr id="85" name="chart:F5:cell"/>
          <p:cNvSpPr/>
          <p:nvPr/>
        </p:nvSpPr>
        <p:spPr>
          <a:xfrm>
            <a:off x="7264400" y="4465929"/>
            <a:ext cx="1096264" cy="464515"/>
          </a:xfrm>
          <a:prstGeom prst="rect">
            <a:avLst/>
          </a:prstGeom>
          <a:solidFill>
            <a:srgbClr val="EA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chart:F5:cellv"/>
          <p:cNvSpPr txBox="1"/>
          <p:nvPr/>
        </p:nvSpPr>
        <p:spPr>
          <a:xfrm>
            <a:off x="7264400" y="4465929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87" name="chart:F5:cell"/>
          <p:cNvSpPr/>
          <p:nvPr/>
        </p:nvSpPr>
        <p:spPr>
          <a:xfrm>
            <a:off x="8360664" y="4465929"/>
            <a:ext cx="1096264" cy="464515"/>
          </a:xfrm>
          <a:prstGeom prst="rect">
            <a:avLst/>
          </a:prstGeom>
          <a:solidFill>
            <a:srgbClr val="EA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chart:F5:cellv"/>
          <p:cNvSpPr txBox="1"/>
          <p:nvPr/>
        </p:nvSpPr>
        <p:spPr>
          <a:xfrm>
            <a:off x="8360664" y="4465929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89" name="chart:F5:cell"/>
          <p:cNvSpPr/>
          <p:nvPr/>
        </p:nvSpPr>
        <p:spPr>
          <a:xfrm>
            <a:off x="9456928" y="4465929"/>
            <a:ext cx="1096264" cy="464515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chart:F5:cellv"/>
          <p:cNvSpPr txBox="1"/>
          <p:nvPr/>
        </p:nvSpPr>
        <p:spPr>
          <a:xfrm>
            <a:off x="9456928" y="4465929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91" name="chart:F5:cell"/>
          <p:cNvSpPr/>
          <p:nvPr/>
        </p:nvSpPr>
        <p:spPr>
          <a:xfrm>
            <a:off x="10553192" y="4465929"/>
            <a:ext cx="1096264" cy="464515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chart:F5:cellv"/>
          <p:cNvSpPr txBox="1"/>
          <p:nvPr/>
        </p:nvSpPr>
        <p:spPr>
          <a:xfrm>
            <a:off x="10553192" y="4465929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0</a:t>
            </a:r>
          </a:p>
        </p:txBody>
      </p:sp>
      <p:sp>
        <p:nvSpPr>
          <p:cNvPr id="93" name="chart:F5:row"/>
          <p:cNvSpPr txBox="1"/>
          <p:nvPr/>
        </p:nvSpPr>
        <p:spPr>
          <a:xfrm>
            <a:off x="548640" y="4930444"/>
            <a:ext cx="1179576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未分類</a:t>
            </a:r>
          </a:p>
        </p:txBody>
      </p:sp>
      <p:sp>
        <p:nvSpPr>
          <p:cNvPr id="94" name="chart:F5:cell"/>
          <p:cNvSpPr/>
          <p:nvPr/>
        </p:nvSpPr>
        <p:spPr>
          <a:xfrm>
            <a:off x="1783080" y="4930444"/>
            <a:ext cx="1096264" cy="464515"/>
          </a:xfrm>
          <a:prstGeom prst="rect">
            <a:avLst/>
          </a:prstGeom>
          <a:solidFill>
            <a:srgbClr val="CAD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chart:F5:cellv"/>
          <p:cNvSpPr txBox="1"/>
          <p:nvPr/>
        </p:nvSpPr>
        <p:spPr>
          <a:xfrm>
            <a:off x="1783080" y="4930444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11</a:t>
            </a:r>
          </a:p>
        </p:txBody>
      </p:sp>
      <p:sp>
        <p:nvSpPr>
          <p:cNvPr id="96" name="chart:F5:cell"/>
          <p:cNvSpPr/>
          <p:nvPr/>
        </p:nvSpPr>
        <p:spPr>
          <a:xfrm>
            <a:off x="2879344" y="4930444"/>
            <a:ext cx="1096264" cy="464515"/>
          </a:xfrm>
          <a:prstGeom prst="rect">
            <a:avLst/>
          </a:prstGeom>
          <a:solidFill>
            <a:srgbClr val="E4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chart:F5:cellv"/>
          <p:cNvSpPr txBox="1"/>
          <p:nvPr/>
        </p:nvSpPr>
        <p:spPr>
          <a:xfrm>
            <a:off x="2879344" y="4930444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98" name="chart:F5:cell"/>
          <p:cNvSpPr/>
          <p:nvPr/>
        </p:nvSpPr>
        <p:spPr>
          <a:xfrm>
            <a:off x="3975608" y="4930444"/>
            <a:ext cx="1096264" cy="464515"/>
          </a:xfrm>
          <a:prstGeom prst="rect">
            <a:avLst/>
          </a:prstGeom>
          <a:solidFill>
            <a:srgbClr val="DC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chart:F5:cellv"/>
          <p:cNvSpPr txBox="1"/>
          <p:nvPr/>
        </p:nvSpPr>
        <p:spPr>
          <a:xfrm>
            <a:off x="3975608" y="4930444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</a:t>
            </a:r>
          </a:p>
        </p:txBody>
      </p:sp>
      <p:sp>
        <p:nvSpPr>
          <p:cNvPr id="100" name="chart:F5:cell"/>
          <p:cNvSpPr/>
          <p:nvPr/>
        </p:nvSpPr>
        <p:spPr>
          <a:xfrm>
            <a:off x="5071872" y="4930444"/>
            <a:ext cx="1096264" cy="464515"/>
          </a:xfrm>
          <a:prstGeom prst="rect">
            <a:avLst/>
          </a:prstGeom>
          <a:solidFill>
            <a:srgbClr val="DAE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chart:F5:cellv"/>
          <p:cNvSpPr txBox="1"/>
          <p:nvPr/>
        </p:nvSpPr>
        <p:spPr>
          <a:xfrm>
            <a:off x="5071872" y="4930444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</a:t>
            </a:r>
          </a:p>
        </p:txBody>
      </p:sp>
      <p:sp>
        <p:nvSpPr>
          <p:cNvPr id="102" name="chart:F5:cell"/>
          <p:cNvSpPr/>
          <p:nvPr/>
        </p:nvSpPr>
        <p:spPr>
          <a:xfrm>
            <a:off x="6168136" y="4930444"/>
            <a:ext cx="1096264" cy="464515"/>
          </a:xfrm>
          <a:prstGeom prst="rect">
            <a:avLst/>
          </a:prstGeom>
          <a:solidFill>
            <a:srgbClr val="F4F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chart:F5:cellv"/>
          <p:cNvSpPr txBox="1"/>
          <p:nvPr/>
        </p:nvSpPr>
        <p:spPr>
          <a:xfrm>
            <a:off x="6168136" y="4930444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sp>
        <p:nvSpPr>
          <p:cNvPr id="104" name="chart:F5:cell"/>
          <p:cNvSpPr/>
          <p:nvPr/>
        </p:nvSpPr>
        <p:spPr>
          <a:xfrm>
            <a:off x="7264400" y="4930444"/>
            <a:ext cx="1096264" cy="464515"/>
          </a:xfrm>
          <a:prstGeom prst="rect">
            <a:avLst/>
          </a:prstGeom>
          <a:solidFill>
            <a:srgbClr val="B5D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chart:F5:cellv"/>
          <p:cNvSpPr txBox="1"/>
          <p:nvPr/>
        </p:nvSpPr>
        <p:spPr>
          <a:xfrm>
            <a:off x="7264400" y="4930444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15</a:t>
            </a:r>
          </a:p>
        </p:txBody>
      </p:sp>
      <p:sp>
        <p:nvSpPr>
          <p:cNvPr id="106" name="chart:F5:cell"/>
          <p:cNvSpPr/>
          <p:nvPr/>
        </p:nvSpPr>
        <p:spPr>
          <a:xfrm>
            <a:off x="8360664" y="4930444"/>
            <a:ext cx="1096264" cy="464515"/>
          </a:xfrm>
          <a:prstGeom prst="rect">
            <a:avLst/>
          </a:prstGeom>
          <a:solidFill>
            <a:srgbClr val="E4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chart:F5:cellv"/>
          <p:cNvSpPr txBox="1"/>
          <p:nvPr/>
        </p:nvSpPr>
        <p:spPr>
          <a:xfrm>
            <a:off x="8360664" y="4930444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108" name="chart:F5:cell"/>
          <p:cNvSpPr/>
          <p:nvPr/>
        </p:nvSpPr>
        <p:spPr>
          <a:xfrm>
            <a:off x="9456928" y="4930444"/>
            <a:ext cx="1096264" cy="464515"/>
          </a:xfrm>
          <a:prstGeom prst="rect">
            <a:avLst/>
          </a:prstGeom>
          <a:solidFill>
            <a:srgbClr val="E1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chart:F5:cellv"/>
          <p:cNvSpPr txBox="1"/>
          <p:nvPr/>
        </p:nvSpPr>
        <p:spPr>
          <a:xfrm>
            <a:off x="9456928" y="4930444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110" name="chart:F5:cell"/>
          <p:cNvSpPr/>
          <p:nvPr/>
        </p:nvSpPr>
        <p:spPr>
          <a:xfrm>
            <a:off x="10553192" y="4930444"/>
            <a:ext cx="1096264" cy="464515"/>
          </a:xfrm>
          <a:prstGeom prst="rect">
            <a:avLst/>
          </a:prstGeom>
          <a:solidFill>
            <a:srgbClr val="DD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chart:F5:cellv"/>
          <p:cNvSpPr txBox="1"/>
          <p:nvPr/>
        </p:nvSpPr>
        <p:spPr>
          <a:xfrm>
            <a:off x="10553192" y="4930444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6</a:t>
            </a:r>
          </a:p>
        </p:txBody>
      </p:sp>
      <p:sp>
        <p:nvSpPr>
          <p:cNvPr id="112" name="chart:F5:best"/>
          <p:cNvSpPr/>
          <p:nvPr/>
        </p:nvSpPr>
        <p:spPr>
          <a:xfrm>
            <a:off x="1783080" y="3072384"/>
            <a:ext cx="1096264" cy="464515"/>
          </a:xfrm>
          <a:prstGeom prst="rect">
            <a:avLst/>
          </a:prstGeom>
          <a:noFill/>
          <a:ln w="2857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chart:F5:col"/>
          <p:cNvSpPr txBox="1"/>
          <p:nvPr/>
        </p:nvSpPr>
        <p:spPr>
          <a:xfrm>
            <a:off x="1783080" y="5422392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價格</a:t>
            </a:r>
          </a:p>
        </p:txBody>
      </p:sp>
      <p:sp>
        <p:nvSpPr>
          <p:cNvPr id="114" name="chart:F5:col"/>
          <p:cNvSpPr txBox="1"/>
          <p:nvPr/>
        </p:nvSpPr>
        <p:spPr>
          <a:xfrm>
            <a:off x="2879344" y="5422392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報價透明</a:t>
            </a:r>
          </a:p>
        </p:txBody>
      </p:sp>
      <p:sp>
        <p:nvSpPr>
          <p:cNvPr id="115" name="chart:F5:col"/>
          <p:cNvSpPr txBox="1"/>
          <p:nvPr/>
        </p:nvSpPr>
        <p:spPr>
          <a:xfrm>
            <a:off x="3975608" y="5422392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態度</a:t>
            </a:r>
          </a:p>
        </p:txBody>
      </p:sp>
      <p:sp>
        <p:nvSpPr>
          <p:cNvPr id="116" name="chart:F5:col"/>
          <p:cNvSpPr txBox="1"/>
          <p:nvPr/>
        </p:nvSpPr>
        <p:spPr>
          <a:xfrm>
            <a:off x="5071872" y="5422392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技術品質</a:t>
            </a:r>
          </a:p>
        </p:txBody>
      </p:sp>
      <p:sp>
        <p:nvSpPr>
          <p:cNvPr id="117" name="chart:F5:col"/>
          <p:cNvSpPr txBox="1"/>
          <p:nvPr/>
        </p:nvSpPr>
        <p:spPr>
          <a:xfrm>
            <a:off x="6168136" y="5422392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等待預約</a:t>
            </a:r>
          </a:p>
        </p:txBody>
      </p:sp>
      <p:sp>
        <p:nvSpPr>
          <p:cNvPr id="118" name="chart:F5:col"/>
          <p:cNvSpPr txBox="1"/>
          <p:nvPr/>
        </p:nvSpPr>
        <p:spPr>
          <a:xfrm>
            <a:off x="7264400" y="5422392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保固延保</a:t>
            </a:r>
          </a:p>
        </p:txBody>
      </p:sp>
      <p:sp>
        <p:nvSpPr>
          <p:cNvPr id="119" name="chart:F5:col"/>
          <p:cNvSpPr txBox="1"/>
          <p:nvPr/>
        </p:nvSpPr>
        <p:spPr>
          <a:xfrm>
            <a:off x="8360664" y="5422392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零件供應</a:t>
            </a:r>
          </a:p>
        </p:txBody>
      </p:sp>
      <p:sp>
        <p:nvSpPr>
          <p:cNvPr id="120" name="chart:F5:col"/>
          <p:cNvSpPr txBox="1"/>
          <p:nvPr/>
        </p:nvSpPr>
        <p:spPr>
          <a:xfrm>
            <a:off x="9456928" y="5422392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便利設施</a:t>
            </a:r>
          </a:p>
        </p:txBody>
      </p:sp>
      <p:sp>
        <p:nvSpPr>
          <p:cNvPr id="121" name="chart:F5:col"/>
          <p:cNvSpPr txBox="1"/>
          <p:nvPr/>
        </p:nvSpPr>
        <p:spPr>
          <a:xfrm>
            <a:off x="10553192" y="5422392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銷售交車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420624" y="5888736"/>
            <a:ext cx="11356848" cy="53035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548640" y="5943599"/>
            <a:ext cx="11100816" cy="42062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分母：高、中風險 1,280 人。未分類 199 人列觀察名單，不投遞。Persona（客群輪廓）為規則定義，每項可回溯原句。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 解決方案設計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來源：風險與 Persona（客群輪廓）報告（T10）；圖 F7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高風險車主 74% 確有流失句，分級可信</a:t>
            </a:r>
          </a:p>
        </p:txBody>
      </p:sp>
      <p:sp>
        <p:nvSpPr>
          <p:cNvPr id="6" name="chart:F7:card"/>
          <p:cNvSpPr/>
          <p:nvPr/>
        </p:nvSpPr>
        <p:spPr>
          <a:xfrm>
            <a:off x="420624" y="987552"/>
            <a:ext cx="11356848" cy="20116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hart:F7:title"/>
          <p:cNvSpPr txBox="1"/>
          <p:nvPr/>
        </p:nvSpPr>
        <p:spPr>
          <a:xfrm>
            <a:off x="548640" y="1060704"/>
            <a:ext cx="1110081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過保精算派人數最多，平均風險也最高</a:t>
            </a:r>
          </a:p>
        </p:txBody>
      </p:sp>
      <p:sp>
        <p:nvSpPr>
          <p:cNvPr id="8" name="chart:F7a:ylabel"/>
          <p:cNvSpPr txBox="1"/>
          <p:nvPr/>
        </p:nvSpPr>
        <p:spPr>
          <a:xfrm>
            <a:off x="548640" y="1426464"/>
            <a:ext cx="310896" cy="1481328"/>
          </a:xfrm>
          <a:prstGeom prst="rect">
            <a:avLst/>
          </a:prstGeom>
          <a:noFill/>
        </p:spPr>
        <p:txBody>
          <a:bodyPr wrap="square" lIns="18288" rIns="18288" tIns="18288" bIns="18288" anchor="ctr" vert="vert270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發言者數</a:t>
            </a:r>
          </a:p>
        </p:txBody>
      </p:sp>
      <p:cxnSp>
        <p:nvCxnSpPr>
          <p:cNvPr id="9" name="chart-line"/>
          <p:cNvCxnSpPr/>
          <p:nvPr/>
        </p:nvCxnSpPr>
        <p:spPr>
          <a:xfrm>
            <a:off x="1298448" y="2596896"/>
            <a:ext cx="4498848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hart:F7a:tick"/>
          <p:cNvSpPr txBox="1"/>
          <p:nvPr/>
        </p:nvSpPr>
        <p:spPr>
          <a:xfrm>
            <a:off x="877824" y="2487168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0</a:t>
            </a:r>
          </a:p>
        </p:txBody>
      </p:sp>
      <p:cxnSp>
        <p:nvCxnSpPr>
          <p:cNvPr id="11" name="chart-line"/>
          <p:cNvCxnSpPr/>
          <p:nvPr/>
        </p:nvCxnSpPr>
        <p:spPr>
          <a:xfrm>
            <a:off x="1298448" y="1786586"/>
            <a:ext cx="4498848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art:F7a:tick"/>
          <p:cNvSpPr txBox="1"/>
          <p:nvPr/>
        </p:nvSpPr>
        <p:spPr>
          <a:xfrm>
            <a:off x="877824" y="1676858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500</a:t>
            </a:r>
          </a:p>
        </p:txBody>
      </p:sp>
      <p:cxnSp>
        <p:nvCxnSpPr>
          <p:cNvPr id="13" name="chart-line"/>
          <p:cNvCxnSpPr/>
          <p:nvPr/>
        </p:nvCxnSpPr>
        <p:spPr>
          <a:xfrm>
            <a:off x="1298448" y="2596896"/>
            <a:ext cx="4498848" cy="0"/>
          </a:xfrm>
          <a:prstGeom prst="line">
            <a:avLst/>
          </a:prstGeom>
          <a:ln w="12700">
            <a:solidFill>
              <a:srgbClr val="8A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hart:F7a:bar"/>
          <p:cNvSpPr/>
          <p:nvPr/>
        </p:nvSpPr>
        <p:spPr>
          <a:xfrm>
            <a:off x="1469404" y="1768760"/>
            <a:ext cx="557857" cy="828135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art:F7a:value"/>
          <p:cNvSpPr txBox="1"/>
          <p:nvPr/>
        </p:nvSpPr>
        <p:spPr>
          <a:xfrm>
            <a:off x="1544878" y="1448720"/>
            <a:ext cx="406908" cy="256032"/>
          </a:xfrm>
          <a:prstGeom prst="rect">
            <a:avLst/>
          </a:prstGeom>
          <a:solidFill>
            <a:srgbClr val="F4F7FB"/>
          </a:solidFill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511</a:t>
            </a:r>
          </a:p>
        </p:txBody>
      </p:sp>
      <p:sp>
        <p:nvSpPr>
          <p:cNvPr id="16" name="chart:F7a:cat"/>
          <p:cNvSpPr txBox="1"/>
          <p:nvPr/>
        </p:nvSpPr>
        <p:spPr>
          <a:xfrm>
            <a:off x="1307592" y="2624328"/>
            <a:ext cx="881481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過保精算派</a:t>
            </a:r>
          </a:p>
        </p:txBody>
      </p:sp>
      <p:sp>
        <p:nvSpPr>
          <p:cNvPr id="17" name="chart:F7a:bar"/>
          <p:cNvSpPr/>
          <p:nvPr/>
        </p:nvSpPr>
        <p:spPr>
          <a:xfrm>
            <a:off x="2369173" y="2196603"/>
            <a:ext cx="557857" cy="400292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art:F7a:value"/>
          <p:cNvSpPr txBox="1"/>
          <p:nvPr/>
        </p:nvSpPr>
        <p:spPr>
          <a:xfrm>
            <a:off x="2444648" y="1876563"/>
            <a:ext cx="406908" cy="256032"/>
          </a:xfrm>
          <a:prstGeom prst="rect">
            <a:avLst/>
          </a:prstGeom>
          <a:solidFill>
            <a:srgbClr val="F4F7FB"/>
          </a:solidFill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247</a:t>
            </a:r>
          </a:p>
        </p:txBody>
      </p:sp>
      <p:sp>
        <p:nvSpPr>
          <p:cNvPr id="19" name="chart:F7a:cat"/>
          <p:cNvSpPr txBox="1"/>
          <p:nvPr/>
        </p:nvSpPr>
        <p:spPr>
          <a:xfrm>
            <a:off x="2207361" y="2624328"/>
            <a:ext cx="881481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品質失望派</a:t>
            </a:r>
          </a:p>
        </p:txBody>
      </p:sp>
      <p:sp>
        <p:nvSpPr>
          <p:cNvPr id="20" name="chart:F7a:bar"/>
          <p:cNvSpPr/>
          <p:nvPr/>
        </p:nvSpPr>
        <p:spPr>
          <a:xfrm>
            <a:off x="3268943" y="2280875"/>
            <a:ext cx="557857" cy="316020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hart:F7a:value"/>
          <p:cNvSpPr txBox="1"/>
          <p:nvPr/>
        </p:nvSpPr>
        <p:spPr>
          <a:xfrm>
            <a:off x="3344418" y="1960835"/>
            <a:ext cx="406908" cy="256032"/>
          </a:xfrm>
          <a:prstGeom prst="rect">
            <a:avLst/>
          </a:prstGeom>
          <a:solidFill>
            <a:srgbClr val="F4F7FB"/>
          </a:solidFill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195</a:t>
            </a:r>
          </a:p>
        </p:txBody>
      </p:sp>
      <p:sp>
        <p:nvSpPr>
          <p:cNvPr id="22" name="chart:F7a:cat"/>
          <p:cNvSpPr txBox="1"/>
          <p:nvPr/>
        </p:nvSpPr>
        <p:spPr>
          <a:xfrm>
            <a:off x="3107131" y="2624328"/>
            <a:ext cx="881481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口碑建議者</a:t>
            </a:r>
          </a:p>
        </p:txBody>
      </p:sp>
      <p:sp>
        <p:nvSpPr>
          <p:cNvPr id="23" name="chart:F7a:bar"/>
          <p:cNvSpPr/>
          <p:nvPr/>
        </p:nvSpPr>
        <p:spPr>
          <a:xfrm>
            <a:off x="4168713" y="2389456"/>
            <a:ext cx="557857" cy="207439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hart:F7a:value"/>
          <p:cNvSpPr txBox="1"/>
          <p:nvPr/>
        </p:nvSpPr>
        <p:spPr>
          <a:xfrm>
            <a:off x="4244187" y="2069416"/>
            <a:ext cx="406908" cy="256032"/>
          </a:xfrm>
          <a:prstGeom prst="rect">
            <a:avLst/>
          </a:prstGeom>
          <a:solidFill>
            <a:srgbClr val="F4F7FB"/>
          </a:solidFill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128</a:t>
            </a:r>
          </a:p>
        </p:txBody>
      </p:sp>
      <p:sp>
        <p:nvSpPr>
          <p:cNvPr id="25" name="chart:F7a:cat"/>
          <p:cNvSpPr txBox="1"/>
          <p:nvPr/>
        </p:nvSpPr>
        <p:spPr>
          <a:xfrm>
            <a:off x="4006900" y="2624328"/>
            <a:ext cx="881481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靜默出走者</a:t>
            </a:r>
          </a:p>
        </p:txBody>
      </p:sp>
      <p:sp>
        <p:nvSpPr>
          <p:cNvPr id="26" name="chart:F7a:bar"/>
          <p:cNvSpPr/>
          <p:nvPr/>
        </p:nvSpPr>
        <p:spPr>
          <a:xfrm>
            <a:off x="5068482" y="2274392"/>
            <a:ext cx="557857" cy="322503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hart:F7a:value"/>
          <p:cNvSpPr txBox="1"/>
          <p:nvPr/>
        </p:nvSpPr>
        <p:spPr>
          <a:xfrm>
            <a:off x="5143957" y="1954352"/>
            <a:ext cx="406908" cy="256032"/>
          </a:xfrm>
          <a:prstGeom prst="rect">
            <a:avLst/>
          </a:prstGeom>
          <a:solidFill>
            <a:srgbClr val="F4F7FB"/>
          </a:solidFill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199</a:t>
            </a:r>
          </a:p>
        </p:txBody>
      </p:sp>
      <p:sp>
        <p:nvSpPr>
          <p:cNvPr id="28" name="chart:F7a:cat"/>
          <p:cNvSpPr txBox="1"/>
          <p:nvPr/>
        </p:nvSpPr>
        <p:spPr>
          <a:xfrm>
            <a:off x="4906670" y="2624328"/>
            <a:ext cx="881481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未分類</a:t>
            </a:r>
          </a:p>
        </p:txBody>
      </p:sp>
      <p:sp>
        <p:nvSpPr>
          <p:cNvPr id="29" name="chart:F7b:ylabel"/>
          <p:cNvSpPr txBox="1"/>
          <p:nvPr/>
        </p:nvSpPr>
        <p:spPr>
          <a:xfrm>
            <a:off x="6364223" y="1426464"/>
            <a:ext cx="310896" cy="1481328"/>
          </a:xfrm>
          <a:prstGeom prst="rect">
            <a:avLst/>
          </a:prstGeom>
          <a:noFill/>
        </p:spPr>
        <p:txBody>
          <a:bodyPr wrap="square" lIns="18288" rIns="18288" tIns="18288" bIns="18288" anchor="ctr" vert="vert270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平均風險分</a:t>
            </a:r>
          </a:p>
        </p:txBody>
      </p:sp>
      <p:cxnSp>
        <p:nvCxnSpPr>
          <p:cNvPr id="30" name="chart-line"/>
          <p:cNvCxnSpPr/>
          <p:nvPr/>
        </p:nvCxnSpPr>
        <p:spPr>
          <a:xfrm>
            <a:off x="7114031" y="2596896"/>
            <a:ext cx="4498849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hart:F7b:tick"/>
          <p:cNvSpPr txBox="1"/>
          <p:nvPr/>
        </p:nvSpPr>
        <p:spPr>
          <a:xfrm>
            <a:off x="6693407" y="2487168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0</a:t>
            </a:r>
          </a:p>
        </p:txBody>
      </p:sp>
      <p:cxnSp>
        <p:nvCxnSpPr>
          <p:cNvPr id="32" name="chart-line"/>
          <p:cNvCxnSpPr/>
          <p:nvPr/>
        </p:nvCxnSpPr>
        <p:spPr>
          <a:xfrm>
            <a:off x="7114031" y="2157984"/>
            <a:ext cx="4498849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chart:F7b:tick"/>
          <p:cNvSpPr txBox="1"/>
          <p:nvPr/>
        </p:nvSpPr>
        <p:spPr>
          <a:xfrm>
            <a:off x="6693407" y="2048256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0.5</a:t>
            </a:r>
          </a:p>
        </p:txBody>
      </p:sp>
      <p:cxnSp>
        <p:nvCxnSpPr>
          <p:cNvPr id="34" name="chart-line"/>
          <p:cNvCxnSpPr/>
          <p:nvPr/>
        </p:nvCxnSpPr>
        <p:spPr>
          <a:xfrm>
            <a:off x="7114031" y="1719072"/>
            <a:ext cx="4498849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hart:F7b:tick"/>
          <p:cNvSpPr txBox="1"/>
          <p:nvPr/>
        </p:nvSpPr>
        <p:spPr>
          <a:xfrm>
            <a:off x="6693407" y="1609344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cxnSp>
        <p:nvCxnSpPr>
          <p:cNvPr id="36" name="chart-line"/>
          <p:cNvCxnSpPr/>
          <p:nvPr/>
        </p:nvCxnSpPr>
        <p:spPr>
          <a:xfrm>
            <a:off x="7114031" y="2596896"/>
            <a:ext cx="4498849" cy="0"/>
          </a:xfrm>
          <a:prstGeom prst="line">
            <a:avLst/>
          </a:prstGeom>
          <a:ln w="12700">
            <a:solidFill>
              <a:srgbClr val="8A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hart:F7b:bar"/>
          <p:cNvSpPr/>
          <p:nvPr/>
        </p:nvSpPr>
        <p:spPr>
          <a:xfrm>
            <a:off x="7284988" y="1952275"/>
            <a:ext cx="557857" cy="6446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hart:F7b:value"/>
          <p:cNvSpPr txBox="1"/>
          <p:nvPr/>
        </p:nvSpPr>
        <p:spPr>
          <a:xfrm>
            <a:off x="7333030" y="1632235"/>
            <a:ext cx="461772" cy="256032"/>
          </a:xfrm>
          <a:prstGeom prst="rect">
            <a:avLst/>
          </a:prstGeom>
          <a:solidFill>
            <a:srgbClr val="F4F7FB"/>
          </a:solidFill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0.73</a:t>
            </a:r>
          </a:p>
        </p:txBody>
      </p:sp>
      <p:sp>
        <p:nvSpPr>
          <p:cNvPr id="39" name="chart:F7b:cat"/>
          <p:cNvSpPr txBox="1"/>
          <p:nvPr/>
        </p:nvSpPr>
        <p:spPr>
          <a:xfrm>
            <a:off x="7123175" y="2624328"/>
            <a:ext cx="881481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過保精算派</a:t>
            </a:r>
          </a:p>
        </p:txBody>
      </p:sp>
      <p:sp>
        <p:nvSpPr>
          <p:cNvPr id="40" name="chart:F7b:bar"/>
          <p:cNvSpPr/>
          <p:nvPr/>
        </p:nvSpPr>
        <p:spPr>
          <a:xfrm>
            <a:off x="8184757" y="2010765"/>
            <a:ext cx="557857" cy="586130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hart:F7b:value"/>
          <p:cNvSpPr txBox="1"/>
          <p:nvPr/>
        </p:nvSpPr>
        <p:spPr>
          <a:xfrm>
            <a:off x="8232800" y="1690725"/>
            <a:ext cx="461772" cy="256032"/>
          </a:xfrm>
          <a:prstGeom prst="rect">
            <a:avLst/>
          </a:prstGeom>
          <a:solidFill>
            <a:srgbClr val="F4F7FB"/>
          </a:solidFill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0.67</a:t>
            </a:r>
          </a:p>
        </p:txBody>
      </p:sp>
      <p:sp>
        <p:nvSpPr>
          <p:cNvPr id="42" name="chart:F7b:cat"/>
          <p:cNvSpPr txBox="1"/>
          <p:nvPr/>
        </p:nvSpPr>
        <p:spPr>
          <a:xfrm>
            <a:off x="8022945" y="2624328"/>
            <a:ext cx="881481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品質失望派</a:t>
            </a:r>
          </a:p>
        </p:txBody>
      </p:sp>
      <p:sp>
        <p:nvSpPr>
          <p:cNvPr id="43" name="chart:F7b:bar"/>
          <p:cNvSpPr/>
          <p:nvPr/>
        </p:nvSpPr>
        <p:spPr>
          <a:xfrm>
            <a:off x="9084527" y="1980427"/>
            <a:ext cx="557857" cy="616468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chart:F7b:value"/>
          <p:cNvSpPr txBox="1"/>
          <p:nvPr/>
        </p:nvSpPr>
        <p:spPr>
          <a:xfrm>
            <a:off x="9132570" y="1660387"/>
            <a:ext cx="461772" cy="256032"/>
          </a:xfrm>
          <a:prstGeom prst="rect">
            <a:avLst/>
          </a:prstGeom>
          <a:solidFill>
            <a:srgbClr val="F4F7FB"/>
          </a:solidFill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0.70</a:t>
            </a:r>
          </a:p>
        </p:txBody>
      </p:sp>
      <p:sp>
        <p:nvSpPr>
          <p:cNvPr id="45" name="chart:F7b:cat"/>
          <p:cNvSpPr txBox="1"/>
          <p:nvPr/>
        </p:nvSpPr>
        <p:spPr>
          <a:xfrm>
            <a:off x="8922715" y="2624328"/>
            <a:ext cx="881481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口碑建議者</a:t>
            </a:r>
          </a:p>
        </p:txBody>
      </p:sp>
      <p:sp>
        <p:nvSpPr>
          <p:cNvPr id="46" name="chart:F7b:bar"/>
          <p:cNvSpPr/>
          <p:nvPr/>
        </p:nvSpPr>
        <p:spPr>
          <a:xfrm>
            <a:off x="9984297" y="1988761"/>
            <a:ext cx="557857" cy="608134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chart:F7b:value"/>
          <p:cNvSpPr txBox="1"/>
          <p:nvPr/>
        </p:nvSpPr>
        <p:spPr>
          <a:xfrm>
            <a:off x="10032339" y="1668721"/>
            <a:ext cx="461772" cy="256032"/>
          </a:xfrm>
          <a:prstGeom prst="rect">
            <a:avLst/>
          </a:prstGeom>
          <a:solidFill>
            <a:srgbClr val="F4F7FB"/>
          </a:solidFill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0.69</a:t>
            </a:r>
          </a:p>
        </p:txBody>
      </p:sp>
      <p:sp>
        <p:nvSpPr>
          <p:cNvPr id="48" name="chart:F7b:cat"/>
          <p:cNvSpPr txBox="1"/>
          <p:nvPr/>
        </p:nvSpPr>
        <p:spPr>
          <a:xfrm>
            <a:off x="9822484" y="2624328"/>
            <a:ext cx="881481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靜默出走者</a:t>
            </a:r>
          </a:p>
        </p:txBody>
      </p:sp>
      <p:sp>
        <p:nvSpPr>
          <p:cNvPr id="49" name="chart:F7b:bar"/>
          <p:cNvSpPr/>
          <p:nvPr/>
        </p:nvSpPr>
        <p:spPr>
          <a:xfrm>
            <a:off x="10884066" y="2113653"/>
            <a:ext cx="557857" cy="483242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chart:F7b:value"/>
          <p:cNvSpPr txBox="1"/>
          <p:nvPr/>
        </p:nvSpPr>
        <p:spPr>
          <a:xfrm>
            <a:off x="10932109" y="1793613"/>
            <a:ext cx="461772" cy="256032"/>
          </a:xfrm>
          <a:prstGeom prst="rect">
            <a:avLst/>
          </a:prstGeom>
          <a:solidFill>
            <a:srgbClr val="F4F7FB"/>
          </a:solidFill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0.55</a:t>
            </a:r>
          </a:p>
        </p:txBody>
      </p:sp>
      <p:sp>
        <p:nvSpPr>
          <p:cNvPr id="51" name="chart:F7b:cat"/>
          <p:cNvSpPr txBox="1"/>
          <p:nvPr/>
        </p:nvSpPr>
        <p:spPr>
          <a:xfrm>
            <a:off x="10722254" y="2624328"/>
            <a:ext cx="881481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未分類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20624" y="3072384"/>
            <a:ext cx="11356848" cy="45720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8640" y="3127248"/>
            <a:ext cx="1110081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 1,049／中 231／低 5,114。高風險 74% 有流失句，低風險 1.8%。過保精算派 511 人，平均風險 0.73。</a:t>
            </a:r>
          </a:p>
        </p:txBody>
      </p:sp>
      <p:graphicFrame>
        <p:nvGraphicFramePr>
          <p:cNvPr id="54" name="Table 53"/>
          <p:cNvGraphicFramePr>
            <a:graphicFrameLocks noGrp="1"/>
          </p:cNvGraphicFramePr>
          <p:nvPr/>
        </p:nvGraphicFramePr>
        <p:xfrm>
          <a:off x="420624" y="3602736"/>
          <a:ext cx="11356847" cy="2523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011680"/>
                <a:gridCol w="8339327"/>
              </a:tblGrid>
              <a:tr h="3108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規則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輿情訊號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CRM 欄位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27660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R1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過保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保固到期日、延保狀態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27660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R2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價格負面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工單估價與實收、拒絕估價項目、滿意度價格題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27660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R3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找出口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回廠間隔、預約取消、App 查據點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27660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R4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自理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自備零件或機油註記、換油套餐、工單金額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27660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R5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零件等料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待料天數、改期次數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27660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R6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品質失望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同項目重複進廠、技術客訴、召回未完成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27660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R7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已離開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無工單、過戶或退出會員、App 未開啟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27660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R8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帶人走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NPS、客訴紀錄、推薦計畫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55" name="TextBox 54"/>
          <p:cNvSpPr txBox="1"/>
          <p:nvPr/>
        </p:nvSpPr>
        <p:spPr>
          <a:xfrm>
            <a:off x="420624" y="6163055"/>
            <a:ext cx="11356848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CRM 欄位為業界通用假設，導入時以和泰 DMS 實際欄位替換；模型輸入由論壇文字改為工單備註與客訴文字，架構不變。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 AI 應用方法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來源：專案架構、Dcard 複核報告（T1）、其他精煉報告（T2）、殘餘切分報告（T3）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兩段式標註：先寬抓、再複核，一致率 98.4%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6766560" cy="1450847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42416"/>
            <a:ext cx="6510528" cy="134111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57%</a:t>
            </a:r>
            <a:r>
              <a:rPr sz="20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 Haiku 初篩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單獨召回約 57%。先把可能流失的句子留住，不能只靠這一段初篩。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2529840"/>
            <a:ext cx="6766560" cy="1450847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584704"/>
            <a:ext cx="6510528" cy="134111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3,760</a:t>
            </a:r>
            <a:r>
              <a:rPr sz="20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 帶上下文複核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重疊 3,760 句。Mobile01、PTT 用 Sonnet，Dcard 用 GPT 再看一次。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4072128"/>
            <a:ext cx="6766560" cy="1450847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126991"/>
            <a:ext cx="6510528" cy="134111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98.4%</a:t>
            </a:r>
            <a:r>
              <a:rPr sz="20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 對得起來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c≥2 一致率 98.4%。九面向標完，殘餘僅 4 句，不再另開面向。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96912" y="987552"/>
            <a:ext cx="4480559" cy="2212847"/>
          </a:xfrm>
          <a:prstGeom prst="roundRect">
            <a:avLst>
              <a:gd name="adj" fmla="val 8000"/>
            </a:avLst>
          </a:prstGeom>
          <a:solidFill>
            <a:srgbClr val="FD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1042416"/>
            <a:ext cx="4261103" cy="210311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F1  0.82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本機模型，與 Sonnet 同級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人工金標 300 句。正例僅 9 句，召回區間 0.45–0.94。0.82 還不是穩定成績。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96912" y="3310127"/>
            <a:ext cx="4480559" cy="2212847"/>
          </a:xfrm>
          <a:prstGeom prst="roundRect">
            <a:avLst>
              <a:gd name="adj" fmla="val 8000"/>
            </a:avLst>
          </a:prstGeom>
          <a:solidFill>
            <a:srgbClr val="FD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3364991"/>
            <a:ext cx="4261103" cy="210311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400" b="1" i="0" lang="zh-TW">
                <a:solidFill>
                  <a:srgbClr val="C05600"/>
                </a:solidFill>
                <a:latin typeface="Arial"/>
                <a:ea typeface="微軟正黑體"/>
                <a:cs typeface="Arial"/>
              </a:rPr>
              <a:t>F1  0.50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Haiku 零樣本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同一批人工金標。召回約 57% 不夠，所以才要兩段式，不能只靠初篩。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" y="5632703"/>
            <a:ext cx="11356848" cy="78638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5687567"/>
            <a:ext cx="11100816" cy="6766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九面向全量標完，殘餘僅 4 句。Haiku 單獨召回約 57%，所以第二段才複核。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正例僅 9 句，召回區間 0.45–0.94。本機 F1 0.82 還不是穩定成績。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 AI 應用方法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來源：本機模型報告（T8）；校準曲線見附錄 A2b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本機小模型勝過雲端 Haiku，零 API 費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0624" y="987552"/>
          <a:ext cx="5623560" cy="1042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914400"/>
                <a:gridCol w="914400"/>
                <a:gridCol w="914400"/>
                <a:gridCol w="914400"/>
              </a:tblGrid>
              <a:tr h="329184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/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P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R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F1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κ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35661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Haiku 零樣本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0.60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0.55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0.58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0.53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35661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r4　4B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0.62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0.77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0.685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0.64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20624" y="2121408"/>
            <a:ext cx="5623560" cy="5669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76272"/>
            <a:ext cx="5367528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同一 600 句測試集比較。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校準曲線見附錄 A2b。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4" y="987552"/>
            <a:ext cx="5504688" cy="1700784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042416"/>
            <a:ext cx="5248655" cy="11338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Prefill-only：只輸出各等級機率，不生成文字。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8 GB 顯卡可訓（約 5 小時）、可推（每句 0.7 秒）。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資料不出門，推論零 API 費。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同一 600 句：r4 F1 0.685，高於 Haiku 的 0.58。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231136"/>
            <a:ext cx="960120" cy="38404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267712"/>
            <a:ext cx="96012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輸入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2231136"/>
            <a:ext cx="256032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16952" y="2231136"/>
            <a:ext cx="1874519" cy="38404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16952" y="2267712"/>
            <a:ext cx="1874519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只取下一詞機率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91472" y="2231136"/>
            <a:ext cx="256032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47503" y="2231136"/>
            <a:ext cx="1417320" cy="38404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47503" y="2267712"/>
            <a:ext cx="141732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各等級機率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4" y="2798064"/>
            <a:ext cx="2198217" cy="2432303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" y="2852928"/>
            <a:ext cx="2015337" cy="232257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 ETL＋弱監督標註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篩出 21,183 句售後語料。先用 Haiku 寬鬆標，再用 Sonnet 或 GPT 帶上下文複核。c≥2 一致率 98.4%，殘餘僅 4 句。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10281" y="2798064"/>
            <a:ext cx="2198217" cy="2432303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01721" y="2852928"/>
            <a:ext cx="2015337" cy="232257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 資料切分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（防洩漏）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GroupSplit 整篇排除測試 600 句。驗證 1,096 句，訓練池 9,431 句。同篇句子不進訓練，避免把成績高估。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99939" y="2798064"/>
            <a:ext cx="2198217" cy="2432303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91379" y="2852928"/>
            <a:ext cx="2015337" cy="232257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3 任務轉換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流失四級拆成四個是非題。Prefill-only 只取下一詞在候選上的機率，不生成文字。每句約 0.7 秒，8 GB 顯卡可推，資料不出門。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89596" y="2798064"/>
            <a:ext cx="2198217" cy="2432303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81036" y="2852928"/>
            <a:ext cx="2015337" cy="232257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4 監督式微調 SFT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Qwen3-4B，QLoRA r=16。流失句過採樣到四成。2 epoch，8 GB 顯卡約 5 小時。只訓低秩參數，推論零 API 費。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79254" y="2798064"/>
            <a:ext cx="2198217" cy="2432303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70694" y="2852928"/>
            <a:ext cx="2015337" cy="232257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5 評估與校準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金標 300 句：F1 0.82、κ 0.81。另看精確率、召回與五段校準。最高信心桶 n=71、實際約 68%。曲線見附錄 A2b。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0624" y="5321807"/>
            <a:ext cx="11356848" cy="109728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376671"/>
            <a:ext cx="11100816" cy="9875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架構沿用開源 LLM2Jev。8 GB 可訓可推，推論零 API 費。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最高信心桶 n=71、實際約 68%（約七成），見附錄 A2b。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同一 600 句測試集：r4 F1 0.685，高於 Haiku 零樣本的 F1 0.58。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5 獨特優勢與差異化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來源：風險與 Persona（客群輪廓）報告（T10）、本機模型報告（T8）、專案架構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看得見沒抱怨就走的人，分數說得出原因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5614416" cy="120700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42416"/>
            <a:ext cx="5358383" cy="10972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128 人</a:t>
            </a: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 靜默出走者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規則看替代去向，不靠客訴關鍵字。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這 128 人裡，替代有 55% 是一般外廠。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5" y="987552"/>
            <a:ext cx="5614416" cy="120700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91071" y="1042416"/>
            <a:ext cx="5358383" cy="10972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74%</a:t>
            </a: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 分數說得出原因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風險＝模型機率 ×0.6＋命中規則／8 ×0.4。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高風險 74% 真有流失句，低風險只有 1.8%。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2286000"/>
            <a:ext cx="5614416" cy="120700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340864"/>
            <a:ext cx="5358383" cy="10972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0 元</a:t>
            </a: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 本機就能跑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Qwen3-4B，8 GB 約 5 小時，每句 0.7 秒。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測試集 F1 0.685。CRM 文字不上雲。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3055" y="2286000"/>
            <a:ext cx="5614416" cy="120700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91071" y="2340864"/>
            <a:ext cx="5358383" cy="10972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0.080</a:t>
            </a: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 只有一組被資料分開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k=4 的 ARI 0.08，四個假設沒有全被拆開。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簡報仍用可回溯原句的規則，不假裝分群已分開。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20624" y="3602736"/>
          <a:ext cx="11356848" cy="2816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3017520"/>
                <a:gridCol w="6784848"/>
              </a:tblGrid>
              <a:tr h="365760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/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只看客訴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本案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612647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沒抱怨就走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看不到這群人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靜默出走者 128 人，替代 55% 到一般外廠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612647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分數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沒有原因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機率 6 成＋規則 4 成；高 74%、低 1.8%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612647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在哪裡算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資料得出門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8 GB 本機，每句 0.7 秒，F1 0.685，API 費 0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612647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四個客群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主觀標籤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ARI 0.08；只有靜默出走者被資料獨立支持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 預期效益與落地評估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來源：話術範例、生成與查核報告（T14）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對的人、對的時機開口；12 則話術全數查核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0624" y="987552"/>
          <a:ext cx="11356847" cy="4571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1952"/>
                <a:gridCol w="3151662"/>
                <a:gridCol w="3151662"/>
                <a:gridCol w="3151571"/>
              </a:tblGrid>
              <a:tr h="384048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Persona（客群輪廓）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保固到期前 60 天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回廠間隔拉長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刪項後首次回廠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1046987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過保精算派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Email</a:t>
                      </a:r>
                    </a:p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您好，提醒您，愛車保固即將屆滿。新車基本保證為自交車日起4年或120,000公里…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LINE 官方帳號推播</a:t>
                      </a:r>
                    </a:p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您好，提醒您留意愛車保養週期：一般使用建議每六個月回廠；若半年超過一萬公里，則建…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服務廠專員電話腳本</a:t>
                      </a:r>
                    </a:p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您好，我是服務廠專員。想提醒您，上次未同意的估價項目仍由您決定是否處理。若自費更…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1046987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品質失望派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服務廠專員電話腳本</a:t>
                      </a:r>
                    </a:p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您好，您的保固即將屆滿，目前保證窗口仍在，可先核對新車基本保證；期限為交車日起4…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App 通知</a:t>
                      </a:r>
                    </a:p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您好，提醒您，Lexus提供全年免費的尊榮安檢。一般使用建議每六個月回廠保養及檢…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服務廠專員電話腳本</a:t>
                      </a:r>
                    </a:p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您好，上次未處理的項目是否進行，仍由您決定；若想再確認車況，可預約回廠安排全年免…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1046987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口碑建議者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LINE 官方帳號推播</a:t>
                      </a:r>
                    </a:p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您好，提醒您，愛車保固即將屆滿。新車基本保證為自交車日起4年或120,000公里…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Email</a:t>
                      </a:r>
                    </a:p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您好，提醒您可依使用頻率安排愛車保養：一般使用建議每六個月回廠；若半年超過一萬公…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App 通知</a:t>
                      </a:r>
                    </a:p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您好，官方資訊可轉述給車友：自費於Lexus服務廠更換的正廠零件（消耗性零件除外…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1046987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靜默出走者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App 通知</a:t>
                      </a:r>
                    </a:p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您好，提醒您，愛車保固即將屆滿。新車基本保證為自交車日起4年或行駛120,000…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LINE 官方帳號推播</a:t>
                      </a:r>
                    </a:p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您好，提醒您，可依愛車使用情況安排回廠：一般使用建議每半年實施定期保養；若半年超…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Email</a:t>
                      </a:r>
                    </a:p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您好，若您想回廠，自費更換的正廠零件（消耗性零件除外），保證自更換日起2年或行駛…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20624" y="5669279"/>
            <a:ext cx="11356848" cy="74980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724143"/>
            <a:ext cx="11100816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12 則對 76 條官方條款查核通過。人工核准才投遞。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十二則只列前 40 字。待料全文見附錄 A3，客訴回訪見附錄 A5。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 預期效益與落地評估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來源：iPAS 骨架頁、9/30 會議記錄、iPAS 導入對照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人工篩選工時省九成以上；五項風險都有對策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4892040" cy="73413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42416"/>
            <a:ext cx="4636007" cy="62440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需求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人走了才知道。過保、刪項、間隔拉長時先找到人。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1794836"/>
            <a:ext cx="4892040" cy="992071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49700"/>
            <a:ext cx="4636007" cy="88234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技術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判斷、分群、生成都有原型。8 條規則已對到 DMS 欄位。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2860059"/>
            <a:ext cx="4892040" cy="1349216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914923"/>
            <a:ext cx="4636007" cy="1239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財務：人力成本節省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人工逐句篩 2.1 萬句約需 106 人時（估）。本機模型 4.1 小時跑完，零 API 費。人力改花在審名單與話術。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" y="4282428"/>
            <a:ext cx="4892040" cy="714291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337292"/>
            <a:ext cx="4636007" cy="60456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風險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五項主要風險，對策與責任人見右表。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" y="5069871"/>
            <a:ext cx="4892040" cy="1349216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124735"/>
            <a:ext cx="4636007" cy="1239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怎麼讀右表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技術：寫錯條款只引用 76 條並人工審；模糊句多報就當初篩。資料註明論壇母體，上線改 CRM。法規只用去識別版。客群寫成可回溯原句的規則。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440679" y="987552"/>
          <a:ext cx="6336792" cy="54315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3232"/>
                <a:gridCol w="2057400"/>
                <a:gridCol w="2761488"/>
                <a:gridCol w="804672"/>
              </a:tblGrid>
              <a:tr h="384048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層別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風險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對策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責任人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1009497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技術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生成內容寫錯價格或保固條款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只引用 76 條知識庫、數字逐字比對、人工審核必經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A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1009497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技術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模型在模糊句多報（困難層 F1 ≤ 0.51，精確率 0.34）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定位成「初篩＋人工複核」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A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1009497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資料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論壇代表性（正例 67% 來自 Mobile01，母體是論壇發言者）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分析頁註明母體與來源構成；上線改用 CRM 資料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B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1009497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法規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個資與再識別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去識別流程，簡報與 Demo 只用去識別版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A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1009497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組織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Persona（客群輪廓）被質疑主觀（ARI 0.08）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寫成「規則定義、每項可回溯原句」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B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 預期效益與落地評估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來源：iPAS 骨架頁、9/30 會議記錄；模型現況見人工評估（T9）與本機模型報告（T8）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24 週導入，目標高風險回廠率 +10 個百分點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11356848" cy="2743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42416"/>
            <a:ext cx="11100816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層級對照 iPAS：成果＝業務、流程＝應用、模型＝系統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20624" y="1335024"/>
          <a:ext cx="1135684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3017520"/>
                <a:gridCol w="3566160"/>
                <a:gridCol w="3858768"/>
              </a:tblGrid>
              <a:tr h="3108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層級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指標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現況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目標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26517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成果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高風險車主 12 個月回廠率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導入後建立基期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提升 10 個百分點＊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26517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流程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高風險名單更新頻率；話術人工核准率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名單一次性產出；12 則主表＋4 則附錄已查核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每月更新；核准率 ≥ 80%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26517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流程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高風險名單人工篩選工時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人工約 106 人時 → 模型 4.1 小時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−90% 以上（估）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26517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模型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隨機層 F1、κ；每句判斷時間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F1 0.82、κ 0.81；0.7 秒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F1 ≥ 0.8、κ ≥ 0.6，每季 300 句人工金標重驗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20624" y="2761488"/>
            <a:ext cx="11356848" cy="2743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816352"/>
            <a:ext cx="11100816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＊假設值，導入後以基期實測校正。模型現況用隨機層人工金標，與目標同一把尺。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3127248"/>
            <a:ext cx="11356848" cy="1225296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182112"/>
            <a:ext cx="11100816" cy="11155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數據護城河：三項資產，全部留在和泰內網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語料：2.1 萬句標註＋300 句人工金標。每季重標，審核回饋持續再訓練。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模型：自有 4B 模型，8 GB 顯卡 5 小時可重訓。推論零 API 費，資料不出門。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知識庫：76 條官方條款＋每則話術查核紀錄。價格與保固只引用這 76 條。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4443983"/>
            <a:ext cx="2183587" cy="1591056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30352" y="4553712"/>
            <a:ext cx="329184" cy="32918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535423"/>
            <a:ext cx="1580083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資料接入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4956048"/>
            <a:ext cx="1982419" cy="10241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 週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R1–R8 換成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DMS 實際欄位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工單去識別後接入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13939" y="4443983"/>
            <a:ext cx="2183587" cy="1591056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823667" y="4553712"/>
            <a:ext cx="329184" cy="32918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26003" y="4535423"/>
            <a:ext cx="1580083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模型校準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23667" y="4956048"/>
            <a:ext cx="1982419" cy="10241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 週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重標 300 句金標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重驗 r4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再調觸發門檻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07254" y="4443983"/>
            <a:ext cx="2183587" cy="1591056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116982" y="4553712"/>
            <a:ext cx="329184" cy="32918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9318" y="4535423"/>
            <a:ext cx="1580083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單一據點試行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16982" y="4956048"/>
            <a:ext cx="1982419" cy="10241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8 週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一個服務廠跑完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專員審核後投遞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未核准不發出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00569" y="4443983"/>
            <a:ext cx="2183587" cy="1591056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410297" y="4553712"/>
            <a:ext cx="329184" cy="32918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2633" y="4535423"/>
            <a:ext cx="1580083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擴大至全台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10297" y="4956048"/>
            <a:ext cx="1982419" cy="10241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8 週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依試行調話術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與渠道分批上線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不一次開全台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93884" y="4443983"/>
            <a:ext cx="2183587" cy="1591056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703612" y="4553712"/>
            <a:ext cx="329184" cy="32918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05948" y="4535423"/>
            <a:ext cx="1580083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持續監控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03612" y="4956048"/>
            <a:ext cx="1982419" cy="10241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不設終點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日監控、週收樣本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月重評客群輪廓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季重驗模型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0624" y="6126479"/>
            <a:ext cx="11356848" cy="29260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6181343"/>
            <a:ext cx="11100816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合計約 24 週（持續監控不設終點）。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A0 補充資料（不計入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來源：L7 運作流程；圖 F8。線框為示意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每則話術都經人工核准；決賽提供可操作版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11356848" cy="1316736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1033272"/>
            <a:ext cx="11173968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產出 1：AI 網路輿情洞察系統架構與報告</a:t>
            </a:r>
            <a:r>
              <a:rPr sz="1200" b="0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　洞察迴路｜每日排程：新留言 → 標註與風險 → 日報 → 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1298448"/>
            <a:ext cx="1335024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335024"/>
            <a:ext cx="129844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論壇爬蟲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每日抓新留言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三站公開論壇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16736" y="1362456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47088" y="1298448"/>
            <a:ext cx="1591056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65376" y="1335024"/>
            <a:ext cx="155448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去重・去識別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作者雜湊、店名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人名遮蔽（L1）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99232" y="1362456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9584" y="1298448"/>
            <a:ext cx="1536192" cy="969264"/>
          </a:xfrm>
          <a:prstGeom prst="roundRect">
            <a:avLst>
              <a:gd name="adj" fmla="val 8000"/>
            </a:avLst>
          </a:prstGeom>
          <a:solidFill>
            <a:srgbClr val="F6EFE3"/>
          </a:solidFill>
          <a:ln w="15875">
            <a:solidFill>
              <a:srgbClr val="8A6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47872" y="1335024"/>
            <a:ext cx="1499616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資料庫 B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原始輿情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去識別版，可溯源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26864" y="1362456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57216" y="1298448"/>
            <a:ext cx="1828800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75504" y="1335024"/>
            <a:ext cx="1792224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流失判斷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r4 逐句判流失、面向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→ 風險分數 →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Persona（客群輪廓）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9904" y="1362456"/>
            <a:ext cx="8412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L3·L4·L5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77456" y="1298448"/>
            <a:ext cx="1792224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95744" y="1335024"/>
            <a:ext cx="175564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洞察報告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日報・週報・季報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趨勢分析、200% 預警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0" y="1298448"/>
            <a:ext cx="1298448" cy="969264"/>
          </a:xfrm>
          <a:prstGeom prst="roundRect">
            <a:avLst>
              <a:gd name="adj" fmla="val 8000"/>
            </a:avLst>
          </a:prstGeom>
          <a:solidFill>
            <a:srgbClr val="F6EFE3"/>
          </a:solidFill>
          <a:ln w="15875">
            <a:solidFill>
              <a:srgbClr val="8A6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79408" y="1335024"/>
            <a:ext cx="1261872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資料庫 A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報告池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日／週／季報、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預警紀錄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351008" y="1298448"/>
            <a:ext cx="1426464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69296" y="1335024"/>
            <a:ext cx="138988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Dashboard 1–3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1 戰情總覽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2 報告池・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3 原始輿情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755648" y="1755648"/>
            <a:ext cx="91440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438144" y="1755648"/>
            <a:ext cx="91440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065776" y="1755648"/>
            <a:ext cx="91440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986016" y="1755648"/>
            <a:ext cx="91440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869680" y="1755648"/>
            <a:ext cx="91439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259568" y="1755648"/>
            <a:ext cx="91440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420624" y="2542032"/>
            <a:ext cx="11356848" cy="2523744"/>
          </a:xfrm>
          <a:prstGeom prst="roundRect">
            <a:avLst>
              <a:gd name="adj" fmla="val 8000"/>
            </a:avLst>
          </a:prstGeom>
          <a:solidFill>
            <a:srgbClr val="FB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6071616" y="2267712"/>
            <a:ext cx="0" cy="155448"/>
          </a:xfrm>
          <a:prstGeom prst="line">
            <a:avLst/>
          </a:prstGeom>
          <a:ln w="15875">
            <a:solidFill>
              <a:srgbClr val="5C65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512064" y="2423160"/>
            <a:ext cx="5559552" cy="0"/>
          </a:xfrm>
          <a:prstGeom prst="line">
            <a:avLst/>
          </a:prstGeom>
          <a:ln w="15875">
            <a:solidFill>
              <a:srgbClr val="5C65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12064" y="2423160"/>
            <a:ext cx="0" cy="905256"/>
          </a:xfrm>
          <a:prstGeom prst="line">
            <a:avLst/>
          </a:prstGeom>
          <a:ln w="15875">
            <a:solidFill>
              <a:srgbClr val="5C65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512064" y="3328416"/>
            <a:ext cx="109728" cy="0"/>
          </a:xfrm>
          <a:prstGeom prst="line">
            <a:avLst/>
          </a:prstGeom>
          <a:ln w="15875">
            <a:solidFill>
              <a:srgbClr val="5C65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633472" y="2304288"/>
            <a:ext cx="1645920" cy="237744"/>
          </a:xfrm>
          <a:prstGeom prst="rect">
            <a:avLst/>
          </a:prstGeom>
          <a:solidFill>
            <a:srgbClr val="FFFFFF"/>
          </a:solidFill>
        </p:spPr>
        <p:txBody>
          <a:bodyPr wrap="square" lIns="36576" rIns="36576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570"/>
                </a:solidFill>
                <a:latin typeface="Arial"/>
                <a:ea typeface="微軟正黑體"/>
                <a:cs typeface="Arial"/>
              </a:rPr>
              <a:t>風險升為高 → 觸發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2587752"/>
            <a:ext cx="11027664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C0392B"/>
                </a:solidFill>
                <a:latin typeface="Arial"/>
                <a:ea typeface="微軟正黑體"/>
                <a:cs typeface="Arial"/>
              </a:rPr>
              <a:t>產出 2：針對目標 Persona（客群輪廓）的 AI 溝通計畫與系統流程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2807208"/>
            <a:ext cx="11027664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C0392B"/>
                </a:solidFill>
                <a:latin typeface="Arial"/>
                <a:ea typeface="微軟正黑體"/>
                <a:cs typeface="Arial"/>
              </a:rPr>
              <a:t>溝通迴路｜事件觸發：CRM 訊號・客訴結案 → Persona（客群輪廓）→ RAG 話術 → 人工核准 → 投遞 → KPI 回饋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" y="3054096"/>
            <a:ext cx="2569464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3090672"/>
            <a:ext cx="253288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觸發事件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CRM 命中 R1–R8（含 R5 待料）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客訴結案 → 第 7 天回訪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或風險分數升為高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52344" y="3118104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L4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264408" y="3054096"/>
            <a:ext cx="1645920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82696" y="3090672"/>
            <a:ext cx="1609344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判定 Persona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（客群輪廓）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四類之一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未分類 → 觀察名單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471416" y="3118104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L5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983480" y="3054096"/>
            <a:ext cx="1874519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01768" y="3090672"/>
            <a:ext cx="1837943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RAG 生成話術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檢索條款 → 生成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→ 第二輪事實查核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19088" y="3118104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L6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931152" y="3054096"/>
            <a:ext cx="1636776" cy="969264"/>
          </a:xfrm>
          <a:prstGeom prst="roundRect">
            <a:avLst>
              <a:gd name="adj" fmla="val 8000"/>
            </a:avLst>
          </a:prstGeom>
          <a:solidFill>
            <a:srgbClr val="F3C1BD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949440" y="3090672"/>
            <a:ext cx="160020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人工審核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Dashboard 5 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審核佇列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核准或改寫才投遞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641080" y="3054096"/>
            <a:ext cx="1472184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659367" y="3090672"/>
            <a:ext cx="143560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投遞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LINE・App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Email・專員電話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674351" y="3118104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L7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186415" y="3054096"/>
            <a:ext cx="1591056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204703" y="3090672"/>
            <a:ext cx="155448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KPI 回饋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點擊・預約・回廠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寫回 CRM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1338559" y="3118104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L7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3191256" y="3511296"/>
            <a:ext cx="73152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4910328" y="3511296"/>
            <a:ext cx="73152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6858000" y="3511296"/>
            <a:ext cx="73152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8567928" y="3511296"/>
            <a:ext cx="73152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0113263" y="3511296"/>
            <a:ext cx="73152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621792" y="4169664"/>
            <a:ext cx="2569464" cy="7315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570"/>
                </a:solidFill>
                <a:latin typeface="Arial"/>
                <a:ea typeface="微軟正黑體"/>
                <a:cs typeface="Arial"/>
              </a:rPr>
              <a:t>客訴回訪不計頻率上限；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570"/>
                </a:solidFill>
                <a:latin typeface="Arial"/>
                <a:ea typeface="微軟正黑體"/>
                <a:cs typeface="Arial"/>
              </a:rPr>
              <a:t>觀察名單車主也回訪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264408" y="4169664"/>
            <a:ext cx="1645920" cy="731520"/>
          </a:xfrm>
          <a:prstGeom prst="rect">
            <a:avLst/>
          </a:prstGeom>
          <a:noFill/>
        </p:spPr>
        <p:txBody>
          <a:bodyPr wrap="square" lIns="36576" rIns="36576" tIns="18288" bIns="18288" anchor="b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C0392B"/>
                </a:solidFill>
                <a:latin typeface="Arial"/>
                <a:ea typeface="微軟正黑體"/>
                <a:cs typeface="Arial"/>
              </a:rPr>
              <a:t>回頭校正觸發門檻，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C0392B"/>
                </a:solidFill>
                <a:latin typeface="Arial"/>
                <a:ea typeface="微軟正黑體"/>
                <a:cs typeface="Arial"/>
              </a:rPr>
              <a:t>再訓練 r4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983480" y="4169664"/>
            <a:ext cx="1874519" cy="731520"/>
          </a:xfrm>
          <a:prstGeom prst="roundRect">
            <a:avLst>
              <a:gd name="adj" fmla="val 8000"/>
            </a:avLst>
          </a:prstGeom>
          <a:solidFill>
            <a:srgbClr val="F6EFE3"/>
          </a:solidFill>
          <a:ln w="15875">
            <a:solidFill>
              <a:srgbClr val="8A6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001768" y="4206240"/>
            <a:ext cx="1837943" cy="6766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資料庫 C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知識庫 76 條・保固條款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Dashboard 4 可查閱</a:t>
            </a:r>
          </a:p>
        </p:txBody>
      </p:sp>
      <p:cxnSp>
        <p:nvCxnSpPr>
          <p:cNvPr id="66" name="Connector 65"/>
          <p:cNvCxnSpPr/>
          <p:nvPr/>
        </p:nvCxnSpPr>
        <p:spPr>
          <a:xfrm flipV="1">
            <a:off x="5920740" y="4023360"/>
            <a:ext cx="0" cy="146304"/>
          </a:xfrm>
          <a:prstGeom prst="line">
            <a:avLst/>
          </a:prstGeom>
          <a:ln w="19050">
            <a:solidFill>
              <a:srgbClr val="8A6D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ounded Rectangle 66"/>
          <p:cNvSpPr/>
          <p:nvPr/>
        </p:nvSpPr>
        <p:spPr>
          <a:xfrm>
            <a:off x="6931152" y="4169664"/>
            <a:ext cx="1636776" cy="731520"/>
          </a:xfrm>
          <a:prstGeom prst="roundRect">
            <a:avLst>
              <a:gd name="adj" fmla="val 8000"/>
            </a:avLst>
          </a:prstGeom>
          <a:solidFill>
            <a:srgbClr val="F6EFE3"/>
          </a:solidFill>
          <a:ln w="15875">
            <a:solidFill>
              <a:srgbClr val="8A6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949440" y="4206240"/>
            <a:ext cx="1600200" cy="6766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資料庫 D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溝通佇列：草稿、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審核狀態、投遞結果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7749540" y="4023360"/>
            <a:ext cx="0" cy="146304"/>
          </a:xfrm>
          <a:prstGeom prst="line">
            <a:avLst/>
          </a:prstGeom>
          <a:ln w="19050">
            <a:solidFill>
              <a:srgbClr val="8A6D3B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8641080" y="4169664"/>
            <a:ext cx="2880360" cy="7315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資料庫與模型都在和泰內網，不出門；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論壇文字只作研究語料，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上線後輸入改為工單與客訴文字。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11649455" y="4023360"/>
            <a:ext cx="0" cy="950976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H="1">
            <a:off x="512064" y="4974336"/>
            <a:ext cx="11137391" cy="0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512064" y="3749040"/>
            <a:ext cx="0" cy="1225296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512064" y="3749040"/>
            <a:ext cx="109728" cy="0"/>
          </a:xfrm>
          <a:prstGeom prst="line">
            <a:avLst/>
          </a:prstGeom>
          <a:ln w="19050">
            <a:solidFill>
              <a:srgbClr val="C039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ounded Rectangle 74"/>
          <p:cNvSpPr/>
          <p:nvPr/>
        </p:nvSpPr>
        <p:spPr>
          <a:xfrm>
            <a:off x="420624" y="5157216"/>
            <a:ext cx="11356848" cy="126187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5875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20624" y="5157216"/>
            <a:ext cx="11356848" cy="310896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48640" y="5175503"/>
            <a:ext cx="11100816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Dashboard 5　溝通審核佇列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66928" y="5513831"/>
            <a:ext cx="5486400" cy="85953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車主 H-7F3A　風險 高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Persona　過保精算派　觸發 R1 過保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話術草稿　引用條目 41、52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7882128" y="5550407"/>
            <a:ext cx="1188720" cy="420624"/>
          </a:xfrm>
          <a:prstGeom prst="roundRect">
            <a:avLst>
              <a:gd name="adj" fmla="val 8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882128" y="5577840"/>
            <a:ext cx="118872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核准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9162288" y="5550407"/>
            <a:ext cx="1188720" cy="420624"/>
          </a:xfrm>
          <a:prstGeom prst="roundRect">
            <a:avLst>
              <a:gd name="adj" fmla="val 8000"/>
            </a:avLst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162288" y="5577840"/>
            <a:ext cx="118872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改寫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10442448" y="5550407"/>
            <a:ext cx="1188720" cy="420624"/>
          </a:xfrm>
          <a:prstGeom prst="roundRect">
            <a:avLst>
              <a:gd name="adj" fmla="val 8000"/>
            </a:avLst>
          </a:prstGeom>
          <a:solidFill>
            <a:srgbClr val="C05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442448" y="5577840"/>
            <a:ext cx="118872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退回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693408" y="6007607"/>
            <a:ext cx="4937760" cy="36575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未核准不投遞。決賽再給可操作版。代號為示意，不是論壇帳號。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A1 術語表（不計入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來源：本機模型報告（T8）、人工評估（T9）、風險與 Persona（客群輪廓）報告（T10）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本案用到的技術名詞：定義與在本案的用法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0624" y="987552"/>
          <a:ext cx="11356848" cy="54315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4434840"/>
                <a:gridCol w="4773168"/>
              </a:tblGrid>
              <a:tr h="329184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名詞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定義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本案用法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455793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ETL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Extract-Transform-Load：擷取、清洗轉換、載入。與 ELT（先載入再轉換）不同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爬蟲擷取→去重、切句、售後關鍵詞篩選→寫入 jsonl；23.6 萬句留 21,183 句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455793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弱監督標註（LLM-as-labeler）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用模型而非人工產生訓練標籤，事後以人工樣本驗證品質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Haiku 初篩＋Sonnet／GPT 帶上下文複核；人工 300 句驗證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455793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監督式學習／監督式微調 SFT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用「輸入＋正確答案」訓練；SFT 是在預訓練模型上以標籤資料微調，非從零訓練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以 21,183 句 LLM 標籤微調 Qwen3-4B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455793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QLoRA（NF4 4-bit、LoRA r=16）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把基底模型量化成 4 位元，只訓練低秩附加參數，省顯存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8 GB 顯卡 5 小時完成；adapter 約數十 MB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455793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GroupSplit／資料洩漏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依群組（文章）切分訓練與測試，避免同篇句子兩邊都出現而高估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600 句測試集所在 421 篇整篇排除訓練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291201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類別不平衡／過採樣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正例太少時重複抽樣正例，避免模型全猜負例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流失句 7.9% → 訓練時提高到四成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455793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Prefill-only（System-One 決策）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只讀 prompt 取下一個 token 在候選選項上的機率，不生成文字，快且可控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流失四級與立場各成 yes/no 候選題；每句 0.7 秒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455793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Precision／Recall／F1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報流失的句子有多少是真的／真的流失有多少被抓到／兩者調和平均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r4 隨機層 P 0.88、R 0.78、F1 0.82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291201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Cohen's κ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扣掉瞎猜也會對的部分後的一致程度；0.6 以上算好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人工兩人 κ 0.40（仲裁後成金標）；r4 對人工 κ 0.81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291201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校準（reliability bins）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把預測機率分箱，看每箱實際正例比例是否接近機率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最高信心桶約七成為真正例，方向對、尚未完全校準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291201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χ²、Cramér's V、Wilson CI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類別關聯檢定、其效果量、比例的信賴區間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來源流失率差異 χ²=99.5、V=0.125；九面向勝算比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455793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RAG（檢索增強生成）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先從知識庫檢索相關條目，再讓模型只依這些內容生成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76 條（官網 40、手冊 36）；12 則主表＋4 則附錄，每則附引用與查核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291201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K-means／silhouette／ARI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分群法、分群品質指標、兩種分群結果的一致度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驗證四個 Persona（客群輪廓）：只有靜默出走者被資料獨立支持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A2 補充圖表（不計入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來源：統計檢定報告（T7）、風險與 Persona（客群輪廓）報告（T10）；圖 F2、F4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三站發言者流失率，與發言者風險分布</a:t>
            </a:r>
          </a:p>
        </p:txBody>
      </p:sp>
      <p:sp>
        <p:nvSpPr>
          <p:cNvPr id="6" name="chart:F2:card"/>
          <p:cNvSpPr/>
          <p:nvPr/>
        </p:nvSpPr>
        <p:spPr>
          <a:xfrm>
            <a:off x="420624" y="987552"/>
            <a:ext cx="11356848" cy="2093975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hart:F2:title"/>
          <p:cNvSpPr txBox="1"/>
          <p:nvPr/>
        </p:nvSpPr>
        <p:spPr>
          <a:xfrm>
            <a:off x="914400" y="1060704"/>
            <a:ext cx="107350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Mobile01 論壇發言者流失率 18.2%，高於 Dcard 的 6.8%</a:t>
            </a:r>
          </a:p>
        </p:txBody>
      </p:sp>
      <p:sp>
        <p:nvSpPr>
          <p:cNvPr id="8" name="chart:F2:ylabel"/>
          <p:cNvSpPr txBox="1"/>
          <p:nvPr/>
        </p:nvSpPr>
        <p:spPr>
          <a:xfrm>
            <a:off x="548640" y="1060704"/>
            <a:ext cx="310896" cy="1929383"/>
          </a:xfrm>
          <a:prstGeom prst="rect">
            <a:avLst/>
          </a:prstGeom>
          <a:noFill/>
        </p:spPr>
        <p:txBody>
          <a:bodyPr wrap="square" lIns="18288" rIns="18288" tIns="18288" bIns="18288" anchor="ctr" vert="vert270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論壇發言者流失率（%）</a:t>
            </a:r>
          </a:p>
        </p:txBody>
      </p:sp>
      <p:cxnSp>
        <p:nvCxnSpPr>
          <p:cNvPr id="9" name="chart-line"/>
          <p:cNvCxnSpPr/>
          <p:nvPr/>
        </p:nvCxnSpPr>
        <p:spPr>
          <a:xfrm>
            <a:off x="1298448" y="2679191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hart:F2:tick"/>
          <p:cNvSpPr txBox="1"/>
          <p:nvPr/>
        </p:nvSpPr>
        <p:spPr>
          <a:xfrm>
            <a:off x="877824" y="2569463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0</a:t>
            </a:r>
          </a:p>
        </p:txBody>
      </p:sp>
      <p:cxnSp>
        <p:nvCxnSpPr>
          <p:cNvPr id="11" name="chart-line"/>
          <p:cNvCxnSpPr/>
          <p:nvPr/>
        </p:nvCxnSpPr>
        <p:spPr>
          <a:xfrm>
            <a:off x="1298448" y="1725452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art:F2:tick"/>
          <p:cNvSpPr txBox="1"/>
          <p:nvPr/>
        </p:nvSpPr>
        <p:spPr>
          <a:xfrm>
            <a:off x="877824" y="1615724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20</a:t>
            </a:r>
          </a:p>
        </p:txBody>
      </p:sp>
      <p:cxnSp>
        <p:nvCxnSpPr>
          <p:cNvPr id="13" name="chart-line"/>
          <p:cNvCxnSpPr/>
          <p:nvPr/>
        </p:nvCxnSpPr>
        <p:spPr>
          <a:xfrm>
            <a:off x="1298448" y="2679191"/>
            <a:ext cx="10314432" cy="0"/>
          </a:xfrm>
          <a:prstGeom prst="line">
            <a:avLst/>
          </a:prstGeom>
          <a:ln w="12700">
            <a:solidFill>
              <a:srgbClr val="8A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hart:F2:bar"/>
          <p:cNvSpPr/>
          <p:nvPr/>
        </p:nvSpPr>
        <p:spPr>
          <a:xfrm>
            <a:off x="2157984" y="2005586"/>
            <a:ext cx="1719072" cy="673605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hart-line"/>
          <p:cNvCxnSpPr/>
          <p:nvPr/>
        </p:nvCxnSpPr>
        <p:spPr>
          <a:xfrm>
            <a:off x="3017520" y="1933706"/>
            <a:ext cx="0" cy="137876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hart-line"/>
          <p:cNvCxnSpPr/>
          <p:nvPr/>
        </p:nvCxnSpPr>
        <p:spPr>
          <a:xfrm>
            <a:off x="2944368" y="1933706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hart-line"/>
          <p:cNvCxnSpPr/>
          <p:nvPr/>
        </p:nvCxnSpPr>
        <p:spPr>
          <a:xfrm>
            <a:off x="2944368" y="2071582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hart:F2:value"/>
          <p:cNvSpPr txBox="1"/>
          <p:nvPr/>
        </p:nvSpPr>
        <p:spPr>
          <a:xfrm>
            <a:off x="1929384" y="1613666"/>
            <a:ext cx="2176272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14.1</a:t>
            </a:r>
          </a:p>
        </p:txBody>
      </p:sp>
      <p:sp>
        <p:nvSpPr>
          <p:cNvPr id="19" name="chart:F2:cat"/>
          <p:cNvSpPr txBox="1"/>
          <p:nvPr/>
        </p:nvSpPr>
        <p:spPr>
          <a:xfrm>
            <a:off x="1929384" y="2706623"/>
            <a:ext cx="2176272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PTT</a:t>
            </a:r>
          </a:p>
        </p:txBody>
      </p:sp>
      <p:sp>
        <p:nvSpPr>
          <p:cNvPr id="20" name="chart:F2:bar"/>
          <p:cNvSpPr/>
          <p:nvPr/>
        </p:nvSpPr>
        <p:spPr>
          <a:xfrm>
            <a:off x="5596128" y="1809646"/>
            <a:ext cx="1719072" cy="869545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hart-line"/>
          <p:cNvCxnSpPr/>
          <p:nvPr/>
        </p:nvCxnSpPr>
        <p:spPr>
          <a:xfrm>
            <a:off x="6455664" y="1738912"/>
            <a:ext cx="0" cy="137262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hart-line"/>
          <p:cNvCxnSpPr/>
          <p:nvPr/>
        </p:nvCxnSpPr>
        <p:spPr>
          <a:xfrm>
            <a:off x="6382512" y="1738912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hart-line"/>
          <p:cNvCxnSpPr/>
          <p:nvPr/>
        </p:nvCxnSpPr>
        <p:spPr>
          <a:xfrm>
            <a:off x="6382512" y="1876174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hart:F2:value"/>
          <p:cNvSpPr txBox="1"/>
          <p:nvPr/>
        </p:nvSpPr>
        <p:spPr>
          <a:xfrm>
            <a:off x="5367528" y="1418872"/>
            <a:ext cx="2176272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18.2</a:t>
            </a:r>
          </a:p>
        </p:txBody>
      </p:sp>
      <p:sp>
        <p:nvSpPr>
          <p:cNvPr id="25" name="chart:F2:cat"/>
          <p:cNvSpPr txBox="1"/>
          <p:nvPr/>
        </p:nvSpPr>
        <p:spPr>
          <a:xfrm>
            <a:off x="5367528" y="2706623"/>
            <a:ext cx="2176272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Mobile01</a:t>
            </a:r>
          </a:p>
        </p:txBody>
      </p:sp>
      <p:sp>
        <p:nvSpPr>
          <p:cNvPr id="26" name="chart:F2:bar"/>
          <p:cNvSpPr/>
          <p:nvPr/>
        </p:nvSpPr>
        <p:spPr>
          <a:xfrm>
            <a:off x="9034272" y="2355601"/>
            <a:ext cx="1719072" cy="323590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hart-line"/>
          <p:cNvCxnSpPr/>
          <p:nvPr/>
        </p:nvCxnSpPr>
        <p:spPr>
          <a:xfrm>
            <a:off x="9893808" y="2286970"/>
            <a:ext cx="0" cy="125984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hart-line"/>
          <p:cNvCxnSpPr/>
          <p:nvPr/>
        </p:nvCxnSpPr>
        <p:spPr>
          <a:xfrm>
            <a:off x="9820656" y="2286970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hart-line"/>
          <p:cNvCxnSpPr/>
          <p:nvPr/>
        </p:nvCxnSpPr>
        <p:spPr>
          <a:xfrm>
            <a:off x="9820656" y="2412954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hart:F2:value"/>
          <p:cNvSpPr txBox="1"/>
          <p:nvPr/>
        </p:nvSpPr>
        <p:spPr>
          <a:xfrm>
            <a:off x="8805672" y="1966930"/>
            <a:ext cx="2176272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6.8</a:t>
            </a:r>
          </a:p>
        </p:txBody>
      </p:sp>
      <p:sp>
        <p:nvSpPr>
          <p:cNvPr id="31" name="chart:F2:cat"/>
          <p:cNvSpPr txBox="1"/>
          <p:nvPr/>
        </p:nvSpPr>
        <p:spPr>
          <a:xfrm>
            <a:off x="8805672" y="2706623"/>
            <a:ext cx="2176272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Dcard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0624" y="3154679"/>
            <a:ext cx="11356848" cy="5120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3209544"/>
            <a:ext cx="11100816" cy="4023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F2</a:t>
            </a: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論壇發言者流失率。</a:t>
            </a: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Mobile01 18.2%、PTT 14.1%、Dcard 6.8%。母體是論壇發言者，χ²=99.5。</a:t>
            </a:r>
          </a:p>
        </p:txBody>
      </p:sp>
      <p:sp>
        <p:nvSpPr>
          <p:cNvPr id="34" name="chart:F4:card"/>
          <p:cNvSpPr/>
          <p:nvPr/>
        </p:nvSpPr>
        <p:spPr>
          <a:xfrm>
            <a:off x="420624" y="3739896"/>
            <a:ext cx="11356848" cy="2093975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hart:F4:title"/>
          <p:cNvSpPr txBox="1"/>
          <p:nvPr/>
        </p:nvSpPr>
        <p:spPr>
          <a:xfrm>
            <a:off x="914400" y="3813048"/>
            <a:ext cx="107350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高風險發言者 1,049 人，占全部發言者 16.4%</a:t>
            </a:r>
          </a:p>
        </p:txBody>
      </p:sp>
      <p:sp>
        <p:nvSpPr>
          <p:cNvPr id="36" name="chart:F4:ylabel"/>
          <p:cNvSpPr txBox="1"/>
          <p:nvPr/>
        </p:nvSpPr>
        <p:spPr>
          <a:xfrm>
            <a:off x="548640" y="3813048"/>
            <a:ext cx="310896" cy="1929383"/>
          </a:xfrm>
          <a:prstGeom prst="rect">
            <a:avLst/>
          </a:prstGeom>
          <a:noFill/>
        </p:spPr>
        <p:txBody>
          <a:bodyPr wrap="square" lIns="18288" rIns="18288" tIns="18288" bIns="18288" anchor="ctr" vert="vert270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發言者數</a:t>
            </a:r>
          </a:p>
        </p:txBody>
      </p:sp>
      <p:cxnSp>
        <p:nvCxnSpPr>
          <p:cNvPr id="37" name="chart-line"/>
          <p:cNvCxnSpPr/>
          <p:nvPr/>
        </p:nvCxnSpPr>
        <p:spPr>
          <a:xfrm>
            <a:off x="1417320" y="5431536"/>
            <a:ext cx="10195560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chart:F4:tick"/>
          <p:cNvSpPr txBox="1"/>
          <p:nvPr/>
        </p:nvSpPr>
        <p:spPr>
          <a:xfrm>
            <a:off x="877824" y="5303520"/>
            <a:ext cx="502920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0</a:t>
            </a:r>
          </a:p>
        </p:txBody>
      </p:sp>
      <p:cxnSp>
        <p:nvCxnSpPr>
          <p:cNvPr id="39" name="chart-line"/>
          <p:cNvCxnSpPr/>
          <p:nvPr/>
        </p:nvCxnSpPr>
        <p:spPr>
          <a:xfrm>
            <a:off x="1417320" y="5070618"/>
            <a:ext cx="10195560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chart:F4:tick"/>
          <p:cNvSpPr txBox="1"/>
          <p:nvPr/>
        </p:nvSpPr>
        <p:spPr>
          <a:xfrm>
            <a:off x="877824" y="4942602"/>
            <a:ext cx="502920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2,000</a:t>
            </a:r>
          </a:p>
        </p:txBody>
      </p:sp>
      <p:cxnSp>
        <p:nvCxnSpPr>
          <p:cNvPr id="41" name="chart-line"/>
          <p:cNvCxnSpPr/>
          <p:nvPr/>
        </p:nvCxnSpPr>
        <p:spPr>
          <a:xfrm>
            <a:off x="1417320" y="4709700"/>
            <a:ext cx="10195560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chart:F4:tick"/>
          <p:cNvSpPr txBox="1"/>
          <p:nvPr/>
        </p:nvSpPr>
        <p:spPr>
          <a:xfrm>
            <a:off x="877824" y="4581684"/>
            <a:ext cx="502920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4,000</a:t>
            </a:r>
          </a:p>
        </p:txBody>
      </p:sp>
      <p:cxnSp>
        <p:nvCxnSpPr>
          <p:cNvPr id="43" name="chart-line"/>
          <p:cNvCxnSpPr/>
          <p:nvPr/>
        </p:nvCxnSpPr>
        <p:spPr>
          <a:xfrm>
            <a:off x="1417320" y="5431536"/>
            <a:ext cx="10195560" cy="0"/>
          </a:xfrm>
          <a:prstGeom prst="line">
            <a:avLst/>
          </a:prstGeom>
          <a:ln w="12700">
            <a:solidFill>
              <a:srgbClr val="8A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chart:F4:bar"/>
          <p:cNvSpPr/>
          <p:nvPr/>
        </p:nvSpPr>
        <p:spPr>
          <a:xfrm>
            <a:off x="2164994" y="5054557"/>
            <a:ext cx="1903171" cy="376978"/>
          </a:xfrm>
          <a:prstGeom prst="rect">
            <a:avLst/>
          </a:prstGeom>
          <a:solidFill>
            <a:srgbClr val="A9C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chart:F4:bar"/>
          <p:cNvSpPr/>
          <p:nvPr/>
        </p:nvSpPr>
        <p:spPr>
          <a:xfrm>
            <a:off x="2164994" y="4730453"/>
            <a:ext cx="1903171" cy="324104"/>
          </a:xfrm>
          <a:prstGeom prst="rect">
            <a:avLst/>
          </a:prstGeom>
          <a:solidFill>
            <a:srgbClr val="5C8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chart:F4:bar"/>
          <p:cNvSpPr/>
          <p:nvPr/>
        </p:nvSpPr>
        <p:spPr>
          <a:xfrm>
            <a:off x="2164994" y="4508669"/>
            <a:ext cx="1903171" cy="221783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chart:F4:value"/>
          <p:cNvSpPr txBox="1"/>
          <p:nvPr/>
        </p:nvSpPr>
        <p:spPr>
          <a:xfrm>
            <a:off x="1936394" y="4188629"/>
            <a:ext cx="2360371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5,114</a:t>
            </a:r>
          </a:p>
        </p:txBody>
      </p:sp>
      <p:sp>
        <p:nvSpPr>
          <p:cNvPr id="48" name="chart:F4:cat"/>
          <p:cNvSpPr txBox="1"/>
          <p:nvPr/>
        </p:nvSpPr>
        <p:spPr>
          <a:xfrm>
            <a:off x="1982114" y="5458968"/>
            <a:ext cx="2268931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低</a:t>
            </a:r>
          </a:p>
        </p:txBody>
      </p:sp>
      <p:sp>
        <p:nvSpPr>
          <p:cNvPr id="49" name="chart:F4:bar"/>
          <p:cNvSpPr/>
          <p:nvPr/>
        </p:nvSpPr>
        <p:spPr>
          <a:xfrm>
            <a:off x="5563514" y="5407895"/>
            <a:ext cx="1903171" cy="23640"/>
          </a:xfrm>
          <a:prstGeom prst="rect">
            <a:avLst/>
          </a:prstGeom>
          <a:solidFill>
            <a:srgbClr val="A9C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chart:F4:bar"/>
          <p:cNvSpPr/>
          <p:nvPr/>
        </p:nvSpPr>
        <p:spPr>
          <a:xfrm>
            <a:off x="5563514" y="5394361"/>
            <a:ext cx="1903171" cy="13534"/>
          </a:xfrm>
          <a:prstGeom prst="rect">
            <a:avLst/>
          </a:prstGeom>
          <a:solidFill>
            <a:srgbClr val="5C8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chart:F4:value"/>
          <p:cNvSpPr txBox="1"/>
          <p:nvPr/>
        </p:nvSpPr>
        <p:spPr>
          <a:xfrm>
            <a:off x="5334914" y="5069810"/>
            <a:ext cx="2360371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231</a:t>
            </a:r>
          </a:p>
        </p:txBody>
      </p:sp>
      <p:sp>
        <p:nvSpPr>
          <p:cNvPr id="52" name="chart:F4:cat"/>
          <p:cNvSpPr txBox="1"/>
          <p:nvPr/>
        </p:nvSpPr>
        <p:spPr>
          <a:xfrm>
            <a:off x="5380634" y="5458968"/>
            <a:ext cx="2268931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中</a:t>
            </a:r>
          </a:p>
        </p:txBody>
      </p:sp>
      <p:sp>
        <p:nvSpPr>
          <p:cNvPr id="53" name="chart:F4:bar"/>
          <p:cNvSpPr/>
          <p:nvPr/>
        </p:nvSpPr>
        <p:spPr>
          <a:xfrm>
            <a:off x="8962034" y="5333366"/>
            <a:ext cx="1903171" cy="98169"/>
          </a:xfrm>
          <a:prstGeom prst="rect">
            <a:avLst/>
          </a:prstGeom>
          <a:solidFill>
            <a:srgbClr val="F3C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chart:F4:bar"/>
          <p:cNvSpPr/>
          <p:nvPr/>
        </p:nvSpPr>
        <p:spPr>
          <a:xfrm>
            <a:off x="8962034" y="5268581"/>
            <a:ext cx="1903171" cy="64784"/>
          </a:xfrm>
          <a:prstGeom prst="rect">
            <a:avLst/>
          </a:prstGeom>
          <a:solidFill>
            <a:srgbClr val="E0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chart:F4:bar"/>
          <p:cNvSpPr/>
          <p:nvPr/>
        </p:nvSpPr>
        <p:spPr>
          <a:xfrm>
            <a:off x="8962034" y="5242234"/>
            <a:ext cx="1903171" cy="2634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chart:F4:value"/>
          <p:cNvSpPr txBox="1"/>
          <p:nvPr/>
        </p:nvSpPr>
        <p:spPr>
          <a:xfrm>
            <a:off x="8733434" y="4922194"/>
            <a:ext cx="2360371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1,049</a:t>
            </a:r>
          </a:p>
        </p:txBody>
      </p:sp>
      <p:sp>
        <p:nvSpPr>
          <p:cNvPr id="57" name="chart:F4:cat"/>
          <p:cNvSpPr txBox="1"/>
          <p:nvPr/>
        </p:nvSpPr>
        <p:spPr>
          <a:xfrm>
            <a:off x="8779154" y="5458968"/>
            <a:ext cx="2268931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</a:t>
            </a:r>
          </a:p>
        </p:txBody>
      </p:sp>
      <p:sp>
        <p:nvSpPr>
          <p:cNvPr id="58" name="chart:F4:legend"/>
          <p:cNvSpPr/>
          <p:nvPr/>
        </p:nvSpPr>
        <p:spPr>
          <a:xfrm>
            <a:off x="8778240" y="4215383"/>
            <a:ext cx="201168" cy="146304"/>
          </a:xfrm>
          <a:prstGeom prst="rect">
            <a:avLst/>
          </a:prstGeom>
          <a:solidFill>
            <a:srgbClr val="A9C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chart:F4:legend"/>
          <p:cNvSpPr txBox="1"/>
          <p:nvPr/>
        </p:nvSpPr>
        <p:spPr>
          <a:xfrm>
            <a:off x="9015984" y="4160520"/>
            <a:ext cx="969264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Mobile01</a:t>
            </a:r>
          </a:p>
        </p:txBody>
      </p:sp>
      <p:sp>
        <p:nvSpPr>
          <p:cNvPr id="60" name="chart:F4:legend"/>
          <p:cNvSpPr/>
          <p:nvPr/>
        </p:nvSpPr>
        <p:spPr>
          <a:xfrm>
            <a:off x="10003536" y="4215383"/>
            <a:ext cx="201168" cy="146304"/>
          </a:xfrm>
          <a:prstGeom prst="rect">
            <a:avLst/>
          </a:prstGeom>
          <a:solidFill>
            <a:srgbClr val="5C8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chart:F4:legend"/>
          <p:cNvSpPr txBox="1"/>
          <p:nvPr/>
        </p:nvSpPr>
        <p:spPr>
          <a:xfrm>
            <a:off x="10241280" y="4160520"/>
            <a:ext cx="466344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PTT</a:t>
            </a:r>
          </a:p>
        </p:txBody>
      </p:sp>
      <p:sp>
        <p:nvSpPr>
          <p:cNvPr id="62" name="chart:F4:legend"/>
          <p:cNvSpPr/>
          <p:nvPr/>
        </p:nvSpPr>
        <p:spPr>
          <a:xfrm>
            <a:off x="10725912" y="4215383"/>
            <a:ext cx="201168" cy="146304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chart:F4:legend"/>
          <p:cNvSpPr txBox="1"/>
          <p:nvPr/>
        </p:nvSpPr>
        <p:spPr>
          <a:xfrm>
            <a:off x="10963656" y="4160520"/>
            <a:ext cx="667512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Dcard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20624" y="5907023"/>
            <a:ext cx="11356848" cy="5120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8640" y="5961887"/>
            <a:ext cx="11100816" cy="4023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F4</a:t>
            </a: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發言者風險分布。</a:t>
            </a: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高風險發言者 1,049 人（16.4%）；約八成在低風險。風險等級：紅＝高。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A2b 補充圖表（不計入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來源：本機模型報告（T8）、趨勢報告（T15）；圖 F6、F9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校準曲線，與季趨勢預警</a:t>
            </a:r>
          </a:p>
        </p:txBody>
      </p:sp>
      <p:sp>
        <p:nvSpPr>
          <p:cNvPr id="6" name="chart:F6:card"/>
          <p:cNvSpPr/>
          <p:nvPr/>
        </p:nvSpPr>
        <p:spPr>
          <a:xfrm>
            <a:off x="420624" y="987552"/>
            <a:ext cx="11356848" cy="190195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hart:F6:title"/>
          <p:cNvSpPr txBox="1"/>
          <p:nvPr/>
        </p:nvSpPr>
        <p:spPr>
          <a:xfrm>
            <a:off x="914400" y="1060704"/>
            <a:ext cx="107350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高分仍偏高：預測接近 96% 時，實際流失是 68%</a:t>
            </a:r>
          </a:p>
        </p:txBody>
      </p:sp>
      <p:sp>
        <p:nvSpPr>
          <p:cNvPr id="8" name="chart:F6:ylabel"/>
          <p:cNvSpPr txBox="1"/>
          <p:nvPr/>
        </p:nvSpPr>
        <p:spPr>
          <a:xfrm>
            <a:off x="548640" y="1060704"/>
            <a:ext cx="310896" cy="1536191"/>
          </a:xfrm>
          <a:prstGeom prst="rect">
            <a:avLst/>
          </a:prstGeom>
          <a:noFill/>
        </p:spPr>
        <p:txBody>
          <a:bodyPr wrap="square" lIns="18288" rIns="18288" tIns="18288" bIns="18288" anchor="ctr" vert="vert270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實際流失比例（%）</a:t>
            </a:r>
          </a:p>
        </p:txBody>
      </p:sp>
      <p:cxnSp>
        <p:nvCxnSpPr>
          <p:cNvPr id="9" name="chart-line"/>
          <p:cNvCxnSpPr/>
          <p:nvPr/>
        </p:nvCxnSpPr>
        <p:spPr>
          <a:xfrm>
            <a:off x="1298448" y="2359152"/>
            <a:ext cx="10076688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hart:F6:tick"/>
          <p:cNvSpPr txBox="1"/>
          <p:nvPr/>
        </p:nvSpPr>
        <p:spPr>
          <a:xfrm>
            <a:off x="877824" y="2249424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0</a:t>
            </a:r>
          </a:p>
        </p:txBody>
      </p:sp>
      <p:cxnSp>
        <p:nvCxnSpPr>
          <p:cNvPr id="11" name="chart-line"/>
          <p:cNvCxnSpPr/>
          <p:nvPr/>
        </p:nvCxnSpPr>
        <p:spPr>
          <a:xfrm>
            <a:off x="1298448" y="1920240"/>
            <a:ext cx="10076688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art:F6:tick"/>
          <p:cNvSpPr txBox="1"/>
          <p:nvPr/>
        </p:nvSpPr>
        <p:spPr>
          <a:xfrm>
            <a:off x="877824" y="1810512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50</a:t>
            </a:r>
          </a:p>
        </p:txBody>
      </p:sp>
      <p:cxnSp>
        <p:nvCxnSpPr>
          <p:cNvPr id="13" name="chart-line"/>
          <p:cNvCxnSpPr/>
          <p:nvPr/>
        </p:nvCxnSpPr>
        <p:spPr>
          <a:xfrm>
            <a:off x="1298448" y="1481328"/>
            <a:ext cx="10076688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hart:F6:tick"/>
          <p:cNvSpPr txBox="1"/>
          <p:nvPr/>
        </p:nvSpPr>
        <p:spPr>
          <a:xfrm>
            <a:off x="877824" y="1371600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100</a:t>
            </a:r>
          </a:p>
        </p:txBody>
      </p:sp>
      <p:cxnSp>
        <p:nvCxnSpPr>
          <p:cNvPr id="15" name="chart-line"/>
          <p:cNvCxnSpPr/>
          <p:nvPr/>
        </p:nvCxnSpPr>
        <p:spPr>
          <a:xfrm>
            <a:off x="3313785" y="1481328"/>
            <a:ext cx="0" cy="877824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hart:F6:tick"/>
          <p:cNvSpPr txBox="1"/>
          <p:nvPr/>
        </p:nvSpPr>
        <p:spPr>
          <a:xfrm>
            <a:off x="3039465" y="2386584"/>
            <a:ext cx="548640" cy="2103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20</a:t>
            </a:r>
          </a:p>
        </p:txBody>
      </p:sp>
      <p:cxnSp>
        <p:nvCxnSpPr>
          <p:cNvPr id="17" name="chart-line"/>
          <p:cNvCxnSpPr/>
          <p:nvPr/>
        </p:nvCxnSpPr>
        <p:spPr>
          <a:xfrm>
            <a:off x="5329123" y="1481328"/>
            <a:ext cx="0" cy="877824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hart:F6:tick"/>
          <p:cNvSpPr txBox="1"/>
          <p:nvPr/>
        </p:nvSpPr>
        <p:spPr>
          <a:xfrm>
            <a:off x="5054803" y="2386584"/>
            <a:ext cx="548640" cy="2103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40</a:t>
            </a:r>
          </a:p>
        </p:txBody>
      </p:sp>
      <p:cxnSp>
        <p:nvCxnSpPr>
          <p:cNvPr id="19" name="chart-line"/>
          <p:cNvCxnSpPr/>
          <p:nvPr/>
        </p:nvCxnSpPr>
        <p:spPr>
          <a:xfrm>
            <a:off x="7344460" y="1481328"/>
            <a:ext cx="0" cy="877824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hart:F6:tick"/>
          <p:cNvSpPr txBox="1"/>
          <p:nvPr/>
        </p:nvSpPr>
        <p:spPr>
          <a:xfrm>
            <a:off x="7070140" y="2386584"/>
            <a:ext cx="548640" cy="2103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60</a:t>
            </a:r>
          </a:p>
        </p:txBody>
      </p:sp>
      <p:cxnSp>
        <p:nvCxnSpPr>
          <p:cNvPr id="21" name="chart-line"/>
          <p:cNvCxnSpPr/>
          <p:nvPr/>
        </p:nvCxnSpPr>
        <p:spPr>
          <a:xfrm>
            <a:off x="9359798" y="1481328"/>
            <a:ext cx="0" cy="877824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hart:F6:tick"/>
          <p:cNvSpPr txBox="1"/>
          <p:nvPr/>
        </p:nvSpPr>
        <p:spPr>
          <a:xfrm>
            <a:off x="9085478" y="2386584"/>
            <a:ext cx="548640" cy="2103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80</a:t>
            </a:r>
          </a:p>
        </p:txBody>
      </p:sp>
      <p:cxnSp>
        <p:nvCxnSpPr>
          <p:cNvPr id="23" name="chart-line"/>
          <p:cNvCxnSpPr/>
          <p:nvPr/>
        </p:nvCxnSpPr>
        <p:spPr>
          <a:xfrm>
            <a:off x="11375136" y="1481328"/>
            <a:ext cx="0" cy="877824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hart:F6:tick"/>
          <p:cNvSpPr txBox="1"/>
          <p:nvPr/>
        </p:nvSpPr>
        <p:spPr>
          <a:xfrm>
            <a:off x="11100815" y="2386584"/>
            <a:ext cx="548640" cy="2103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100</a:t>
            </a:r>
          </a:p>
        </p:txBody>
      </p:sp>
      <p:cxnSp>
        <p:nvCxnSpPr>
          <p:cNvPr id="25" name="chart-line"/>
          <p:cNvCxnSpPr/>
          <p:nvPr/>
        </p:nvCxnSpPr>
        <p:spPr>
          <a:xfrm>
            <a:off x="1298448" y="2359152"/>
            <a:ext cx="10076688" cy="0"/>
          </a:xfrm>
          <a:prstGeom prst="line">
            <a:avLst/>
          </a:prstGeom>
          <a:ln w="12700">
            <a:solidFill>
              <a:srgbClr val="8A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hart-line"/>
          <p:cNvCxnSpPr/>
          <p:nvPr/>
        </p:nvCxnSpPr>
        <p:spPr>
          <a:xfrm>
            <a:off x="1298448" y="1481328"/>
            <a:ext cx="0" cy="877824"/>
          </a:xfrm>
          <a:prstGeom prst="line">
            <a:avLst/>
          </a:prstGeom>
          <a:ln w="12700">
            <a:solidFill>
              <a:srgbClr val="8A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hart:F6:diag"/>
          <p:cNvSpPr/>
          <p:nvPr/>
        </p:nvSpPr>
        <p:spPr>
          <a:xfrm rot="21301277">
            <a:off x="1279366" y="1915668"/>
            <a:ext cx="10114851" cy="9144"/>
          </a:xfrm>
          <a:prstGeom prst="rect">
            <a:avLst/>
          </a:prstGeom>
          <a:noFill/>
          <a:ln w="9525">
            <a:solidFill>
              <a:srgbClr val="D9DFE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hart:F6:xlabel"/>
          <p:cNvSpPr txBox="1"/>
          <p:nvPr/>
        </p:nvSpPr>
        <p:spPr>
          <a:xfrm>
            <a:off x="1298448" y="2596896"/>
            <a:ext cx="10076688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桶內平均預測機率（%）</a:t>
            </a:r>
          </a:p>
        </p:txBody>
      </p:sp>
      <p:sp>
        <p:nvSpPr>
          <p:cNvPr id="29" name="chart:F6:dot"/>
          <p:cNvSpPr/>
          <p:nvPr/>
        </p:nvSpPr>
        <p:spPr>
          <a:xfrm>
            <a:off x="1273118" y="2211668"/>
            <a:ext cx="256032" cy="256032"/>
          </a:xfrm>
          <a:prstGeom prst="ellipse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hart:F6:n"/>
          <p:cNvSpPr txBox="1"/>
          <p:nvPr/>
        </p:nvSpPr>
        <p:spPr>
          <a:xfrm>
            <a:off x="1574870" y="1973924"/>
            <a:ext cx="56692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n=496</a:t>
            </a:r>
          </a:p>
        </p:txBody>
      </p:sp>
      <p:sp>
        <p:nvSpPr>
          <p:cNvPr id="31" name="chart:F6:dot"/>
          <p:cNvSpPr/>
          <p:nvPr/>
        </p:nvSpPr>
        <p:spPr>
          <a:xfrm>
            <a:off x="3828276" y="2177286"/>
            <a:ext cx="144274" cy="144274"/>
          </a:xfrm>
          <a:prstGeom prst="ellipse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hart:F6:n"/>
          <p:cNvSpPr txBox="1"/>
          <p:nvPr/>
        </p:nvSpPr>
        <p:spPr>
          <a:xfrm>
            <a:off x="4018270" y="2139696"/>
            <a:ext cx="56692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n=8</a:t>
            </a:r>
          </a:p>
        </p:txBody>
      </p:sp>
      <p:sp>
        <p:nvSpPr>
          <p:cNvPr id="33" name="chart:F6:dot"/>
          <p:cNvSpPr/>
          <p:nvPr/>
        </p:nvSpPr>
        <p:spPr>
          <a:xfrm>
            <a:off x="6099781" y="2126007"/>
            <a:ext cx="147080" cy="147080"/>
          </a:xfrm>
          <a:prstGeom prst="ellipse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hart:F6:n"/>
          <p:cNvSpPr txBox="1"/>
          <p:nvPr/>
        </p:nvSpPr>
        <p:spPr>
          <a:xfrm>
            <a:off x="6292581" y="2089819"/>
            <a:ext cx="56692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n=11</a:t>
            </a:r>
          </a:p>
        </p:txBody>
      </p:sp>
      <p:sp>
        <p:nvSpPr>
          <p:cNvPr id="35" name="chart:F6:dot"/>
          <p:cNvSpPr/>
          <p:nvPr/>
        </p:nvSpPr>
        <p:spPr>
          <a:xfrm>
            <a:off x="8443050" y="2096285"/>
            <a:ext cx="149523" cy="149523"/>
          </a:xfrm>
          <a:prstGeom prst="ellipse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hart:F6:n"/>
          <p:cNvSpPr txBox="1"/>
          <p:nvPr/>
        </p:nvSpPr>
        <p:spPr>
          <a:xfrm>
            <a:off x="8234348" y="1858541"/>
            <a:ext cx="56692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n=14</a:t>
            </a:r>
          </a:p>
        </p:txBody>
      </p:sp>
      <p:sp>
        <p:nvSpPr>
          <p:cNvPr id="37" name="chart:F6:dot"/>
          <p:cNvSpPr/>
          <p:nvPr/>
        </p:nvSpPr>
        <p:spPr>
          <a:xfrm>
            <a:off x="10879191" y="1677468"/>
            <a:ext cx="176450" cy="17645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hart:F6:n"/>
          <p:cNvSpPr txBox="1"/>
          <p:nvPr/>
        </p:nvSpPr>
        <p:spPr>
          <a:xfrm>
            <a:off x="10683952" y="1872206"/>
            <a:ext cx="56692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n=71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0624" y="2962656"/>
            <a:ext cx="11356848" cy="45720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3017520"/>
            <a:ext cx="1110081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F6</a:t>
            </a: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校準曲線。</a:t>
            </a: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最高信心桶 n=71，實際流失 68%。高分仍偏高，方向對。</a:t>
            </a:r>
          </a:p>
        </p:txBody>
      </p:sp>
      <p:sp>
        <p:nvSpPr>
          <p:cNvPr id="41" name="chart:F9:card"/>
          <p:cNvSpPr/>
          <p:nvPr/>
        </p:nvSpPr>
        <p:spPr>
          <a:xfrm>
            <a:off x="420624" y="3493008"/>
            <a:ext cx="11356848" cy="2395727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F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3493008"/>
            <a:ext cx="11356848" cy="2394826"/>
          </a:xfrm>
          <a:prstGeom prst="rect">
            <a:avLst/>
          </a:prstGeom>
        </p:spPr>
      </p:pic>
      <p:sp>
        <p:nvSpPr>
          <p:cNvPr id="43" name="Rounded Rectangle 42"/>
          <p:cNvSpPr/>
          <p:nvPr/>
        </p:nvSpPr>
        <p:spPr>
          <a:xfrm>
            <a:off x="420624" y="5961888"/>
            <a:ext cx="11356848" cy="45720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6016751"/>
            <a:ext cx="1110081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F9</a:t>
            </a: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季趨勢預警。</a:t>
            </a: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討論量達前 4 週平均 3 倍且至少 5 句就亮燈。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A3 待料通知話術（不計入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來源：話術範例、生成與查核報告（T14）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待料逾 7 天就主動通知，話術不寫到貨日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11356848" cy="2660903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78992"/>
            <a:ext cx="11100816" cy="247802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過保精算派 × 待料通知　LINE 官方帳號推播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引用條目　26、65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您好，零件還在等料，讓您久等了，很抱歉。到貨時間確定後，我們會第一時間通知您。到貨後如需到府取送車，可在保養或維修預定入廠日前 2 天預約，單程距離限 10 公里以內。若想了解目前進度，請聯絡您的服務專員。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查核結果　通過；supported 3/3；重生成 0 次；生成次數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3758183"/>
            <a:ext cx="11356848" cy="2660903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849623"/>
            <a:ext cx="11100816" cy="247802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品質失望派 × 待料通知　服務廠專員電話腳本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引用條目　26、57、65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讓您久等了，很抱歉。目前零件仍在等待中，有進一步消息我會再聯繫您。如果愛車因零件缺料而無法行駛或有行車安全疑慮，需要留廠72小時以上，維修期間我們會提供免費代步車；板金或噴漆維修恕無法提供，現車仍需視服務廠車輛調度實況而定。您也可聯絡我這位服務專員，或致電0800-036-036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查核結果　通過；supported 6/6；重生成 1 次；生成次數 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A4 CRM 觸發門檻（不計入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來源：風險與 Persona（客群輪廓）報告（T10）、L7 運作流程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八條規則的欄位與門檻；投影片只留欄位名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0624" y="987552"/>
          <a:ext cx="11356848" cy="5431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846320"/>
                <a:gridCol w="4407408"/>
              </a:tblGrid>
              <a:tr h="40233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規則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欄位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門檻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628649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R1</a:t>
                      </a: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過保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保固到期日、延保狀態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到期前 90 天未購延保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628649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R2</a:t>
                      </a: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價格負面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工單估價與實收、拒絕估價項目、滿意度價格題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連續 2 次拒絕估價項目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628649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R3</a:t>
                      </a: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找出口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回廠間隔、預約取消、App 查據點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逾期超過建議週期 1.5 倍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628649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R4</a:t>
                      </a: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自理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自備零件或機油註記、換油套餐、工單金額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金額較前次下降超過 40%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628649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R5</a:t>
                      </a: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零件等料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待料天數、改期次數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待料超過 7 天，或同車至少 2 次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628649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R6</a:t>
                      </a: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品質失望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同項目重複進廠、技術客訴、召回未完成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30 天內同項目回廠至少 2 次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628649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R7</a:t>
                      </a: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已離開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無工單、過戶或退出會員、App 未開啟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12 個月無工單（只驗證，不觸發）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628649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R8</a:t>
                      </a: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帶人走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NPS、客訴紀錄、推薦計畫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NPS 0–6，且 12 個月內有客訴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A5 客訴回訪話術（不計入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來源：客訴關懷策略、話術範例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客訴結案第 7 天回訪，不推銷、不要求刪評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11356848" cy="2660903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78992"/>
            <a:ext cx="11100816" cy="247802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品質失望派 × 客訴結案後 7 天回訪　專員電話腳本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引用條目　20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我是上次為您服務的專員。很抱歉先前維修的狀況讓您費心了，想跟您確認，愛車修好後，同樣的狀況是否還有再出現？如果有，請直接找我，我會協助安排後續確認。您也可以預約全年免費的尊榮安檢，協助確認目前車況；後續有任何狀況，都可以由我作為您的服務窗口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查核結果　通過；supported 1/1；重生成 0 次；生成次數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3758183"/>
            <a:ext cx="11356848" cy="2660903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849623"/>
            <a:ext cx="11100816" cy="247802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口碑建議者 × 客訴結案後 7 天回訪　LINE 一對一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引用條目　65、73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您好，感謝您提出意見，讓我們有機會檢視服務。後續改善為【改善做法，由專員填入】。若仍有疑問，您可聯絡服務專員、Lexus LINE 官方帳號的 AI 客服，或免付費專線 0800-036-036 反映；預約可於入廠前一日完成。也歡迎您回覆目前的感受，我們會持續聆聽。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查核結果　通過；supported 1/1；重生成 0 次；生成次數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2022-06-08T04:50:33Z</dcterms:created>
  <dc:creator>Ariel wang</dc:creator>
</cp:coreProperties>
</file>