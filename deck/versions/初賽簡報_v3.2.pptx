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  提案概述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  目標對象與痛點分析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  解決方案設計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0556" y="98755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1996" y="106070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  AI 應用方法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  獨特優勢與差異化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7268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8708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  預期效益與落地評估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542032"/>
            <a:ext cx="2756916" cy="14447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2592324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  附錄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133088"/>
            <a:ext cx="5623560" cy="228599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4224528"/>
            <a:ext cx="5367528" cy="213969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頁（第 18 頁為附錄 A0）。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11556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11064240" cy="10424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　論壇發言者流失率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χ²=99.5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  18.2%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PTT  14.1%</a:t>
            </a: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　Dcard  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194560"/>
            <a:ext cx="5623560" cy="42245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49424"/>
            <a:ext cx="542239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52928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 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730752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 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08575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 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86399"/>
            <a:ext cx="5422392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 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075688"/>
            <a:ext cx="6903720" cy="99669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30552"/>
            <a:ext cx="6665976" cy="90525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34071" y="987552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1" y="1024128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1" y="1706880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1" y="1743456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1" y="2426208"/>
            <a:ext cx="4343400" cy="6461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2462784"/>
            <a:ext cx="4197096" cy="59131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163824"/>
            <a:ext cx="11356848" cy="325526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200400"/>
            <a:ext cx="11137392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0352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474720"/>
            <a:ext cx="3627120" cy="9875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7200" y="3529584"/>
            <a:ext cx="351739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498848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73659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773168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303520"/>
            <a:ext cx="201168" cy="201168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541264"/>
            <a:ext cx="11100816" cy="51206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559551"/>
            <a:ext cx="10954512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42615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pic>
        <p:nvPicPr>
          <p:cNvPr id="14" name="Picture 1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61704" y="1024128"/>
            <a:ext cx="2679191" cy="7863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pic>
        <p:nvPicPr>
          <p:cNvPr id="14" name="Picture 13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901952"/>
            <a:ext cx="11356848" cy="384667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803490"/>
            <a:ext cx="11356848" cy="61559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840066"/>
            <a:ext cx="11137392" cy="56073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124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1242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926080"/>
            <a:ext cx="11356848" cy="60350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962656"/>
            <a:ext cx="111373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5844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602736"/>
            <a:ext cx="1113739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pic>
        <p:nvPicPr>
          <p:cNvPr id="12" name="Picture 11" descr="F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4005072"/>
            <a:ext cx="11356848" cy="2271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499616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36192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499616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536192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63624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6577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7161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" y="26517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3347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24128"/>
            <a:ext cx="2660903" cy="12070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322576"/>
            <a:ext cx="11356848" cy="320556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624" y="5998464"/>
            <a:ext cx="11356848" cy="4206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035040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pic>
        <p:nvPicPr>
          <p:cNvPr id="6" name="Picture 5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56" y="987552"/>
            <a:ext cx="9747183" cy="2240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282696"/>
            <a:ext cx="11356848" cy="4389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19272"/>
            <a:ext cx="11155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0624" y="3776472"/>
          <a:ext cx="11356848" cy="2258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5095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25095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0624" y="6053327"/>
            <a:ext cx="11356848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2816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52544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987552"/>
            <a:ext cx="3712463" cy="19659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060704"/>
            <a:ext cx="3511295" cy="18562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063240"/>
            <a:ext cx="5623560" cy="196596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3136392"/>
            <a:ext cx="5367528" cy="183794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138928"/>
            <a:ext cx="11356848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93792"/>
            <a:ext cx="1111910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066544"/>
            <a:ext cx="5623560" cy="530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103120"/>
            <a:ext cx="5394960" cy="45719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6093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042416"/>
            <a:ext cx="5230368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2157984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57984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19456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59" y="2157984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65791" y="2157984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1" y="2194560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3433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3091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2748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24912"/>
            <a:ext cx="2198217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52406" y="2779776"/>
            <a:ext cx="2070201" cy="23042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94959"/>
            <a:ext cx="11356848" cy="10241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449823"/>
            <a:ext cx="11155680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249424"/>
            <a:ext cx="562356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04288"/>
            <a:ext cx="5385816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493008"/>
          <a:ext cx="11356848" cy="292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8521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8521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25372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253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705855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779007"/>
            <a:ext cx="1106424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55648"/>
            <a:ext cx="489204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10512"/>
            <a:ext cx="4690872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523744"/>
            <a:ext cx="4892040" cy="9875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78608"/>
            <a:ext cx="4690872" cy="8961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3584448"/>
            <a:ext cx="4892040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639312"/>
            <a:ext cx="4690872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4334256"/>
            <a:ext cx="4892040" cy="1170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389120"/>
            <a:ext cx="4690872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1965960"/>
                <a:gridCol w="2880360"/>
                <a:gridCol w="777240"/>
              </a:tblGrid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90525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25296"/>
          <a:ext cx="11356848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7490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7490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3108960"/>
            <a:ext cx="11356848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346704"/>
            <a:ext cx="11356848" cy="13533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11100816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1393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880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0569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5433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 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3884" y="4773168"/>
            <a:ext cx="2183587" cy="135331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748" y="4828032"/>
            <a:ext cx="2073859" cy="12618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 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月重評 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6163055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444" y="987552"/>
            <a:ext cx="10163206" cy="38770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4937759"/>
            <a:ext cx="11356848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4937759"/>
            <a:ext cx="11356848" cy="329184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4956047"/>
            <a:ext cx="11173968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321807"/>
            <a:ext cx="393192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4496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96728" y="5376671"/>
            <a:ext cx="123444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96728" y="5413247"/>
            <a:ext cx="123444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350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97680"/>
                <a:gridCol w="4727448"/>
              </a:tblGrid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38208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820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F2　論壇發言者流失率。　Mobile01 18.2%、PTT 14.1%、Dcard 6.8%。母體是論壇發言者，χ²=99.5。</a:t>
            </a:r>
          </a:p>
        </p:txBody>
      </p:sp>
      <p:pic>
        <p:nvPicPr>
          <p:cNvPr id="9" name="Picture 8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40" y="3621024"/>
            <a:ext cx="11000815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F4　發言者風險分布。　高風險發言者 1,049 人（16.4%）；約八成在低風險。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pic>
        <p:nvPicPr>
          <p:cNvPr id="6" name="Picture 5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40" y="987552"/>
            <a:ext cx="11000815" cy="20848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145536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F6　校準曲線。　最高信心桶 n=71，實際流失 68%。高分仍偏高，方向對。</a:t>
            </a:r>
          </a:p>
        </p:txBody>
      </p:sp>
      <p:pic>
        <p:nvPicPr>
          <p:cNvPr id="9" name="Picture 8" descr="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46" y="3621024"/>
            <a:ext cx="10551802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0624" y="574243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5779008"/>
            <a:ext cx="111556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F9　季趨勢預警。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 過保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 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 找出口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 零件等料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 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 已離開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36576" marB="27432">
                    <a:solidFill>
                      <a:srgbClr val="F4F7FB"/>
                    </a:solidFill>
                  </a:tcPr>
                </a:tc>
              </a:tr>
              <a:tr h="5943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 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7"/>
            <a:ext cx="11119104" cy="25694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