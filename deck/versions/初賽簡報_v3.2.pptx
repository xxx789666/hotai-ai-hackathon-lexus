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摘要給評審三層目標：回廠率假設加十點，核准八成，模型每季重驗。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大綱列出六個章節與頁碼，並標示兩大產出各落在哪幾頁。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提案分成兩份產出：一份輿情洞察，一份對準四種客群的溝通。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三個前兆並行，不是依序發生：過保、刪項、間隔拉長。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零件勝算比二點五八、價格二點六四，分母兩萬一千句。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長句門檻是Q3+1.5×IQR，超過78字只標記。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八層對到雙迴路：上面是產出一，下面是產出二，審核後才投遞。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分群只獨立支持靜默出走者；其餘 Persona（客群輪廓）用規則定義。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高風險七成四真有流失句；過保精算派人最多，平均風險也最高。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人工兩人 κ 0.40，不一致處要經仲裁後才成為金標。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r4 原值 P 0.617、R 0.769、κ 0.642。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四種人配三種進廠時機，十二則已過查核，投遞前仍要人工審。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人工篩選工時省九成以上（估），五項風險都已有對策。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每季三百句金標、兩人共五小時，審核回饋持續再訓練。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左邊是兩個迴路；右邊審核佇列是線框，決賽再給可操作版。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附錄術語表：每個名詞一句定義、一句本案用法，評審追問時翻這頁。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附錄前兩張圖：三站發言者流失率，以及高中低風險分布。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附錄後兩張圖：校準曲線五個信心桶，以及季趨勢預警。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附錄待料通知兩則：進度不承諾到貨日，代步車只照知識庫條件。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CRM 八條規則的門檻列在本頁，投影片只留欄位名稱。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客訴結案七天回訪兩則：電話先道歉，LINE 不要求刪評。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 sz="4400" b="1"/>
              <a:t>Lexus車主流失預警與 AI 溝通系統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 和泰 AI 黑客松｜AI 流失風險洞察與智慧溝通：打造Lexus車主忠誠度的終極防線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800"/>
              <a:t>團隊：回廠率研究所</a:t>
            </a:r>
          </a:p>
          <a:p>
            <a:r>
              <a:rPr sz="1800"/>
              <a:t>初賽提案簡報（v2，2026-10）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919472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回廠率研究所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Lexus車主流失預警與 AI 溝通系統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AI 流失風險洞察與智慧溝通：打造Lexus車主忠誠度的終極防線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B"/>
                    </a:solidFill>
                  </a:tcPr>
                </a:tc>
              </a:tr>
              <a:tr h="117043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Persona（客群輪廓）。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決策模型即時給出流失機率與可解釋規則，發言者層級高／中／低分級。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Persona（客群輪廓）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B"/>
                    </a:solidFill>
                  </a:tcPr>
                </a:tc>
              </a:tr>
              <a:tr h="117043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成果：高風險車主 12 個月回廠率提升 10 個百分點（假設值，導入後以基期實測校正）。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流程：高風險名單每月更新、話術人工核准率 ≥ 80%。高風險名單人工篩選工時 −90% 以上（估）。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模型：隨機層 F1 ≥ 0.8、κ ≥ 0.6，每季 300 句人工金標重驗。每句 0.7 秒、零 API 費。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大綱（計入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來源：本簡報章節；兩大產出依企業挑戰題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六個章節、兩大產出，對照頁碼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56916" cy="14447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60704"/>
            <a:ext cx="2592324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  提案概述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4 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產出 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21,183 句；186 句沒抱怨就走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87268" y="987552"/>
            <a:ext cx="2756916" cy="14447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8708" y="1060704"/>
            <a:ext cx="2592324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2  目標對象與痛點分析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5–8 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產出 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 17.3%；一般外廠 736 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987552"/>
            <a:ext cx="2756916" cy="14447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5352" y="1060704"/>
            <a:ext cx="2592324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3  解決方案設計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9–11 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產出 1＋2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雙迴路、511 人、高風險 74%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20556" y="987552"/>
            <a:ext cx="2756916" cy="14447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11996" y="1060704"/>
            <a:ext cx="2592324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4  AI 應用方法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12–13 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產出 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兩段式 98.4%；r4 F1 0.685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2542032"/>
            <a:ext cx="2756916" cy="14447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2592324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5  獨特優勢與差異化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14 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支撐兩份產出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128 位靜默出走者看得到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7268" y="2542032"/>
            <a:ext cx="2756916" cy="14447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78708" y="2615184"/>
            <a:ext cx="2592324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6  預期效益與落地評估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15–17 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產出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則主表＋4 則附錄已查核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2542032"/>
            <a:ext cx="2756916" cy="14447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2615184"/>
            <a:ext cx="2592324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附  附錄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18–24 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不計入 15 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補充資料、術語、圖表與話術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4133088"/>
            <a:ext cx="5623560" cy="2285999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224528"/>
            <a:ext cx="5367528" cy="213969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產出 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AI 網路輿情洞察系統架構與報告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客群 Persona、高風險議題、市場輿情、AI 技術／模型。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落在第 4–13 頁。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21,183 句、四種流失 Persona、r4 F1 0.685。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 1,049 人，74% 真有流失句。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4133088"/>
            <a:ext cx="5623560" cy="2285999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81928" y="4224528"/>
            <a:ext cx="5367528" cy="213969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產出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針對目標 Persona（客群輪廓）的 AI 溝通計畫與系統流程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核心溝通策略、AI 生成內容、接觸點、運作流程圖。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落在第 9、15–18、22–24 頁（第 18 頁為附錄 A0）。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則主表＋4 則附錄已查核。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待料 A3、門檻 A4、客訴 A5。人工核准才發。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來源：企業挑戰題、統計檢定報告（T7）、殘餘切分報告（T3）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提案是兩份產出：輿情洞察，以及對準客群的溝通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1115568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1064240" cy="10424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為什麼要做</a:t>
            </a: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　　論壇發言者流失率</a:t>
            </a:r>
            <a:r>
              <a:rPr sz="15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　　χ²=99.5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Mobile01  18.2%</a:t>
            </a: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　　PTT  14.1%</a:t>
            </a: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　　Dcard  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1,671 句流失中，186 句沒抱怨就找出口。母體是論壇發言者，不是全體車主。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194560"/>
            <a:ext cx="5623560" cy="4224527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249424"/>
            <a:ext cx="5422392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產出 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AI 網路輿情洞察系統架構與報告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852928"/>
            <a:ext cx="5422392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 客群 Persona（客群輪廓）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四種流失樣貌；過保精算派 511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10 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730752"/>
            <a:ext cx="5422392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 高風險議題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 17.3%、價格 15.0%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6 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4608575"/>
            <a:ext cx="5422392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 整體市場輿情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售後語料 21,183 句；186 句沒抱怨就走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8 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5486399"/>
            <a:ext cx="5422392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 AI 技術／模型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r4 本機模型 F1 0.685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9、13 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194560"/>
            <a:ext cx="5623560" cy="4224527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249424"/>
            <a:ext cx="5422392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產出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針對目標 Persona（客群輪廓）的 AI 溝通計畫與系統流程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52928"/>
            <a:ext cx="5422392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 核心溝通策略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對的人、對的時機開口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15 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730752"/>
            <a:ext cx="5422392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 AI 生成內容範例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則主表已對 76 條條款查核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15 頁；附錄 A3、A5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608575"/>
            <a:ext cx="5422392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 精準接觸點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保固前 60 天、間隔拉長、刪項後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15 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486399"/>
            <a:ext cx="5422392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 運作流程圖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洞察與溝通雙迴路，人工核准才發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第 9、18 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來源：統計檢定（T7）、專案架構、風險報告（T10）；門檻見附錄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售後是人走了才知道；輿情能提前預警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6903720" cy="99669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6"/>
            <a:ext cx="6665976" cy="90525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只靠客訴與回廠紀錄，人流失之後才知道。1,671 句裡 186 句沒抱怨就找出口。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使用者是售後決策者與服務廠客戶關係人員。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075688"/>
            <a:ext cx="6903720" cy="99669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6665976" cy="90525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三個訊號並行。到期前 90 天進名單，第 60 天再開口。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CRM，在離開原廠之前先辨識。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34071" y="987552"/>
            <a:ext cx="4343400" cy="64617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5511" y="1024128"/>
            <a:ext cx="4197096" cy="59131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到期前先找到人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34071" y="1706880"/>
            <a:ext cx="4343400" cy="64617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25511" y="1743456"/>
            <a:ext cx="4197096" cy="59131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刪項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回廠時再問一次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34071" y="2426208"/>
            <a:ext cx="4343400" cy="64617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5511" y="2462784"/>
            <a:ext cx="4197096" cy="59131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間隔拉長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超過週期就提醒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3163824"/>
            <a:ext cx="11356848" cy="3255263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200400"/>
            <a:ext cx="11137392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三個前兆並排，匯流後才是離開；資料沒有先後順序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74720"/>
            <a:ext cx="3627120" cy="98755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3529584"/>
            <a:ext cx="3517392" cy="896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過保 62 句、保固內 17 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觸發：到期前 90 天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261616" y="4498848"/>
            <a:ext cx="201168" cy="201168"/>
          </a:xfrm>
          <a:prstGeom prst="downArrow">
            <a:avLst/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285488" y="3474720"/>
            <a:ext cx="3627120" cy="98755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0352" y="3529584"/>
            <a:ext cx="3517392" cy="896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刪項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連續 2 次拒項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拒絕估價項目就列管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98464" y="4498848"/>
            <a:ext cx="201168" cy="201168"/>
          </a:xfrm>
          <a:prstGeom prst="downArrow">
            <a:avLst/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22336" y="3474720"/>
            <a:ext cx="3627120" cy="98755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7200" y="3529584"/>
            <a:ext cx="3517392" cy="896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間隔拉長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逾期超過建議週期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1.5 倍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9735312" y="4498848"/>
            <a:ext cx="201168" cy="201168"/>
          </a:xfrm>
          <a:prstGeom prst="downArrow">
            <a:avLst/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4736592"/>
            <a:ext cx="11100816" cy="53035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4773168"/>
            <a:ext cx="10954512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離開原廠</a:t>
            </a: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　　人走了才知道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98464" y="5303520"/>
            <a:ext cx="201168" cy="201168"/>
          </a:xfrm>
          <a:prstGeom prst="downArrow">
            <a:avLst/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48640" y="5541264"/>
            <a:ext cx="11100816" cy="512064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5559551"/>
            <a:ext cx="10954512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一般外廠　736 句</a:t>
            </a: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　　可複選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來源：統計檢定報告（T7）；圖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等料和價格送走人；態度抱怨多，卻少有人走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70632" cy="84124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024128"/>
            <a:ext cx="2642615" cy="7863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17.3%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82696" y="987552"/>
            <a:ext cx="2770632" cy="84124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024128"/>
            <a:ext cx="2642615" cy="7863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價格次高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987552"/>
            <a:ext cx="2770632" cy="84124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024128"/>
            <a:ext cx="2642615" cy="7863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1.4%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銷售交車最低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987552"/>
            <a:ext cx="2770632" cy="84124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1024128"/>
            <a:ext cx="2642615" cy="7863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61%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態度負面；流失 4.7%</a:t>
            </a:r>
          </a:p>
        </p:txBody>
      </p:sp>
      <p:pic>
        <p:nvPicPr>
          <p:cNvPr id="14" name="Picture 13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1901952"/>
            <a:ext cx="11356848" cy="384667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20624" y="5803490"/>
            <a:ext cx="11356848" cy="615597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5840066"/>
            <a:ext cx="11137392" cy="56073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對應接觸點：待料通知（R5），話術見附錄 A3。零件勝算比 2.58、價格 2.64，分母 21,183 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Persona（客群輪廓）報告（T10）、專案架構、知識庫價格摘錄（T11）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出口是一般外廠；過保後價差把人推走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70632" cy="84124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024128"/>
            <a:ext cx="2679191" cy="7863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736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一般外廠（句）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82696" y="987552"/>
            <a:ext cx="2770632" cy="84124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024128"/>
            <a:ext cx="2679191" cy="7863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234／135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自備料／DIY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987552"/>
            <a:ext cx="2770632" cy="84124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1" y="1024128"/>
            <a:ext cx="2679191" cy="7863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62／17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過保／保固內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987552"/>
            <a:ext cx="2770632" cy="84124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1704" y="1024128"/>
            <a:ext cx="2679191" cy="7863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9,000／3,500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定保口述價</a:t>
            </a:r>
          </a:p>
        </p:txBody>
      </p:sp>
      <p:pic>
        <p:nvPicPr>
          <p:cNvPr id="14" name="Picture 13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1901952"/>
            <a:ext cx="11356848" cy="384667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20624" y="5803490"/>
            <a:ext cx="11356848" cy="615597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5840066"/>
            <a:ext cx="11137392" cy="56073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去向可複選，母體 1,671 句流失。定保價是論壇口述中位數，原廠 9,000、外廠 3,500，不是公告價。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來源：資料品質與去識別（T7）、趨勢報告（T15）；圖 F9_pipeline。季趨勢圖見附錄 A2b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2.1 萬句售後語料，品質過關、全數去識別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1242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124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1242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20624" y="2926080"/>
            <a:ext cx="11356848" cy="603504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962656"/>
            <a:ext cx="11137392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次，抽查 50 句（seed 42）漏網 0。超過 78 字的長句占 7.77%，只標記、不刪除。21,183 句仍全部進入標註。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584448"/>
            <a:ext cx="11356848" cy="36576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602736"/>
            <a:ext cx="11137392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整體輿情：2026Q3 流失率 4.2%，上季 5.3%，去年同季 10.9%（至 9/19）。佐證見附錄 A2b 的 F9。</a:t>
            </a:r>
          </a:p>
        </p:txBody>
      </p:sp>
      <p:pic>
        <p:nvPicPr>
          <p:cNvPr id="12" name="Picture 11" descr="F9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4005072"/>
            <a:ext cx="11356848" cy="22713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來源：L7 運作流程、專案架構；圖 F8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洞察每日產出；關懷由事件觸發、人工核准才發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1517904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33272"/>
            <a:ext cx="1117396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產出 1：AI 網路輿情洞察系統架構與報告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252728"/>
            <a:ext cx="1117396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洞察迴路｜每日排程：新留言 → 標註與風險 → 日報 →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" y="1499616"/>
            <a:ext cx="1335024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536192"/>
            <a:ext cx="1298448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論壇爬蟲</a:t>
            </a:r>
          </a:p>
          <a:p>
            <a:pPr algn="ctr">
              <a:lnSpc>
                <a:spcPct val="100000"/>
              </a:lnSpc>
              <a:spcBef>
                <a:spcPts val="847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每日抓新留言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三站公開論壇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16736" y="1563624"/>
            <a:ext cx="384048" cy="219456"/>
          </a:xfrm>
          <a:prstGeom prst="roundRect">
            <a:avLst>
              <a:gd name="adj" fmla="val 30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L0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088" y="1499616"/>
            <a:ext cx="1591056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65376" y="1536192"/>
            <a:ext cx="1554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去重・去識別</a:t>
            </a:r>
          </a:p>
          <a:p>
            <a:pPr algn="ctr">
              <a:lnSpc>
                <a:spcPct val="100000"/>
              </a:lnSpc>
              <a:spcBef>
                <a:spcPts val="847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作者雜湊、店名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人名遮蔽（L1）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9232" y="1563624"/>
            <a:ext cx="384048" cy="219456"/>
          </a:xfrm>
          <a:prstGeom prst="roundRect">
            <a:avLst>
              <a:gd name="adj" fmla="val 30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L1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9584" y="1499616"/>
            <a:ext cx="1536192" cy="969264"/>
          </a:xfrm>
          <a:prstGeom prst="roundRect">
            <a:avLst>
              <a:gd name="adj" fmla="val 8000"/>
            </a:avLst>
          </a:prstGeom>
          <a:solidFill>
            <a:srgbClr val="F6EFE3"/>
          </a:solidFill>
          <a:ln w="15875">
            <a:solidFill>
              <a:srgbClr val="8A6D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1536192"/>
            <a:ext cx="1499616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資料庫 B</a:t>
            </a:r>
          </a:p>
          <a:p>
            <a:pPr algn="ctr">
              <a:lnSpc>
                <a:spcPct val="100000"/>
              </a:lnSpc>
              <a:spcBef>
                <a:spcPts val="847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原始輿情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去識別版，可溯源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26864" y="1563624"/>
            <a:ext cx="384048" cy="219456"/>
          </a:xfrm>
          <a:prstGeom prst="roundRect">
            <a:avLst>
              <a:gd name="adj" fmla="val 30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L2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1499616"/>
            <a:ext cx="1828800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75504" y="1536192"/>
            <a:ext cx="1792224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流失判斷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r4 逐句判流失、面向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→ 風險分數 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Persona（客群輪廓）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1563624"/>
            <a:ext cx="841248" cy="219456"/>
          </a:xfrm>
          <a:prstGeom prst="roundRect">
            <a:avLst>
              <a:gd name="adj" fmla="val 30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L3·L4·L5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77456" y="1499616"/>
            <a:ext cx="1792224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1536192"/>
            <a:ext cx="1755648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洞察報告</a:t>
            </a:r>
          </a:p>
          <a:p>
            <a:pPr algn="ctr">
              <a:lnSpc>
                <a:spcPct val="100000"/>
              </a:lnSpc>
              <a:spcBef>
                <a:spcPts val="847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日報・週報・季報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趨勢分析、200% 預警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1499616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6EFE3"/>
          </a:solidFill>
          <a:ln w="15875">
            <a:solidFill>
              <a:srgbClr val="8A6D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9408" y="1536192"/>
            <a:ext cx="1261872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資料庫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報告池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日／週／季報、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預警紀錄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51008" y="1499616"/>
            <a:ext cx="1426464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69296" y="1536192"/>
            <a:ext cx="1389888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Dashboard 1–3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1 戰情總覽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2 報告池・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3 原始輿情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55648" y="1956816"/>
            <a:ext cx="91440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38144" y="1956816"/>
            <a:ext cx="91440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65776" y="1956816"/>
            <a:ext cx="91440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86016" y="1956816"/>
            <a:ext cx="91440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869680" y="1956816"/>
            <a:ext cx="91439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259568" y="1956816"/>
            <a:ext cx="91440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20624" y="2798064"/>
            <a:ext cx="11356848" cy="2761488"/>
          </a:xfrm>
          <a:prstGeom prst="roundRect">
            <a:avLst>
              <a:gd name="adj" fmla="val 8000"/>
            </a:avLst>
          </a:prstGeom>
          <a:solidFill>
            <a:srgbClr val="FB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071616" y="2468880"/>
            <a:ext cx="0" cy="182880"/>
          </a:xfrm>
          <a:prstGeom prst="line">
            <a:avLst/>
          </a:prstGeom>
          <a:ln w="15875">
            <a:solidFill>
              <a:srgbClr val="5C65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512064" y="2651760"/>
            <a:ext cx="5559552" cy="0"/>
          </a:xfrm>
          <a:prstGeom prst="line">
            <a:avLst/>
          </a:prstGeom>
          <a:ln w="15875">
            <a:solidFill>
              <a:srgbClr val="5C65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12064" y="2651760"/>
            <a:ext cx="0" cy="932688"/>
          </a:xfrm>
          <a:prstGeom prst="line">
            <a:avLst/>
          </a:prstGeom>
          <a:ln w="15875">
            <a:solidFill>
              <a:srgbClr val="5C65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12064" y="3584448"/>
            <a:ext cx="109728" cy="0"/>
          </a:xfrm>
          <a:prstGeom prst="line">
            <a:avLst/>
          </a:prstGeom>
          <a:ln w="15875">
            <a:solidFill>
              <a:srgbClr val="5C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633472" y="2532888"/>
            <a:ext cx="1645920" cy="237744"/>
          </a:xfrm>
          <a:prstGeom prst="rect">
            <a:avLst/>
          </a:prstGeom>
          <a:solidFill>
            <a:srgbClr val="FFFFFF"/>
          </a:solidFill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570"/>
                </a:solidFill>
                <a:latin typeface="Arial"/>
                <a:ea typeface="微軟正黑體"/>
                <a:cs typeface="Arial"/>
              </a:rPr>
              <a:t>風險升為高 → 觸發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2843784"/>
            <a:ext cx="11027664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392B"/>
                </a:solidFill>
                <a:latin typeface="Arial"/>
                <a:ea typeface="微軟正黑體"/>
                <a:cs typeface="Arial"/>
              </a:rPr>
              <a:t>產出 2：針對目標 Persona（客群輪廓）的 AI 溝通計畫與系統流程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3063240"/>
            <a:ext cx="11027664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0392B"/>
                </a:solidFill>
                <a:latin typeface="Arial"/>
                <a:ea typeface="微軟正黑體"/>
                <a:cs typeface="Arial"/>
              </a:rPr>
              <a:t>溝通迴路｜事件觸發：CRM 訊號・客訴結案 → Persona（客群輪廓）→ RAG 話術 → 人工核准 → 投遞 → KPI 回饋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" y="3310128"/>
            <a:ext cx="2569464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346704"/>
            <a:ext cx="2532888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觸發事件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CRM 命中 R1–R8（含 R5 待料）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客訴結案 → 第 7 天回訪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或風險分數升為高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52344" y="3374136"/>
            <a:ext cx="384048" cy="219456"/>
          </a:xfrm>
          <a:prstGeom prst="roundRect">
            <a:avLst>
              <a:gd name="adj" fmla="val 30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L4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64408" y="3310128"/>
            <a:ext cx="1645920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82696" y="3346704"/>
            <a:ext cx="1609344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判定 Persona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（客群輪廓）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四類之一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未分類 → 觀察名單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1416" y="3374136"/>
            <a:ext cx="384048" cy="219456"/>
          </a:xfrm>
          <a:prstGeom prst="roundRect">
            <a:avLst>
              <a:gd name="adj" fmla="val 30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L5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83480" y="3310128"/>
            <a:ext cx="1874519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01768" y="3346704"/>
            <a:ext cx="1837943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RAG 生成話術</a:t>
            </a:r>
          </a:p>
          <a:p>
            <a:pPr algn="ctr">
              <a:lnSpc>
                <a:spcPct val="100000"/>
              </a:lnSpc>
              <a:spcBef>
                <a:spcPts val="847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檢索條款 → 生成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→ 第二輪事實查核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19088" y="3374136"/>
            <a:ext cx="384048" cy="219456"/>
          </a:xfrm>
          <a:prstGeom prst="roundRect">
            <a:avLst>
              <a:gd name="adj" fmla="val 30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L6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31152" y="3310128"/>
            <a:ext cx="1636776" cy="969264"/>
          </a:xfrm>
          <a:prstGeom prst="roundRect">
            <a:avLst>
              <a:gd name="adj" fmla="val 8000"/>
            </a:avLst>
          </a:prstGeom>
          <a:solidFill>
            <a:srgbClr val="F3C1BD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9440" y="3346704"/>
            <a:ext cx="16002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人工審核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Dashboard 5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審核佇列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核准或改寫才投遞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41080" y="3310128"/>
            <a:ext cx="1472184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59367" y="3346704"/>
            <a:ext cx="1435608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投遞</a:t>
            </a:r>
          </a:p>
          <a:p>
            <a:pPr algn="ctr">
              <a:lnSpc>
                <a:spcPct val="100000"/>
              </a:lnSpc>
              <a:spcBef>
                <a:spcPts val="847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LINE・App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Email・專員電話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74351" y="3374136"/>
            <a:ext cx="384048" cy="219456"/>
          </a:xfrm>
          <a:prstGeom prst="roundRect">
            <a:avLst>
              <a:gd name="adj" fmla="val 30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L7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86415" y="3310128"/>
            <a:ext cx="1591056" cy="96926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2F5D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04703" y="3346704"/>
            <a:ext cx="1554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KPI 回饋</a:t>
            </a:r>
          </a:p>
          <a:p>
            <a:pPr algn="ctr">
              <a:lnSpc>
                <a:spcPct val="100000"/>
              </a:lnSpc>
              <a:spcBef>
                <a:spcPts val="847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點擊・預約・回廠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寫回 CRM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338559" y="3374136"/>
            <a:ext cx="384048" cy="219456"/>
          </a:xfrm>
          <a:prstGeom prst="roundRect">
            <a:avLst>
              <a:gd name="adj" fmla="val 30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L7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191256" y="3767328"/>
            <a:ext cx="73152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910328" y="3767328"/>
            <a:ext cx="73152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858000" y="3767328"/>
            <a:ext cx="73152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567928" y="3767328"/>
            <a:ext cx="73152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113263" y="3767328"/>
            <a:ext cx="73152" cy="0"/>
          </a:xfrm>
          <a:prstGeom prst="line">
            <a:avLst/>
          </a:prstGeom>
          <a:ln w="19050">
            <a:solidFill>
              <a:srgbClr val="2F5D9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21792" y="4425696"/>
            <a:ext cx="2569464" cy="8961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570"/>
                </a:solidFill>
                <a:latin typeface="Arial"/>
                <a:ea typeface="微軟正黑體"/>
                <a:cs typeface="Arial"/>
              </a:rPr>
              <a:t>客訴回訪不計頻率上限；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570"/>
                </a:solidFill>
                <a:latin typeface="Arial"/>
                <a:ea typeface="微軟正黑體"/>
                <a:cs typeface="Arial"/>
              </a:rPr>
              <a:t>觀察名單車主也回訪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4425696"/>
            <a:ext cx="1645920" cy="896112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0392B"/>
                </a:solidFill>
                <a:latin typeface="Arial"/>
                <a:ea typeface="微軟正黑體"/>
                <a:cs typeface="Arial"/>
              </a:rPr>
              <a:t>回頭校正觸發門檻，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0392B"/>
                </a:solidFill>
                <a:latin typeface="Arial"/>
                <a:ea typeface="微軟正黑體"/>
                <a:cs typeface="Arial"/>
              </a:rPr>
              <a:t>再訓練 r4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83480" y="4425696"/>
            <a:ext cx="1874519" cy="896112"/>
          </a:xfrm>
          <a:prstGeom prst="roundRect">
            <a:avLst>
              <a:gd name="adj" fmla="val 8000"/>
            </a:avLst>
          </a:prstGeom>
          <a:solidFill>
            <a:srgbClr val="F6EFE3"/>
          </a:solidFill>
          <a:ln w="15875">
            <a:solidFill>
              <a:srgbClr val="8A6D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01768" y="4462272"/>
            <a:ext cx="1837943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資料庫 C</a:t>
            </a:r>
          </a:p>
          <a:p>
            <a:pPr algn="ctr">
              <a:lnSpc>
                <a:spcPct val="100000"/>
              </a:lnSpc>
              <a:spcBef>
                <a:spcPts val="847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知識庫 76 條・保固條款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Dashboard 4 可查閱</a:t>
            </a:r>
          </a:p>
        </p:txBody>
      </p:sp>
      <p:cxnSp>
        <p:nvCxnSpPr>
          <p:cNvPr id="67" name="Connector 66"/>
          <p:cNvCxnSpPr/>
          <p:nvPr/>
        </p:nvCxnSpPr>
        <p:spPr>
          <a:xfrm flipV="1">
            <a:off x="5920740" y="4279392"/>
            <a:ext cx="0" cy="146304"/>
          </a:xfrm>
          <a:prstGeom prst="line">
            <a:avLst/>
          </a:prstGeom>
          <a:ln w="19050">
            <a:solidFill>
              <a:srgbClr val="8A6D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931152" y="4425696"/>
            <a:ext cx="1636776" cy="896112"/>
          </a:xfrm>
          <a:prstGeom prst="roundRect">
            <a:avLst>
              <a:gd name="adj" fmla="val 8000"/>
            </a:avLst>
          </a:prstGeom>
          <a:solidFill>
            <a:srgbClr val="F6EFE3"/>
          </a:solidFill>
          <a:ln w="15875">
            <a:solidFill>
              <a:srgbClr val="8A6D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0" y="4462272"/>
            <a:ext cx="1600200" cy="8412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資料庫 D</a:t>
            </a:r>
          </a:p>
          <a:p>
            <a:pPr algn="ctr">
              <a:lnSpc>
                <a:spcPct val="100000"/>
              </a:lnSpc>
              <a:spcBef>
                <a:spcPts val="847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溝通佇列：草稿、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審核狀態、投遞結果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749540" y="4279392"/>
            <a:ext cx="0" cy="146304"/>
          </a:xfrm>
          <a:prstGeom prst="line">
            <a:avLst/>
          </a:prstGeom>
          <a:ln w="19050">
            <a:solidFill>
              <a:srgbClr val="8A6D3B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641080" y="4425696"/>
            <a:ext cx="2880360" cy="8961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資料庫與模型都在和泰內網，不出門；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論壇文字只作研究語料，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C4653"/>
                </a:solidFill>
                <a:latin typeface="Arial"/>
                <a:ea typeface="微軟正黑體"/>
                <a:cs typeface="Arial"/>
              </a:rPr>
              <a:t>上線後輸入改為工單與客訴文字。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1649455" y="4279392"/>
            <a:ext cx="0" cy="1115568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512064" y="5394960"/>
            <a:ext cx="11137391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12064" y="4005072"/>
            <a:ext cx="0" cy="1389888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12064" y="4005072"/>
            <a:ext cx="109728" cy="0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420624" y="5614416"/>
            <a:ext cx="1355598" cy="4754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5641848"/>
            <a:ext cx="1300734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L0</a:t>
            </a: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三站已爬完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蒐集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849374" y="5614416"/>
            <a:ext cx="1355598" cy="4754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885950" y="5641848"/>
            <a:ext cx="1300734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L1</a:t>
            </a: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切句去重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前處理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78124" y="5614416"/>
            <a:ext cx="1355598" cy="4754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314700" y="5641848"/>
            <a:ext cx="1300734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L2</a:t>
            </a: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標註入庫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標註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706874" y="5614416"/>
            <a:ext cx="1355598" cy="4754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43450" y="5641848"/>
            <a:ext cx="1300734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L3</a:t>
            </a: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只出機率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決策模型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35624" y="5614416"/>
            <a:ext cx="1355598" cy="4754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72200" y="5641848"/>
            <a:ext cx="1300734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L4</a:t>
            </a: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規則辨識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風險辨識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564374" y="5614416"/>
            <a:ext cx="1355598" cy="4754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600950" y="5641848"/>
            <a:ext cx="1300734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L5</a:t>
            </a: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四種客群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客群輪廓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993124" y="5614416"/>
            <a:ext cx="1355598" cy="4754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029700" y="5641848"/>
            <a:ext cx="1300734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L6</a:t>
            </a: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引用知識庫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RAG 生成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421874" y="5614416"/>
            <a:ext cx="1355598" cy="4754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58450" y="5641848"/>
            <a:ext cx="1300734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L7</a:t>
            </a: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核准才投遞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接觸點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20624" y="6144768"/>
            <a:ext cx="11356848" cy="27432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30352" y="6153912"/>
            <a:ext cx="11155680" cy="2560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先讀上帶產出 1（左到右），再讀下帶產出 2。外緣 L# 對下面八格。KPI 回頭校正門檻，再訓練 r4。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Persona（客群輪廓）報告（T10）；圖 F5。未分類處置見 9/30 會議記錄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四種流失車主，過保精算派最多（511 人）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70632" cy="126187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024128"/>
            <a:ext cx="2660903" cy="120700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　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82696" y="987552"/>
            <a:ext cx="2770632" cy="126187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024128"/>
            <a:ext cx="2660903" cy="120700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　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987552"/>
            <a:ext cx="2770632" cy="126187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024128"/>
            <a:ext cx="2660903" cy="120700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　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987552"/>
            <a:ext cx="2770632" cy="126187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1024128"/>
            <a:ext cx="2660903" cy="120700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　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pic>
        <p:nvPicPr>
          <p:cNvPr id="14" name="Picture 13" descr="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322576"/>
            <a:ext cx="11356848" cy="320556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20624" y="5998464"/>
            <a:ext cx="11356848" cy="420624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6035040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分母：高、中風險 1,280 人。未分類 199 人列觀察名單，不投遞。Persona 為規則定義，每項可回溯原句。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Persona（客群輪廓）報告（T10）；圖 F7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高風險車主 74% 確有流失句，分級可信</a:t>
            </a:r>
          </a:p>
        </p:txBody>
      </p:sp>
      <p:pic>
        <p:nvPicPr>
          <p:cNvPr id="6" name="Picture 5" descr="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456" y="987552"/>
            <a:ext cx="9747183" cy="2240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0624" y="3282696"/>
            <a:ext cx="11356848" cy="438912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3319272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5,114。高風險 74% 有流失句，低風險 1.8%。過保精算派 511 人，平均風險 0.73。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0624" y="3776472"/>
          <a:ext cx="11356848" cy="2258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5095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5095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保固到期日、延保狀態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25095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工單估價與實收、拒絕估價項目、滿意度價格題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5095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回廠間隔、預約取消、App 查據點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25095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自備零件或機油註記、換油套餐、工單金額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5095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待料天數、改期次數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25095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同項目重複進廠、技術客訴、召回未完成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50951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無工單、過戶或退出會員、App 未開啟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25095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NPS、客訴紀錄、推薦計畫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0624" y="6053327"/>
            <a:ext cx="11356848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CRM 欄位為業界通用假設，導入時以和泰 DMS 實際欄位替換；模型輸入由論壇文字改為工單備註與客訴文字，架構不變。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來源：專案架構、Dcard 複核報告（T1）、其他精煉報告（T2）、殘餘切分報告（T3）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兩段式標註：先寬抓、再複核，一致率 98.4%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712463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60704"/>
            <a:ext cx="3511295" cy="185623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57%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57%。先把可能流失的句子留住，不能只靠這一段初篩。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2816" y="987552"/>
            <a:ext cx="3712463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52544" y="1060704"/>
            <a:ext cx="3511295" cy="185623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3,760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句。Mobile01、PTT 用 Sonnet，Dcard 用 GPT 再看一次。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987552"/>
            <a:ext cx="3712463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1060704"/>
            <a:ext cx="3511295" cy="185623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98.4%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c≥2 一致率 98.4%。九面向標完，殘餘僅 4 句，不再另開面向。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3063240"/>
            <a:ext cx="5623560" cy="196596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136392"/>
            <a:ext cx="5367528" cy="183794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F1  0.82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本機模型，與 Sonnet 同級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人工金標 300 句。正例僅 9 句，召回區間 0.45–0.94。0.82 還不是穩定成績。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063240"/>
            <a:ext cx="5623560" cy="196596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3136392"/>
            <a:ext cx="5367528" cy="183794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F1  0.50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Haiku 零樣本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同一批人工金標。召回約 57% 不夠，所以才要兩段式，不能只靠初篩。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5138928"/>
            <a:ext cx="11356848" cy="64008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193792"/>
            <a:ext cx="11119104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九面向全量標完，殘餘僅 4 句。Haiku 單獨召回約 57%，所以第二段才複核。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正例僅 9 句，召回區間 0.45–0.94。本機 F1 0.82 還不是穩定成績。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來源：本機模型報告（T8）；校準曲線見附錄 A2b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本機小模型勝過雲端 Haiku，零 API 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623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2918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2918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0624" y="2066544"/>
            <a:ext cx="5623560" cy="5303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103120"/>
            <a:ext cx="5394960" cy="4571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句測試集比較。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校準曲線見附錄 A2b。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987552"/>
            <a:ext cx="5504688" cy="1609344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042416"/>
            <a:ext cx="523036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同一 600 句：r4 F1 0.685，高於 Haiku 的 0.58。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9088" y="2157984"/>
            <a:ext cx="960120" cy="384048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194560"/>
            <a:ext cx="9601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輸入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9208" y="2157984"/>
            <a:ext cx="256032" cy="38404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157984"/>
            <a:ext cx="1874519" cy="384048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2194560"/>
            <a:ext cx="1874519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只取下一詞機率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59" y="2157984"/>
            <a:ext cx="256032" cy="38404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65791" y="2157984"/>
            <a:ext cx="1417320" cy="384048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1" y="2194560"/>
            <a:ext cx="14173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各等級機率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" y="2724912"/>
            <a:ext cx="2198217" cy="239572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2779776"/>
            <a:ext cx="2070201" cy="23042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ETL＋弱監督標註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篩出 21,183 句售後語料。先用 Haiku 寬鬆標，再用 Sonnet 或 GPT 帶上下文複核。c≥2 一致率 98.4%，殘餘僅 4 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10281" y="2724912"/>
            <a:ext cx="2198217" cy="239572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3433" y="2779776"/>
            <a:ext cx="2070201" cy="23042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資料切分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（防洩漏）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GroupSplit 整篇排除測試 600 句。驗證 1,096 句，訓練池 9,431 句。同篇句子不進訓練，避免把成績高估。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99939" y="2724912"/>
            <a:ext cx="2198217" cy="239572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3091" y="2779776"/>
            <a:ext cx="2070201" cy="23042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任務轉換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流失四級拆成四個是非題。Prefill-only 只取下一詞在候選上的機率，不生成文字。每句約 0.7 秒，8 GB 顯卡可推，資料不出門。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89596" y="2724912"/>
            <a:ext cx="2198217" cy="239572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2748" y="2779776"/>
            <a:ext cx="2070201" cy="23042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 監督式微調 SFT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Qwen3-4B，QLoRA r=16。流失句過採樣到四成。2 epoch，8 GB 顯卡約 5 小時。只訓低秩參數，推論零 API 費。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79254" y="2724912"/>
            <a:ext cx="2198217" cy="239572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2406" y="2779776"/>
            <a:ext cx="2070201" cy="23042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 評估與校準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金標 300 句：F1 0.82、κ 0.81。另看精確率、召回與五段校準。最高信心桶 n=71、實際約 68%。曲線見附錄 A2b。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" y="5394959"/>
            <a:ext cx="11356848" cy="1024128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5449823"/>
            <a:ext cx="11155680" cy="9326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架構沿用開源 LLM2Jev。8 GB 可訓可推，推論零 API 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最高信心桶 n=71、實際約 68%（約七成），見附錄 A2b。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同一 600 句測試集：r4 F1 0.685，高於 Haiku 零樣本的 F1 0.58。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Persona（客群輪廓）報告（T10）、本機模型報告（T8）、專案架構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看得見沒抱怨就走的人，分數說得出原因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23560" cy="117043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6"/>
            <a:ext cx="5385816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</a:t>
            </a: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 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規則看替代去向，不靠客訴關鍵字。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這 128 人裡，替代有 55% 是一般外廠。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987552"/>
            <a:ext cx="5623560" cy="117043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042416"/>
            <a:ext cx="5385816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74%</a:t>
            </a: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 分數說得出原因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風險＝模型機率 ×0.6＋命中規則／8 ×0.4。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 74% 真有流失句，低風險只有 1.8%。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2249424"/>
            <a:ext cx="5623560" cy="117043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04288"/>
            <a:ext cx="5385816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0 元</a:t>
            </a: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 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Qwen3-4B，8 GB 約 5 小時，每句 0.7 秒。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測試集 F1 0.685。CRM 文字不上雲。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2249424"/>
            <a:ext cx="5623560" cy="117043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2304288"/>
            <a:ext cx="5385816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0.080</a:t>
            </a: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   只有一組被資料分開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k=4 的 ARI 0.08，四個假設沒有全被拆開。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簡報仍用可回溯原句的規則，不假裝分群已分開。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0624" y="3493008"/>
          <a:ext cx="11356848" cy="2926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017520"/>
                <a:gridCol w="6784848"/>
              </a:tblGrid>
              <a:tr h="585215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只看客訴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本案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585215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沒抱怨就走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看不到這群人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 128 人，替代 55% 到一般外廠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585215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沒有原因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機率 6 成＋規則 4 成；高 74%、低 1.8%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585215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在哪裡算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資料得出門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8 GB 本機，每句 0.7 秒，F1 0.685，API 費 0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585219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四個客群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主觀標籤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ARI 0.08；只有靜默出走者被資料獨立支持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來源：話術範例、生成與查核報告（T14）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對的人、對的時機開口；12 則話術全數查核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7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3151662"/>
                <a:gridCol w="3151662"/>
                <a:gridCol w="3151571"/>
              </a:tblGrid>
              <a:tr h="925372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Persona（客群輪廓）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925372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您好，提醒您，愛車保固即將屆滿。新車基本保證為自交車日起4年或120,000公里…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您好，提醒您留意愛車保養週期：一般使用建議每六個月回廠；若半年超過一萬公里，則建…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您好，我是服務廠專員。想提醒您，上次未同意的估價項目仍由您決定是否處理。若自費更…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925372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您好，您的保固即將屆滿，目前保證窗口仍在，可先核對新車基本保證；期限為交車日起4…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您好，提醒您，Lexus提供全年免費的尊榮安檢。一般使用建議每六個月回廠保養及檢…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您好，上次未處理的項目是否進行，仍由您決定；若想再確認車況，可預約回廠安排全年免…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925372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您好，提醒您，愛車保固即將屆滿。新車基本保證為自交車日起4年或120,000公里…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您好，提醒您可依使用頻率安排愛車保養：一般使用建議每六個月回廠；若半年超過一萬公…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您好，官方資訊可轉述給車友：自費於Lexus服務廠更換的正廠零件（消耗性零件除外…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925376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您好，提醒您，愛車保固即將屆滿。新車基本保證為自交車日起4年或行駛120,000…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您好，提醒您，可依愛車使用情況安排回廠：一般使用建議每半年實施定期保養；若半年超…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您好，若您想回廠，自費更換的正廠零件（消耗性零件除外），保證自更換日起2年或行駛…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0624" y="5705855"/>
            <a:ext cx="11356848" cy="71323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5779007"/>
            <a:ext cx="11064240" cy="6035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則對 76 條官方條款查核通過。人工核准才投遞。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十二則只列前 40 字。待料全文見附錄 A3，客訴回訪見附錄 A5。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 骨架頁、9/30 會議記錄、iPAS 導入對照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人工篩選工時省九成以上；五項風險都有對策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4892040" cy="694944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42416"/>
            <a:ext cx="4690872" cy="6035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人走了才知道。過保、刪項、間隔拉長時先找到人。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1755648"/>
            <a:ext cx="4892040" cy="694944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810512"/>
            <a:ext cx="4690872" cy="6035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判斷、分群、生成都有原型。8 條規則已對到 DMS 欄位。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2523744"/>
            <a:ext cx="48920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78608"/>
            <a:ext cx="4690872" cy="896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財務：人力成本節省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人工逐句篩 2.1 萬句約需 106 人時（估）。本機模型 4.1 小時跑完，零 API 費。人力改花在審名單與話術。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3584448"/>
            <a:ext cx="4892040" cy="676656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639312"/>
            <a:ext cx="4690872" cy="5852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五項主要風險，對策與責任人見右表。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4334256"/>
            <a:ext cx="4892040" cy="117043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389120"/>
            <a:ext cx="4690872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怎麼讀右表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技術：寫錯條款只引用 76 條並人工審；模糊句多報就當初篩。資料註明論壇母體，上線改 CRM。法規只用去識別版。客群寫成可回溯原句的規則。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40679" y="987552"/>
          <a:ext cx="6336792" cy="543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1965960"/>
                <a:gridCol w="2880360"/>
                <a:gridCol w="777240"/>
              </a:tblGrid>
              <a:tr h="905256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層別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責任人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技術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生成內容寫錯價格或保固條款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只引用 76 條知識庫、數字逐字比對、人工審核必經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技術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模型在模糊句多報（困難層 F1 ≤ 0.51，精確率 0.34）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定位成「初篩＋人工複核」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資料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論壇代表性（正例 67% 來自 Mobile01，母體是論壇發言者）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分析頁註明母體與來源構成；上線改用 CRM 資料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B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法規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去識別流程，簡報與 Demo 只用去識別版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組織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Persona（客群輪廓）被質疑主觀（ARI 0.08）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寫成「規則定義、每項可回溯原句」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B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 骨架頁、9/30 會議記錄；模型現況見人工評估（T9）與本機模型報告（T8）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24 週導入，目標高風險回廠率 +10 個百分點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11356848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層級對照 iPAS：成果＝業務、流程＝應用、模型＝系統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0624" y="1225296"/>
          <a:ext cx="11356848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246120"/>
                <a:gridCol w="3520440"/>
                <a:gridCol w="3538728"/>
              </a:tblGrid>
              <a:tr h="374903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74903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成果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高風險車主 12 個月回廠率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導入後建立基期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提升 10 個百分點＊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74903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高風險名單更新頻率；話術人工核准率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名單一次性產出；12 則主表＋4 則附錄已查核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每月更新；核准率 ≥ 80%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74903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高風險名單人工篩選工時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人工約 106 人時 → 模型 4.1 小時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−90% 以上（估）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7490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隨機層 F1、κ；每句判斷時間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0.82、κ 0.81；0.7 秒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≥ 0.8、κ ≥ 0.6，每季 300 句人工金標重驗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3108960"/>
            <a:ext cx="11356848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＊假設值，導入後以基期實測校正。模型現況用隨機層人工金標，與目標同一把尺。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" y="3346704"/>
            <a:ext cx="11356848" cy="135331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01568"/>
            <a:ext cx="11100816" cy="12618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數據護城河：三項資產，全部留在和泰內網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語料：2.1 萬句標註＋300 句人工金標。每季重標，審核回饋持續再訓練。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模型：自有 4B 模型，8 GB 顯卡 5 小時可重訓。推論零 API 費，資料不出門。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知識庫：76 條官方條款＋每則話術查核紀錄。價格與保固只引用這 76 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" y="4773168"/>
            <a:ext cx="2183587" cy="135331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4828032"/>
            <a:ext cx="2073859" cy="126187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資料接入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週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R1–R8 換成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DMS 實際欄位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工單去識別後接入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13939" y="4773168"/>
            <a:ext cx="2183587" cy="135331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8803" y="4828032"/>
            <a:ext cx="2073859" cy="126187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模型校準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週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重標 300 句金標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重驗 r4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再調觸發門檻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254" y="4773168"/>
            <a:ext cx="2183587" cy="135331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2118" y="4828032"/>
            <a:ext cx="2073859" cy="126187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單一據點試行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 週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一個服務廠跑完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專員審核後投遞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未核准不發出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73168"/>
            <a:ext cx="2183587" cy="135331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5433" y="4828032"/>
            <a:ext cx="2073859" cy="126187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  擴大至全台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 週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依試行調話術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與渠道分批上線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不一次開全台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93884" y="4773168"/>
            <a:ext cx="2183587" cy="135331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48748" y="4828032"/>
            <a:ext cx="2073859" cy="126187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  持續監控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不設終點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日監控、週收樣本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月重評 Persona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季重驗模型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" y="6163055"/>
            <a:ext cx="11356848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合計約 24 週（持續監控不設終點）。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A0 補充資料（不計入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來源：L7 運作流程；圖 F8。線框為示意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每則話術都經人工核准；決賽提供可操作版</a:t>
            </a:r>
          </a:p>
        </p:txBody>
      </p:sp>
      <p:pic>
        <p:nvPicPr>
          <p:cNvPr id="6" name="Picture 5" descr="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444" y="987552"/>
            <a:ext cx="10163206" cy="3877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0624" y="4937759"/>
            <a:ext cx="11356848" cy="148132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5875"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" y="4937759"/>
            <a:ext cx="11356848" cy="329184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4956047"/>
            <a:ext cx="11173968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Dashboard 5　溝通審核佇列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21807"/>
            <a:ext cx="3931920" cy="6035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車主 H-7F3A　風險 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Persona　過保精算派　觸發 R1 過保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話術草稿　引用條目 41、52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4968" y="5376671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5413247"/>
            <a:ext cx="1234440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核准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0848" y="5376671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5413247"/>
            <a:ext cx="1234440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改寫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96728" y="5376671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C05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96728" y="5413247"/>
            <a:ext cx="1234440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退回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035040"/>
            <a:ext cx="11064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未核准不投遞。決賽再給可操作版。代號為示意，不是論壇帳號。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A1 術語表（不計入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來源：本機模型報告（T8）、人工評估（T9）、風險與 Persona（客群輪廓）報告（T10）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本案用到的技術名詞：定義與在本案的用法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4297680"/>
                <a:gridCol w="4727448"/>
              </a:tblGrid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名詞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定義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本案用法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ETL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Extract-Transform-Load：擷取、清洗轉換、載入。與 ELT（先載入再轉換）不同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爬蟲擷取→去重、切句、售後關鍵詞篩選→寫入 jsonl；23.6 萬句留 21,183 句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弱監督標註（LLM-as-labeler）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用模型而非人工產生訓練標籤，事後以人工樣本驗證品質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初篩＋Sonnet／GPT 帶上下文複核；人工 300 句驗證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監督式學習／監督式微調 SFT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用「輸入＋正確答案」訓練；SFT 是在預訓練模型上以標籤資料微調，非從零訓練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以 21,183 句 LLM 標籤微調 Qwen3-4B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QLoRA（NF4 4-bit、LoRA r=16）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把基底模型量化成 4 位元，只訓練低秩附加參數，省顯存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8 GB 顯卡 5 小時完成；adapter 約數十 MB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GroupSplit／資料洩漏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依群組（文章）切分訓練與測試，避免同篇句子兩邊都出現而高估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600 句測試集所在 421 篇整篇排除訓練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類別不平衡／過採樣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正例太少時重複抽樣正例，避免模型全猜負例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7.9% → 訓練時提高到四成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Prefill-only（System-One 決策）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只讀 prompt 取下一個 token 在候選選項上的機率，不生成文字，快且可控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流失四級與立場各成 yes/no 候選題；每句 0.7 秒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Precision／Recall／F1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報流失的句子有多少是真的／真的流失有多少被抓到／兩者調和平均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 隨機層 P 0.88、R 0.78、F1 0.82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Cohen's κ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扣掉瞎猜也會對的部分後的一致程度；0.6 以上算好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人工兩人 κ 0.40（仲裁後成金標）；r4 對人工 κ 0.81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校準（reliability bins）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把預測機率分箱，看每箱實際正例比例是否接近機率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最高信心桶約七成為真正例，方向對、尚未完全校準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χ²、Cramér's V、Wilson CI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類別關聯檢定、其效果量、比例的信賴區間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來源流失率差異 χ²=99.5、V=0.125；九面向勝算比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38208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RAG（檢索增強生成）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先從知識庫檢索相關條目，再讓模型只依這些內容生成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76 條（官網 40、手冊 36）；12 則主表＋4 則附錄，每則附引用與查核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82096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K-means／silhouette／ARI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分群法、分群品質指標、兩種分群結果的一致度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驗證四個 Persona（客群輪廓）：只有靜默出走者被資料獨立支持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A2 補充圖表（不計入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來源：統計檢定報告（T7）、風險與 Persona（客群輪廓）報告（T10）；圖 F2、F4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三站發言者流失率，與發言者風險分布</a:t>
            </a:r>
          </a:p>
        </p:txBody>
      </p:sp>
      <p:pic>
        <p:nvPicPr>
          <p:cNvPr id="6" name="Picture 5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640" y="987552"/>
            <a:ext cx="11000815" cy="208483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0624" y="3108960"/>
            <a:ext cx="11356848" cy="4572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3145536"/>
            <a:ext cx="111556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F2　論壇發言者流失率。　Mobile01 18.2%、PTT 14.1%、Dcard 6.8%。母體是論壇發言者，χ²=99.5。</a:t>
            </a:r>
          </a:p>
        </p:txBody>
      </p:sp>
      <p:pic>
        <p:nvPicPr>
          <p:cNvPr id="9" name="Picture 8" descr="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40" y="3621024"/>
            <a:ext cx="11000815" cy="20848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20624" y="5742432"/>
            <a:ext cx="11356848" cy="4572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779008"/>
            <a:ext cx="111556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F4　發言者風險分布。　高風險發言者 1,049 人（16.4%）；約八成在低風險。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A2b 補充圖表（不計入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來源：本機模型報告（T8）、趨勢報告（T15）；圖 F6、F9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校準曲線，與季趨勢預警</a:t>
            </a:r>
          </a:p>
        </p:txBody>
      </p:sp>
      <p:pic>
        <p:nvPicPr>
          <p:cNvPr id="6" name="Picture 5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640" y="987552"/>
            <a:ext cx="11000815" cy="208483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0624" y="3108960"/>
            <a:ext cx="11356848" cy="4572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3145536"/>
            <a:ext cx="111556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F6　校準曲線。　最高信心桶 n=71，實際流失 68%。高分仍偏高，方向對。</a:t>
            </a:r>
          </a:p>
        </p:txBody>
      </p:sp>
      <p:pic>
        <p:nvPicPr>
          <p:cNvPr id="9" name="Picture 8" descr="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46" y="3621024"/>
            <a:ext cx="10551802" cy="20848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20624" y="5742432"/>
            <a:ext cx="11356848" cy="4572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779008"/>
            <a:ext cx="111556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F9　季趨勢預警。　討論量達前 4 週平均 3 倍且至少 5 句就亮燈。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A3 待料通知話術（不計入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來源：話術範例、生成與查核報告（T14）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待料逾 7 天就主動通知，話術不寫到貨日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2660903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6"/>
            <a:ext cx="11119104" cy="25694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過保精算派 × 待料通知　LINE 官方帳號推播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引用條目　26、65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您好，零件還在等料，讓您久等了，很抱歉。到貨時間確定後，我們會第一時間通知您。 到貨後如需到府取送車，可在保養或維修預定入廠日前 2 天預約，單程距離限 10 公里以內。若想了解目前進度，請聯絡您的服務專員。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查核結果　通過；supported 3/3；重生成 0 次；生成次數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3758183"/>
            <a:ext cx="11356848" cy="2660903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813047"/>
            <a:ext cx="11119104" cy="25694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品質失望派 × 待料通知　服務廠專員電話腳本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引用條目　26、57、65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讓您久等了，很抱歉。目前零件仍在等待中，有進一步消息我會再聯繫您。如果愛車因零件缺料而無法行駛或有行車安全疑慮，需要留廠72小時以上，維修期間我們會提供免費代步車；板金或噴漆維修恕無法提供，現車仍需視服務廠車輛調度實況而定。您也可聯絡我這位服務專員，或致電0800-036-036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查核結果　通過；supported 6/6；重生成 1 次；生成次數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A4 CRM 觸發門檻（不計入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Persona（客群輪廓）報告（T10）、L7 運作流程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八條規則的欄位與門檻；投影片只留欄位名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846320"/>
                <a:gridCol w="4407408"/>
              </a:tblGrid>
              <a:tr h="5943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門檻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5943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 過保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保固到期日、延保狀態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到期前 90 天未購延保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 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工單估價與實收、拒絕估價項目、滿意度價格題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連續 2 次拒絕估價項目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5943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 找出口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回廠間隔、預約取消、App 查據點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逾期超過建議週期 1.5 倍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 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自備零件或機油註記、換油套餐、工單金額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金額較前次下降超過 40%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5943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 零件等料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待料天數、改期次數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待料超過 7 天，或同車至少 2 次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 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同項目重複進廠、技術客訴、召回未完成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30 天內同項目回廠至少 2 次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5943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 已離開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無工單、過戶或退出會員、App 未開啟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12 個月無工單（只驗證，不觸發）</a:t>
                      </a:r>
                    </a:p>
                  </a:txBody>
                  <a:tcPr anchor="ctr" marL="73152" marR="54864" marT="36576" marB="27432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 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NPS、客訴紀錄、推薦計畫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4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 0–6，且 12 個月內有客訴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A5 客訴回訪話術（不計入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來源：客訴關懷策略、話術範例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客訴結案第 7 天回訪，不推銷、不要求刪評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2660903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6"/>
            <a:ext cx="11119104" cy="25694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品質失望派 × 客訴結案後 7 天回訪　專員電話腳本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引用條目　20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我是上次為您服務的專員。很抱歉先前維修的狀況讓您費心了，想跟您確認，愛車修好後，同樣的狀況是否還有再出現？如果有，請直接找我，我會協助安排後續確認。您也可以預約全年免費的尊榮安檢，協助確認目前車況；後續有任何狀況，都可以由我作為您的服務窗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查核結果　通過；supported 1/1；重生成 0 次；生成次數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3758183"/>
            <a:ext cx="11356848" cy="2660903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813047"/>
            <a:ext cx="11119104" cy="25694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口碑建議者 × 客訴結案後 7 天回訪　LINE 一對一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引用條目　65、73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您好，感謝您提出意見，讓我們有機會檢視服務。後續改善為【改善做法，由專員填入】。若仍有疑問，您可聯絡服務專員、Lexus LINE 官方帳號的 AI 客服，或免付費專線 0800-036-036 反映；預約可於入廠前一日完成。也歡迎您回覆目前的感受，我們會持續聆聽。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查核結果　通過；supported 1/1；重生成 0 次；生成次數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