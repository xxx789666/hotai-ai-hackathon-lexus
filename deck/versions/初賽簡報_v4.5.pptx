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大綱只列六個章節與附錄的頁碼；兩大產出的對照放在第三頁。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由輿情到回廠：產出一看見誰有風險，產出二經人工核准後關懷。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三個前兆並行，不是依序發生：過保、刪項、間隔拉長。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去識別遮蔽五百一十七次、抽查五十句漏網零；超過七十八字只標記不刪。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八層對到雙迴路：上面是產出一，下面是產出二，審核後才投遞。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Persona（客群輪廓）用規則定義。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高風險七成四真有流失句；風險分是模型機率六成加命中規則四成。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五個看板示意：洞察三個，知識庫與審核佇列各一；非實際介面。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附錄前兩張圖：三站發言者流失率，以及高中低風險分布。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附錄後兩張圖：校準曲線五個信心桶，以及季趨勢預警。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內網地端部署，四級監控設門檻，不達標就重訓；四個部門分工，每月共審。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從公開輿情找出 4 種流失 Persona（客群輪廓）。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決策模型即時給出流失機率與可解釋規則。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Persona（客群輪廓） × 接觸點的 RAG 關懷內容生成。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核心模型：Claude / GPT /  Qwen3-4B QLoRA </a:t>
                      </a: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自訓決策模型（LLM2Jev 架構，支援本地部署）</a:t>
                      </a:r>
                      <a:br/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技術與統計：RAG 官方保修知識庫、K-means 分群、χ² 檢定、勝算比與 Wilson CI 驗證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回廠成長 : 高風險車主回廠率 +10 個百分點（假設值，基期實測校正）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工時提效 :名單篩選工時 -90%、話術核准率 ≥ 80%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模型嚴謹: 隨機層F1 ≥ 0.8、κ ≥ 0.6（季驗 300 句）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 API 費推論: 每句 0.7 秒 高速回應，地端部署。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大綱（計入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六個章節與附錄，對照頁碼</a:t>
            </a:r>
          </a:p>
        </p:txBody>
      </p:sp>
      <p:cxnSp>
        <p:nvCxnSpPr>
          <p:cNvPr id="5" name="toc-axis"/>
          <p:cNvCxnSpPr/>
          <p:nvPr/>
        </p:nvCxnSpPr>
        <p:spPr>
          <a:xfrm>
            <a:off x="822960" y="1344168"/>
            <a:ext cx="0" cy="5029200"/>
          </a:xfrm>
          <a:prstGeom prst="line">
            <a:avLst/>
          </a:prstGeom>
          <a:ln w="25400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20624" y="9875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0881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0241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10241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3 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18257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9263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8623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目標對象與痛點分析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8623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4–7 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26639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27645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7005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解決方案設計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7005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8–10 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35021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36027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5387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應用方法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5387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11–12 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" y="43403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6928" y="44409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3769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獨特優勢與差異化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3769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13 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" y="51785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52791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52151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預期效益與落地評估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52151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14–16 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" y="60167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" y="61173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60533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附錄（不計入 15 頁）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60533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17–24 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提案是兩份產出：輿情洞察，以及對準客群的溝通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7863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55448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為什麼要做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論壇發言者流失率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χ²=99.5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57984" y="1042416"/>
            <a:ext cx="466344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18.2%</a:t>
            </a: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Mobile01</a:t>
            </a: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14.1%</a:t>
            </a: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PTT</a:t>
            </a: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6.8%</a:t>
            </a: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Dcard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12864" y="1042416"/>
            <a:ext cx="4736592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公開輿情能在車主離開原廠之前先辨識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6217920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254496"/>
            <a:ext cx="8723376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兩份產出，一個閉環：每日洞察 → 人工核准的關懷 → 結果回寫 CRM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3456" y="6254496"/>
            <a:ext cx="2286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各章節頁碼見第 2 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2944368"/>
            <a:ext cx="1865376" cy="21031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07024" y="2944368"/>
            <a:ext cx="384048" cy="21031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12096" y="2944368"/>
            <a:ext cx="1865376" cy="21031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0624" y="3218688"/>
            <a:ext cx="1481328" cy="15544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3273552"/>
            <a:ext cx="1335024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公開論壇輿情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956816" y="3794760"/>
            <a:ext cx="274320" cy="402336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86000" y="1901952"/>
            <a:ext cx="3621024" cy="418795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14016" y="1975104"/>
            <a:ext cx="3364991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看見誰有風險</a:t>
            </a:r>
          </a:p>
        </p:txBody>
      </p:sp>
      <p:sp>
        <p:nvSpPr>
          <p:cNvPr id="20" name="Oval 19"/>
          <p:cNvSpPr/>
          <p:nvPr/>
        </p:nvSpPr>
        <p:spPr>
          <a:xfrm>
            <a:off x="2432304" y="322097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8064" y="300837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客群 Persona（客群輪廓）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四種客群，過保精算派 511 人</a:t>
            </a:r>
          </a:p>
        </p:txBody>
      </p:sp>
      <p:cxnSp>
        <p:nvCxnSpPr>
          <p:cNvPr id="22" name="chart-sep"/>
          <p:cNvCxnSpPr/>
          <p:nvPr/>
        </p:nvCxnSpPr>
        <p:spPr>
          <a:xfrm>
            <a:off x="2414016" y="3717036"/>
            <a:ext cx="3364992" cy="0"/>
          </a:xfrm>
          <a:prstGeom prst="line">
            <a:avLst/>
          </a:prstGeom>
          <a:ln w="9525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432304" y="397535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98064" y="376275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高風險議題分析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零件等料 17.3%、價格 15.0%</a:t>
            </a:r>
          </a:p>
        </p:txBody>
      </p:sp>
      <p:cxnSp>
        <p:nvCxnSpPr>
          <p:cNvPr id="25" name="chart-sep"/>
          <p:cNvCxnSpPr/>
          <p:nvPr/>
        </p:nvCxnSpPr>
        <p:spPr>
          <a:xfrm>
            <a:off x="2414016" y="4471416"/>
            <a:ext cx="3364992" cy="0"/>
          </a:xfrm>
          <a:prstGeom prst="line">
            <a:avLst/>
          </a:prstGeom>
          <a:ln w="9525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432304" y="472973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98064" y="451713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整體市場輿情洞察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句售後語料，日週季報</a:t>
            </a:r>
          </a:p>
        </p:txBody>
      </p:sp>
      <p:cxnSp>
        <p:nvCxnSpPr>
          <p:cNvPr id="28" name="chart-sep"/>
          <p:cNvCxnSpPr/>
          <p:nvPr/>
        </p:nvCxnSpPr>
        <p:spPr>
          <a:xfrm>
            <a:off x="2414016" y="5225796"/>
            <a:ext cx="3364992" cy="0"/>
          </a:xfrm>
          <a:prstGeom prst="line">
            <a:avLst/>
          </a:prstGeom>
          <a:ln w="9525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2432304" y="548411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98064" y="527151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使用的 AI 技術／模型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 本機模型，F1 0.685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961888" y="3794760"/>
            <a:ext cx="274320" cy="402336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91072" y="1901952"/>
            <a:ext cx="3621024" cy="4187952"/>
          </a:xfrm>
          <a:prstGeom prst="roundRect">
            <a:avLst>
              <a:gd name="adj" fmla="val 8000"/>
            </a:avLst>
          </a:prstGeom>
          <a:solidFill>
            <a:srgbClr val="FBF3F2"/>
          </a:solidFill>
          <a:ln w="15875">
            <a:solidFill>
              <a:srgbClr val="E3A9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1975104"/>
            <a:ext cx="3364991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溝通計畫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對的人、對的時機、說對的話，人工核准</a:t>
            </a:r>
          </a:p>
        </p:txBody>
      </p:sp>
      <p:sp>
        <p:nvSpPr>
          <p:cNvPr id="34" name="Oval 33"/>
          <p:cNvSpPr/>
          <p:nvPr/>
        </p:nvSpPr>
        <p:spPr>
          <a:xfrm>
            <a:off x="6437376" y="322097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03136" y="300837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核心溝通策略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四種客群配三種進廠時機</a:t>
            </a:r>
          </a:p>
        </p:txBody>
      </p:sp>
      <p:cxnSp>
        <p:nvCxnSpPr>
          <p:cNvPr id="36" name="chart-sep"/>
          <p:cNvCxnSpPr/>
          <p:nvPr/>
        </p:nvCxnSpPr>
        <p:spPr>
          <a:xfrm>
            <a:off x="6419088" y="3717036"/>
            <a:ext cx="3364992" cy="0"/>
          </a:xfrm>
          <a:prstGeom prst="line">
            <a:avLst/>
          </a:prstGeom>
          <a:ln w="9525">
            <a:solidFill>
              <a:srgbClr val="E3A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437376" y="397535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3136" y="376275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生成內容範例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則話術對 76 條條款查核</a:t>
            </a:r>
          </a:p>
        </p:txBody>
      </p:sp>
      <p:cxnSp>
        <p:nvCxnSpPr>
          <p:cNvPr id="39" name="chart-sep"/>
          <p:cNvCxnSpPr/>
          <p:nvPr/>
        </p:nvCxnSpPr>
        <p:spPr>
          <a:xfrm>
            <a:off x="6419088" y="4471416"/>
            <a:ext cx="3364992" cy="0"/>
          </a:xfrm>
          <a:prstGeom prst="line">
            <a:avLst/>
          </a:prstGeom>
          <a:ln w="9525">
            <a:solidFill>
              <a:srgbClr val="E3A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437376" y="472973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03136" y="451713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精準接觸點規劃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三個接觸點＋客訴第 7 天回訪</a:t>
            </a:r>
          </a:p>
        </p:txBody>
      </p:sp>
      <p:cxnSp>
        <p:nvCxnSpPr>
          <p:cNvPr id="42" name="chart-sep"/>
          <p:cNvCxnSpPr/>
          <p:nvPr/>
        </p:nvCxnSpPr>
        <p:spPr>
          <a:xfrm>
            <a:off x="6419088" y="5225796"/>
            <a:ext cx="3364992" cy="0"/>
          </a:xfrm>
          <a:prstGeom prst="line">
            <a:avLst/>
          </a:prstGeom>
          <a:ln w="9525">
            <a:solidFill>
              <a:srgbClr val="E3A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37376" y="548411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03136" y="527151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方案運作流程圖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雙迴路，人工核准才投遞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9966960" y="3794760"/>
            <a:ext cx="274320" cy="402336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296144" y="3218688"/>
            <a:ext cx="1481328" cy="15544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69296" y="3273552"/>
            <a:ext cx="1335024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車主回廠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點擊・預約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回廠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寫回 CRM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回頭校正門檻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輿情能提前預警，降低客戶流失率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14416" cy="188366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5358383" cy="1700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被動應對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句裡 186 句沒抱怨就找出口。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使用者是售後決策者與服務廠客戶關係人員。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1183" y="111556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現況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5" y="987552"/>
            <a:ext cx="5614416" cy="18836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1" y="1078992"/>
            <a:ext cx="5358383" cy="1700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主動掌握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三個訊號並行。到期前 90 天進名單，第 60 天再開口。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CRM，在離開原廠之前先辨識。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43615" y="111556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導入後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2980944"/>
            <a:ext cx="11356848" cy="374903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1110081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三個前兆並排，匯流後才是離開；資料沒有先後順序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 62 句</a:t>
            </a:r>
            <a:br/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保固內 17 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觸發：到期前 90 天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261616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85488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8640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連續 2 次拒項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拒絕估價項目就列管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98464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22336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5488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逾期超過建議週期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1.5 倍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735312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5175504"/>
            <a:ext cx="11100816" cy="603504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221224"/>
            <a:ext cx="1095451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離開原廠</a:t>
            </a: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人走了才知道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998464" y="579729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998464"/>
            <a:ext cx="11100816" cy="603504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044184"/>
            <a:ext cx="1095451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一般外廠　736 句</a:t>
            </a: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可複選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17.3%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零件供應最高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15.0%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價格次高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1.4%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銷售交車最低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61%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態度負面；流失 4.7%</a:t>
            </a:r>
          </a:p>
        </p:txBody>
      </p:sp>
      <p:sp>
        <p:nvSpPr>
          <p:cNvPr id="13" name="chart:F1:card"/>
          <p:cNvSpPr/>
          <p:nvPr/>
        </p:nvSpPr>
        <p:spPr>
          <a:xfrm>
            <a:off x="420624" y="1975104"/>
            <a:ext cx="11356848" cy="4096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1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零件供應流失率最高（17.3%），銷售交車最低</a:t>
            </a:r>
          </a:p>
        </p:txBody>
      </p:sp>
      <p:sp>
        <p:nvSpPr>
          <p:cNvPr id="15" name="chart:F1:ylabel"/>
          <p:cNvSpPr txBox="1"/>
          <p:nvPr/>
        </p:nvSpPr>
        <p:spPr>
          <a:xfrm>
            <a:off x="548640" y="2048256"/>
            <a:ext cx="310896" cy="3931920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流失率（%）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1:tick"/>
          <p:cNvSpPr txBox="1"/>
          <p:nvPr/>
        </p:nvSpPr>
        <p:spPr>
          <a:xfrm>
            <a:off x="877824" y="555955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1298448" y="4964765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1:tick"/>
          <p:cNvSpPr txBox="1"/>
          <p:nvPr/>
        </p:nvSpPr>
        <p:spPr>
          <a:xfrm>
            <a:off x="877824" y="4855037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1298448" y="42602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1:tick"/>
          <p:cNvSpPr txBox="1"/>
          <p:nvPr/>
        </p:nvSpPr>
        <p:spPr>
          <a:xfrm>
            <a:off x="877824" y="41505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298448" y="3555736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1:tick"/>
          <p:cNvSpPr txBox="1"/>
          <p:nvPr/>
        </p:nvSpPr>
        <p:spPr>
          <a:xfrm>
            <a:off x="877824" y="3446008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2851222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1:tick"/>
          <p:cNvSpPr txBox="1"/>
          <p:nvPr/>
        </p:nvSpPr>
        <p:spPr>
          <a:xfrm>
            <a:off x="877824" y="274149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2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:F1:bar"/>
          <p:cNvSpPr/>
          <p:nvPr/>
        </p:nvSpPr>
        <p:spPr>
          <a:xfrm>
            <a:off x="1516197" y="3230238"/>
            <a:ext cx="710549" cy="243904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hart-line"/>
          <p:cNvCxnSpPr/>
          <p:nvPr/>
        </p:nvCxnSpPr>
        <p:spPr>
          <a:xfrm>
            <a:off x="1871472" y="2839815"/>
            <a:ext cx="0" cy="736985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-line"/>
          <p:cNvCxnSpPr/>
          <p:nvPr/>
        </p:nvCxnSpPr>
        <p:spPr>
          <a:xfrm>
            <a:off x="1798320" y="283981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-line"/>
          <p:cNvCxnSpPr/>
          <p:nvPr/>
        </p:nvCxnSpPr>
        <p:spPr>
          <a:xfrm>
            <a:off x="1798320" y="357680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:F1:value"/>
          <p:cNvSpPr txBox="1"/>
          <p:nvPr/>
        </p:nvSpPr>
        <p:spPr>
          <a:xfrm>
            <a:off x="1307592" y="2565495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17.3</a:t>
            </a:r>
          </a:p>
        </p:txBody>
      </p:sp>
      <p:sp>
        <p:nvSpPr>
          <p:cNvPr id="32" name="chart:F1:cat"/>
          <p:cNvSpPr txBox="1"/>
          <p:nvPr/>
        </p:nvSpPr>
        <p:spPr>
          <a:xfrm>
            <a:off x="1307592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33" name="chart:F1:bar"/>
          <p:cNvSpPr/>
          <p:nvPr/>
        </p:nvSpPr>
        <p:spPr>
          <a:xfrm>
            <a:off x="2662245" y="3552852"/>
            <a:ext cx="710549" cy="2116427"/>
          </a:xfrm>
          <a:prstGeom prst="rect">
            <a:avLst/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hart-line"/>
          <p:cNvCxnSpPr/>
          <p:nvPr/>
        </p:nvCxnSpPr>
        <p:spPr>
          <a:xfrm>
            <a:off x="3017520" y="3390182"/>
            <a:ext cx="0" cy="315659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hart-line"/>
          <p:cNvCxnSpPr/>
          <p:nvPr/>
        </p:nvCxnSpPr>
        <p:spPr>
          <a:xfrm>
            <a:off x="2944368" y="339018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hart-line"/>
          <p:cNvCxnSpPr/>
          <p:nvPr/>
        </p:nvCxnSpPr>
        <p:spPr>
          <a:xfrm>
            <a:off x="2944368" y="370584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hart:F1:value"/>
          <p:cNvSpPr txBox="1"/>
          <p:nvPr/>
        </p:nvSpPr>
        <p:spPr>
          <a:xfrm>
            <a:off x="2453640" y="3115862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15.0</a:t>
            </a:r>
          </a:p>
        </p:txBody>
      </p:sp>
      <p:sp>
        <p:nvSpPr>
          <p:cNvPr id="38" name="chart:F1:cat"/>
          <p:cNvSpPr txBox="1"/>
          <p:nvPr/>
        </p:nvSpPr>
        <p:spPr>
          <a:xfrm>
            <a:off x="2453640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39" name="chart:F1:bar"/>
          <p:cNvSpPr/>
          <p:nvPr/>
        </p:nvSpPr>
        <p:spPr>
          <a:xfrm>
            <a:off x="3808293" y="4329754"/>
            <a:ext cx="710549" cy="133952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hart-line"/>
          <p:cNvCxnSpPr/>
          <p:nvPr/>
        </p:nvCxnSpPr>
        <p:spPr>
          <a:xfrm>
            <a:off x="4163568" y="4067206"/>
            <a:ext cx="0" cy="485916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hart-line"/>
          <p:cNvCxnSpPr/>
          <p:nvPr/>
        </p:nvCxnSpPr>
        <p:spPr>
          <a:xfrm>
            <a:off x="4090416" y="406720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hart-line"/>
          <p:cNvCxnSpPr/>
          <p:nvPr/>
        </p:nvCxnSpPr>
        <p:spPr>
          <a:xfrm>
            <a:off x="4090416" y="455312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hart:F1:value"/>
          <p:cNvSpPr txBox="1"/>
          <p:nvPr/>
        </p:nvSpPr>
        <p:spPr>
          <a:xfrm>
            <a:off x="3599688" y="3792886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9.5</a:t>
            </a:r>
          </a:p>
        </p:txBody>
      </p:sp>
      <p:sp>
        <p:nvSpPr>
          <p:cNvPr id="44" name="chart:F1:cat"/>
          <p:cNvSpPr txBox="1"/>
          <p:nvPr/>
        </p:nvSpPr>
        <p:spPr>
          <a:xfrm>
            <a:off x="3599688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45" name="chart:F1:bar"/>
          <p:cNvSpPr/>
          <p:nvPr/>
        </p:nvSpPr>
        <p:spPr>
          <a:xfrm>
            <a:off x="4954341" y="4415353"/>
            <a:ext cx="710549" cy="125392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hart-line"/>
          <p:cNvCxnSpPr/>
          <p:nvPr/>
        </p:nvCxnSpPr>
        <p:spPr>
          <a:xfrm>
            <a:off x="5309616" y="4269906"/>
            <a:ext cx="0" cy="277114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hart-line"/>
          <p:cNvCxnSpPr/>
          <p:nvPr/>
        </p:nvCxnSpPr>
        <p:spPr>
          <a:xfrm>
            <a:off x="5236464" y="426990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hart-line"/>
          <p:cNvCxnSpPr/>
          <p:nvPr/>
        </p:nvCxnSpPr>
        <p:spPr>
          <a:xfrm>
            <a:off x="5236464" y="454702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hart:F1:value"/>
          <p:cNvSpPr txBox="1"/>
          <p:nvPr/>
        </p:nvSpPr>
        <p:spPr>
          <a:xfrm>
            <a:off x="4745736" y="3995586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8.9</a:t>
            </a:r>
          </a:p>
        </p:txBody>
      </p:sp>
      <p:sp>
        <p:nvSpPr>
          <p:cNvPr id="50" name="chart:F1:cat"/>
          <p:cNvSpPr txBox="1"/>
          <p:nvPr/>
        </p:nvSpPr>
        <p:spPr>
          <a:xfrm>
            <a:off x="4745736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51" name="chart:F1:bar"/>
          <p:cNvSpPr/>
          <p:nvPr/>
        </p:nvSpPr>
        <p:spPr>
          <a:xfrm>
            <a:off x="6100389" y="4629406"/>
            <a:ext cx="710549" cy="103987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hart-line"/>
          <p:cNvCxnSpPr/>
          <p:nvPr/>
        </p:nvCxnSpPr>
        <p:spPr>
          <a:xfrm>
            <a:off x="6455664" y="4101923"/>
            <a:ext cx="0" cy="88708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hart-line"/>
          <p:cNvCxnSpPr/>
          <p:nvPr/>
        </p:nvCxnSpPr>
        <p:spPr>
          <a:xfrm>
            <a:off x="6382512" y="4101923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hart-line"/>
          <p:cNvCxnSpPr/>
          <p:nvPr/>
        </p:nvCxnSpPr>
        <p:spPr>
          <a:xfrm>
            <a:off x="6382512" y="498901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hart:F1:value"/>
          <p:cNvSpPr txBox="1"/>
          <p:nvPr/>
        </p:nvSpPr>
        <p:spPr>
          <a:xfrm>
            <a:off x="5891784" y="3827603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7.4</a:t>
            </a:r>
          </a:p>
        </p:txBody>
      </p:sp>
      <p:sp>
        <p:nvSpPr>
          <p:cNvPr id="56" name="chart:F1:cat"/>
          <p:cNvSpPr txBox="1"/>
          <p:nvPr/>
        </p:nvSpPr>
        <p:spPr>
          <a:xfrm>
            <a:off x="5891784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57" name="chart:F1:bar"/>
          <p:cNvSpPr/>
          <p:nvPr/>
        </p:nvSpPr>
        <p:spPr>
          <a:xfrm>
            <a:off x="7246437" y="4659522"/>
            <a:ext cx="710549" cy="1009757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hart-line"/>
          <p:cNvCxnSpPr/>
          <p:nvPr/>
        </p:nvCxnSpPr>
        <p:spPr>
          <a:xfrm>
            <a:off x="7601712" y="4461267"/>
            <a:ext cx="0" cy="366099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hart-line"/>
          <p:cNvCxnSpPr/>
          <p:nvPr/>
        </p:nvCxnSpPr>
        <p:spPr>
          <a:xfrm>
            <a:off x="7528560" y="446126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hart-line"/>
          <p:cNvCxnSpPr/>
          <p:nvPr/>
        </p:nvCxnSpPr>
        <p:spPr>
          <a:xfrm>
            <a:off x="7528560" y="482736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hart:F1:value"/>
          <p:cNvSpPr txBox="1"/>
          <p:nvPr/>
        </p:nvSpPr>
        <p:spPr>
          <a:xfrm>
            <a:off x="7037832" y="418694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7.2</a:t>
            </a:r>
          </a:p>
        </p:txBody>
      </p:sp>
      <p:sp>
        <p:nvSpPr>
          <p:cNvPr id="62" name="chart:F1:cat"/>
          <p:cNvSpPr txBox="1"/>
          <p:nvPr/>
        </p:nvSpPr>
        <p:spPr>
          <a:xfrm>
            <a:off x="7037832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63" name="chart:F1:bar"/>
          <p:cNvSpPr/>
          <p:nvPr/>
        </p:nvSpPr>
        <p:spPr>
          <a:xfrm>
            <a:off x="8392485" y="5000368"/>
            <a:ext cx="710549" cy="66891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hart-line"/>
          <p:cNvCxnSpPr/>
          <p:nvPr/>
        </p:nvCxnSpPr>
        <p:spPr>
          <a:xfrm>
            <a:off x="8747760" y="4818327"/>
            <a:ext cx="0" cy="326681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hart-line"/>
          <p:cNvCxnSpPr/>
          <p:nvPr/>
        </p:nvCxnSpPr>
        <p:spPr>
          <a:xfrm>
            <a:off x="8674608" y="481832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hart-line"/>
          <p:cNvCxnSpPr/>
          <p:nvPr/>
        </p:nvCxnSpPr>
        <p:spPr>
          <a:xfrm>
            <a:off x="8674608" y="514500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chart:F1:value"/>
          <p:cNvSpPr txBox="1"/>
          <p:nvPr/>
        </p:nvSpPr>
        <p:spPr>
          <a:xfrm>
            <a:off x="8183880" y="454400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4.7</a:t>
            </a:r>
          </a:p>
        </p:txBody>
      </p:sp>
      <p:sp>
        <p:nvSpPr>
          <p:cNvPr id="68" name="chart:F1:cat"/>
          <p:cNvSpPr txBox="1"/>
          <p:nvPr/>
        </p:nvSpPr>
        <p:spPr>
          <a:xfrm>
            <a:off x="8183880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69" name="chart:F1:bar"/>
          <p:cNvSpPr/>
          <p:nvPr/>
        </p:nvSpPr>
        <p:spPr>
          <a:xfrm>
            <a:off x="9538533" y="5253023"/>
            <a:ext cx="710549" cy="41625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hart-line"/>
          <p:cNvCxnSpPr/>
          <p:nvPr/>
        </p:nvCxnSpPr>
        <p:spPr>
          <a:xfrm>
            <a:off x="9893808" y="5032548"/>
            <a:ext cx="0" cy="366143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hart-line"/>
          <p:cNvCxnSpPr/>
          <p:nvPr/>
        </p:nvCxnSpPr>
        <p:spPr>
          <a:xfrm>
            <a:off x="9820656" y="503254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hart-line"/>
          <p:cNvCxnSpPr/>
          <p:nvPr/>
        </p:nvCxnSpPr>
        <p:spPr>
          <a:xfrm>
            <a:off x="9820656" y="539869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chart:F1:value"/>
          <p:cNvSpPr txBox="1"/>
          <p:nvPr/>
        </p:nvSpPr>
        <p:spPr>
          <a:xfrm>
            <a:off x="9329928" y="4758228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3.0</a:t>
            </a:r>
          </a:p>
        </p:txBody>
      </p:sp>
      <p:sp>
        <p:nvSpPr>
          <p:cNvPr id="74" name="chart:F1:cat"/>
          <p:cNvSpPr txBox="1"/>
          <p:nvPr/>
        </p:nvSpPr>
        <p:spPr>
          <a:xfrm>
            <a:off x="9329928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75" name="chart:F1:bar"/>
          <p:cNvSpPr/>
          <p:nvPr/>
        </p:nvSpPr>
        <p:spPr>
          <a:xfrm>
            <a:off x="10684581" y="5473438"/>
            <a:ext cx="710549" cy="19584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hart-line"/>
          <p:cNvCxnSpPr/>
          <p:nvPr/>
        </p:nvCxnSpPr>
        <p:spPr>
          <a:xfrm>
            <a:off x="11039856" y="5364835"/>
            <a:ext cx="0" cy="17881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hart-line"/>
          <p:cNvCxnSpPr/>
          <p:nvPr/>
        </p:nvCxnSpPr>
        <p:spPr>
          <a:xfrm>
            <a:off x="10966704" y="536483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hart-line"/>
          <p:cNvCxnSpPr/>
          <p:nvPr/>
        </p:nvCxnSpPr>
        <p:spPr>
          <a:xfrm>
            <a:off x="10966704" y="5543653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hart:F1:value"/>
          <p:cNvSpPr txBox="1"/>
          <p:nvPr/>
        </p:nvSpPr>
        <p:spPr>
          <a:xfrm>
            <a:off x="10475976" y="5090515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1.4</a:t>
            </a:r>
          </a:p>
        </p:txBody>
      </p:sp>
      <p:sp>
        <p:nvSpPr>
          <p:cNvPr id="80" name="chart:F1:cat"/>
          <p:cNvSpPr txBox="1"/>
          <p:nvPr/>
        </p:nvSpPr>
        <p:spPr>
          <a:xfrm>
            <a:off x="10475976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20624" y="6163056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6217920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對應接觸點：零件勝算比 2.58、價格 2.64，分母 21,183 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736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一般外廠（句）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234／135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自備料／DIY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62／17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過保／保固內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9,000／3,500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</a:t>
            </a:r>
          </a:p>
        </p:txBody>
      </p:sp>
      <p:sp>
        <p:nvSpPr>
          <p:cNvPr id="13" name="chart:F3:card"/>
          <p:cNvSpPr/>
          <p:nvPr/>
        </p:nvSpPr>
        <p:spPr>
          <a:xfrm>
            <a:off x="420624" y="1975104"/>
            <a:ext cx="11356848" cy="4096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3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句流失裡，替代去向以一般外廠最多（736 句）</a:t>
            </a:r>
          </a:p>
        </p:txBody>
      </p:sp>
      <p:sp>
        <p:nvSpPr>
          <p:cNvPr id="15" name="chart:F3:ylabel"/>
          <p:cNvSpPr txBox="1"/>
          <p:nvPr/>
        </p:nvSpPr>
        <p:spPr>
          <a:xfrm>
            <a:off x="548640" y="2048256"/>
            <a:ext cx="310896" cy="3931920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句數（一句可多選）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3:tick"/>
          <p:cNvSpPr txBox="1"/>
          <p:nvPr/>
        </p:nvSpPr>
        <p:spPr>
          <a:xfrm>
            <a:off x="877824" y="555955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1298448" y="4900403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3:tick"/>
          <p:cNvSpPr txBox="1"/>
          <p:nvPr/>
        </p:nvSpPr>
        <p:spPr>
          <a:xfrm>
            <a:off x="877824" y="4790675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200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1298448" y="4131527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3:tick"/>
          <p:cNvSpPr txBox="1"/>
          <p:nvPr/>
        </p:nvSpPr>
        <p:spPr>
          <a:xfrm>
            <a:off x="877824" y="4021799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298448" y="33626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3:tick"/>
          <p:cNvSpPr txBox="1"/>
          <p:nvPr/>
        </p:nvSpPr>
        <p:spPr>
          <a:xfrm>
            <a:off x="877824" y="32529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600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3:bar"/>
          <p:cNvSpPr/>
          <p:nvPr/>
        </p:nvSpPr>
        <p:spPr>
          <a:xfrm>
            <a:off x="1625071" y="2839815"/>
            <a:ext cx="1065824" cy="28294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rt:F3:value"/>
          <p:cNvSpPr txBox="1"/>
          <p:nvPr/>
        </p:nvSpPr>
        <p:spPr>
          <a:xfrm>
            <a:off x="1396471" y="2565495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736</a:t>
            </a:r>
          </a:p>
        </p:txBody>
      </p:sp>
      <p:sp>
        <p:nvSpPr>
          <p:cNvPr id="27" name="chart:F3:cat"/>
          <p:cNvSpPr txBox="1"/>
          <p:nvPr/>
        </p:nvSpPr>
        <p:spPr>
          <a:xfrm>
            <a:off x="1396471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</a:t>
            </a:r>
          </a:p>
        </p:txBody>
      </p:sp>
      <p:sp>
        <p:nvSpPr>
          <p:cNvPr id="28" name="chart:F3:bar"/>
          <p:cNvSpPr/>
          <p:nvPr/>
        </p:nvSpPr>
        <p:spPr>
          <a:xfrm>
            <a:off x="3344143" y="4769694"/>
            <a:ext cx="1065824" cy="89958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art:F3:value"/>
          <p:cNvSpPr txBox="1"/>
          <p:nvPr/>
        </p:nvSpPr>
        <p:spPr>
          <a:xfrm>
            <a:off x="3115543" y="449537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234</a:t>
            </a:r>
          </a:p>
        </p:txBody>
      </p:sp>
      <p:sp>
        <p:nvSpPr>
          <p:cNvPr id="30" name="chart:F3:cat"/>
          <p:cNvSpPr txBox="1"/>
          <p:nvPr/>
        </p:nvSpPr>
        <p:spPr>
          <a:xfrm>
            <a:off x="3115543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</a:t>
            </a:r>
          </a:p>
        </p:txBody>
      </p:sp>
      <p:sp>
        <p:nvSpPr>
          <p:cNvPr id="31" name="chart:F3:bar"/>
          <p:cNvSpPr/>
          <p:nvPr/>
        </p:nvSpPr>
        <p:spPr>
          <a:xfrm>
            <a:off x="5063215" y="5150288"/>
            <a:ext cx="1065824" cy="51899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art:F3:value"/>
          <p:cNvSpPr txBox="1"/>
          <p:nvPr/>
        </p:nvSpPr>
        <p:spPr>
          <a:xfrm>
            <a:off x="4834615" y="4875968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135</a:t>
            </a:r>
          </a:p>
        </p:txBody>
      </p:sp>
      <p:sp>
        <p:nvSpPr>
          <p:cNvPr id="33" name="chart:F3:cat"/>
          <p:cNvSpPr txBox="1"/>
          <p:nvPr/>
        </p:nvSpPr>
        <p:spPr>
          <a:xfrm>
            <a:off x="4834615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DIY</a:t>
            </a:r>
          </a:p>
        </p:txBody>
      </p:sp>
      <p:sp>
        <p:nvSpPr>
          <p:cNvPr id="34" name="chart:F3:bar"/>
          <p:cNvSpPr/>
          <p:nvPr/>
        </p:nvSpPr>
        <p:spPr>
          <a:xfrm>
            <a:off x="6782287" y="5400173"/>
            <a:ext cx="1065824" cy="26910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3:value"/>
          <p:cNvSpPr txBox="1"/>
          <p:nvPr/>
        </p:nvSpPr>
        <p:spPr>
          <a:xfrm>
            <a:off x="6553687" y="5125853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70</a:t>
            </a:r>
          </a:p>
        </p:txBody>
      </p:sp>
      <p:sp>
        <p:nvSpPr>
          <p:cNvPr id="36" name="chart:F3:cat"/>
          <p:cNvSpPr txBox="1"/>
          <p:nvPr/>
        </p:nvSpPr>
        <p:spPr>
          <a:xfrm>
            <a:off x="6553687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他牌或換車</a:t>
            </a:r>
          </a:p>
        </p:txBody>
      </p:sp>
      <p:sp>
        <p:nvSpPr>
          <p:cNvPr id="37" name="chart:F3:bar"/>
          <p:cNvSpPr/>
          <p:nvPr/>
        </p:nvSpPr>
        <p:spPr>
          <a:xfrm>
            <a:off x="8501359" y="5515504"/>
            <a:ext cx="1065824" cy="15377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art:F3:value"/>
          <p:cNvSpPr txBox="1"/>
          <p:nvPr/>
        </p:nvSpPr>
        <p:spPr>
          <a:xfrm>
            <a:off x="8272759" y="524118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sp>
        <p:nvSpPr>
          <p:cNvPr id="39" name="chart:F3:cat"/>
          <p:cNvSpPr txBox="1"/>
          <p:nvPr/>
        </p:nvSpPr>
        <p:spPr>
          <a:xfrm>
            <a:off x="8272759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技師開業</a:t>
            </a:r>
          </a:p>
        </p:txBody>
      </p:sp>
      <p:sp>
        <p:nvSpPr>
          <p:cNvPr id="40" name="chart:F3:bar"/>
          <p:cNvSpPr/>
          <p:nvPr/>
        </p:nvSpPr>
        <p:spPr>
          <a:xfrm>
            <a:off x="10220431" y="5638524"/>
            <a:ext cx="1065824" cy="3075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rt:F3:value"/>
          <p:cNvSpPr txBox="1"/>
          <p:nvPr/>
        </p:nvSpPr>
        <p:spPr>
          <a:xfrm>
            <a:off x="9991831" y="536420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2" name="chart:F3:cat"/>
          <p:cNvSpPr txBox="1"/>
          <p:nvPr/>
        </p:nvSpPr>
        <p:spPr>
          <a:xfrm>
            <a:off x="9991831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連鎖保養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0624" y="6163056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217920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去向可複選，母體 1,671 句流失。定保價是論壇口述中位數，原廠 9,000、外廠 3,500，不是公告價。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5532120" cy="3145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27064" y="987552"/>
          <a:ext cx="5550408" cy="3145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4224527"/>
            <a:ext cx="11356848" cy="5486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79391"/>
            <a:ext cx="11100816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整體輿情：2026Q3 流失率 4.2%，上季 5.3%，去年同季 10.9%（至 9/19）。佐證見附錄 A2b 的 F9。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4864607"/>
            <a:ext cx="11356848" cy="186537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爬取留言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22.5 萬則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三站 5,765 篇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44444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09036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切句・去重・去識別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23.6 萬句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文本遮蔽 517 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04841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69433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2585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售後關鍵詞篩選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21,183 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全部進入標註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65238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29830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2982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五指標品質檢查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超過 78 字的長句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占 7.77%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只標記、不刪除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25635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90227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63379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進入標註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供模型與報告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流失句 c≥2：1,671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33272"/>
            <a:ext cx="1117396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1：AI 網路輿情洞察系統架構與報告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252728"/>
            <a:ext cx="111739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洞察迴路｜每日排程：新留言 → 標註與風險 → 日報 →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1554480"/>
            <a:ext cx="12435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91056"/>
            <a:ext cx="12070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論壇爬蟲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三站公開論壇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25296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55648" y="1554480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3936" y="1591056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去重・去識別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作者雜湊、店名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人名遮蔽（L1）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7792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8144" y="1554480"/>
            <a:ext cx="1444752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591056"/>
            <a:ext cx="1408176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B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原始輿情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去識別版，可溯源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3984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4336" y="1554480"/>
            <a:ext cx="201168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2624" y="1591056"/>
            <a:ext cx="197510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流失判斷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r4 逐句判流失、面向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風險分數 →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Persona（客群輪廓）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47104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05856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77456" y="1554480"/>
            <a:ext cx="17922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5744" y="1591056"/>
            <a:ext cx="17556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洞察報告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日報・週報・季報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趨勢分析、200% 預警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1554480"/>
            <a:ext cx="1298448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79408" y="1591056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報告池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日／週／季報、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預警紀錄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51008" y="1554480"/>
            <a:ext cx="1426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69296" y="1591056"/>
            <a:ext cx="1389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Dashboard 1–3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1 戰情總覽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2 報告池・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3 原始輿情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664208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346704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882896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86016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869680" y="2011680"/>
            <a:ext cx="91439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259568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20624" y="2926080"/>
            <a:ext cx="11356848" cy="2798063"/>
          </a:xfrm>
          <a:prstGeom prst="roundRect">
            <a:avLst>
              <a:gd name="adj" fmla="val 8000"/>
            </a:avLst>
          </a:prstGeom>
          <a:solidFill>
            <a:srgbClr val="FB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5980176" y="2523744"/>
            <a:ext cx="0" cy="219456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512064" y="2743200"/>
            <a:ext cx="5468112" cy="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2064" y="2743200"/>
            <a:ext cx="0" cy="1024128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12064" y="3767328"/>
            <a:ext cx="109728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496312" y="2624328"/>
            <a:ext cx="164592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36576" rIns="36576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風險升為高 → 觸發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2971800"/>
            <a:ext cx="11027664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2：針對目標 Persona（客群輪廓）的 AI 溝通計畫與系統流程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191256"/>
            <a:ext cx="110276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溝通迴路｜事件觸發：CRM 訊號・客訴結案 → Persona（客群輪廓）→ RAG 話術 → 人工核准 → 投遞 → KPI 回饋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" y="3493008"/>
            <a:ext cx="2569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529584"/>
            <a:ext cx="2532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觸發事件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CRM 命中 R1–R8（含 R5 待料）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客訴結案 → 第 7 天回訪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或風險分數升為高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52344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64408" y="3493008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82696" y="3529584"/>
            <a:ext cx="160934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判定 Persona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（客群輪廓）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四類之一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未分類 → 觀察名單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71416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83480" y="3493008"/>
            <a:ext cx="1874519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01768" y="3529584"/>
            <a:ext cx="1837943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生成話術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檢索條款 → 生成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第二輪事實查核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19088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31152" y="3493008"/>
            <a:ext cx="1636776" cy="969264"/>
          </a:xfrm>
          <a:prstGeom prst="roundRect">
            <a:avLst>
              <a:gd name="adj" fmla="val 8000"/>
            </a:avLst>
          </a:prstGeom>
          <a:solidFill>
            <a:srgbClr val="F3C1B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3529584"/>
            <a:ext cx="1600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人工審核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5 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審核佇列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核准或改寫才投遞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41080" y="3493008"/>
            <a:ext cx="14721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9367" y="3529584"/>
            <a:ext cx="14356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投遞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LINE・App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Email・專員電話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74351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186415" y="3493008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04703" y="3529584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點擊・預約・回廠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寫回 CRM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338559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191256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910328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858000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567928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113263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21792" y="4608576"/>
            <a:ext cx="2569464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客訴回訪不計頻率上限；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觀察名單車主也回訪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64408" y="4608576"/>
            <a:ext cx="1645920" cy="89611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回頭校正觸發門檻，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再訓練 r4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983480" y="4608576"/>
            <a:ext cx="1874519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01768" y="4645152"/>
            <a:ext cx="1837943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C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知識庫 76 條・保固條款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4 可查閱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5920740" y="446227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931152" y="4608576"/>
            <a:ext cx="1636776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49440" y="4645152"/>
            <a:ext cx="1600200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D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溝通佇列：草稿、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審核狀態、投遞結果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749540" y="446227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641080" y="4608576"/>
            <a:ext cx="288036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資料庫與模型都在和泰內網，不出門；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論壇文字只作研究語料，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上線後輸入改為工單與客訴文字。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1649455" y="4462272"/>
            <a:ext cx="0" cy="111556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512064" y="5577840"/>
            <a:ext cx="11137391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12064" y="4187952"/>
            <a:ext cx="0" cy="138988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12064" y="4187952"/>
            <a:ext cx="109728" cy="0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4206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L0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三站已爬完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蒐集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8493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8859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L1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切句去重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前處理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781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147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L2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標註入庫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標註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7068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434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L3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只出機率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決策模型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1356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722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L4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規則辨識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風險辨識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5643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009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L5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四種客群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客群輪廓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9931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0297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L6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引用知識庫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4218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4584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核准才投遞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接觸點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0624" y="6382512"/>
            <a:ext cx="11356848" cy="3474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30352" y="6391656"/>
            <a:ext cx="111556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先讀上帶產出 1（左到右），再讀下帶產出 2。外緣 L# 對下面八格。KPI 回頭校正門檻，再訓練 r4。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四種流失論壇發言者，過保精算派最多（511 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2424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6568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sp>
        <p:nvSpPr>
          <p:cNvPr id="13" name="chart:F5:card"/>
          <p:cNvSpPr/>
          <p:nvPr/>
        </p:nvSpPr>
        <p:spPr>
          <a:xfrm>
            <a:off x="420624" y="2651760"/>
            <a:ext cx="11356848" cy="3456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5:title"/>
          <p:cNvSpPr txBox="1"/>
          <p:nvPr/>
        </p:nvSpPr>
        <p:spPr>
          <a:xfrm>
            <a:off x="548640" y="2724912"/>
            <a:ext cx="83576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過保精算派近半句子在談價格，品質失望派則集中在技術品質</a:t>
            </a:r>
          </a:p>
        </p:txBody>
      </p:sp>
      <p:sp>
        <p:nvSpPr>
          <p:cNvPr id="15" name="chart:F5:legend"/>
          <p:cNvSpPr txBox="1"/>
          <p:nvPr/>
        </p:nvSpPr>
        <p:spPr>
          <a:xfrm>
            <a:off x="8906256" y="2724912"/>
            <a:ext cx="27432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格內數字為面向出現比例（%）</a:t>
            </a:r>
          </a:p>
        </p:txBody>
      </p:sp>
      <p:sp>
        <p:nvSpPr>
          <p:cNvPr id="16" name="chart:F5:row"/>
          <p:cNvSpPr txBox="1"/>
          <p:nvPr/>
        </p:nvSpPr>
        <p:spPr>
          <a:xfrm>
            <a:off x="548640" y="3072384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</p:txBody>
      </p:sp>
      <p:sp>
        <p:nvSpPr>
          <p:cNvPr id="17" name="chart:F5:cell"/>
          <p:cNvSpPr/>
          <p:nvPr/>
        </p:nvSpPr>
        <p:spPr>
          <a:xfrm>
            <a:off x="1783080" y="3072384"/>
            <a:ext cx="1096264" cy="52669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:F5:cellv"/>
          <p:cNvSpPr txBox="1"/>
          <p:nvPr/>
        </p:nvSpPr>
        <p:spPr>
          <a:xfrm>
            <a:off x="1783080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48</a:t>
            </a:r>
          </a:p>
        </p:txBody>
      </p:sp>
      <p:sp>
        <p:nvSpPr>
          <p:cNvPr id="19" name="chart:F5:cell"/>
          <p:cNvSpPr/>
          <p:nvPr/>
        </p:nvSpPr>
        <p:spPr>
          <a:xfrm>
            <a:off x="2879344" y="3072384"/>
            <a:ext cx="1096264" cy="526694"/>
          </a:xfrm>
          <a:prstGeom prst="rect">
            <a:avLst/>
          </a:prstGeom>
          <a:solidFill>
            <a:srgbClr val="D1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art:F5:cellv"/>
          <p:cNvSpPr txBox="1"/>
          <p:nvPr/>
        </p:nvSpPr>
        <p:spPr>
          <a:xfrm>
            <a:off x="2879344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21" name="chart:F5:cell"/>
          <p:cNvSpPr/>
          <p:nvPr/>
        </p:nvSpPr>
        <p:spPr>
          <a:xfrm>
            <a:off x="3975608" y="3072384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art:F5:cellv"/>
          <p:cNvSpPr txBox="1"/>
          <p:nvPr/>
        </p:nvSpPr>
        <p:spPr>
          <a:xfrm>
            <a:off x="3975608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23" name="chart:F5:cell"/>
          <p:cNvSpPr/>
          <p:nvPr/>
        </p:nvSpPr>
        <p:spPr>
          <a:xfrm>
            <a:off x="5071872" y="3072384"/>
            <a:ext cx="1096264" cy="526694"/>
          </a:xfrm>
          <a:prstGeom prst="rect">
            <a:avLst/>
          </a:prstGeom>
          <a:solidFill>
            <a:srgbClr val="D8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:F5:cellv"/>
          <p:cNvSpPr txBox="1"/>
          <p:nvPr/>
        </p:nvSpPr>
        <p:spPr>
          <a:xfrm>
            <a:off x="5071872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25" name="chart:F5:cell"/>
          <p:cNvSpPr/>
          <p:nvPr/>
        </p:nvSpPr>
        <p:spPr>
          <a:xfrm>
            <a:off x="6168136" y="3072384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rt:F5:cellv"/>
          <p:cNvSpPr txBox="1"/>
          <p:nvPr/>
        </p:nvSpPr>
        <p:spPr>
          <a:xfrm>
            <a:off x="6168136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7" name="chart:F5:cell"/>
          <p:cNvSpPr/>
          <p:nvPr/>
        </p:nvSpPr>
        <p:spPr>
          <a:xfrm>
            <a:off x="7264400" y="3072384"/>
            <a:ext cx="1096264" cy="526694"/>
          </a:xfrm>
          <a:prstGeom prst="rect">
            <a:avLst/>
          </a:prstGeom>
          <a:solidFill>
            <a:srgbClr val="D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art:F5:cellv"/>
          <p:cNvSpPr txBox="1"/>
          <p:nvPr/>
        </p:nvSpPr>
        <p:spPr>
          <a:xfrm>
            <a:off x="7264400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29" name="chart:F5:cell"/>
          <p:cNvSpPr/>
          <p:nvPr/>
        </p:nvSpPr>
        <p:spPr>
          <a:xfrm>
            <a:off x="8360664" y="3072384"/>
            <a:ext cx="1096264" cy="526694"/>
          </a:xfrm>
          <a:prstGeom prst="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F5:cellv"/>
          <p:cNvSpPr txBox="1"/>
          <p:nvPr/>
        </p:nvSpPr>
        <p:spPr>
          <a:xfrm>
            <a:off x="8360664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31" name="chart:F5:cell"/>
          <p:cNvSpPr/>
          <p:nvPr/>
        </p:nvSpPr>
        <p:spPr>
          <a:xfrm>
            <a:off x="9456928" y="3072384"/>
            <a:ext cx="1096264" cy="526694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art:F5:cellv"/>
          <p:cNvSpPr txBox="1"/>
          <p:nvPr/>
        </p:nvSpPr>
        <p:spPr>
          <a:xfrm>
            <a:off x="9456928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3" name="chart:F5:cell"/>
          <p:cNvSpPr/>
          <p:nvPr/>
        </p:nvSpPr>
        <p:spPr>
          <a:xfrm>
            <a:off x="10553192" y="3072384"/>
            <a:ext cx="1096264" cy="526694"/>
          </a:xfrm>
          <a:prstGeom prst="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art:F5:cellv"/>
          <p:cNvSpPr txBox="1"/>
          <p:nvPr/>
        </p:nvSpPr>
        <p:spPr>
          <a:xfrm>
            <a:off x="10553192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5" name="chart:F5:row"/>
          <p:cNvSpPr txBox="1"/>
          <p:nvPr/>
        </p:nvSpPr>
        <p:spPr>
          <a:xfrm>
            <a:off x="548640" y="3599078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</p:txBody>
      </p:sp>
      <p:sp>
        <p:nvSpPr>
          <p:cNvPr id="36" name="chart:F5:cell"/>
          <p:cNvSpPr/>
          <p:nvPr/>
        </p:nvSpPr>
        <p:spPr>
          <a:xfrm>
            <a:off x="1783080" y="3599078"/>
            <a:ext cx="1096264" cy="526694"/>
          </a:xfrm>
          <a:prstGeom prst="rect">
            <a:avLst/>
          </a:prstGeom>
          <a:solidFill>
            <a:srgbClr val="AFD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art:F5:cellv"/>
          <p:cNvSpPr txBox="1"/>
          <p:nvPr/>
        </p:nvSpPr>
        <p:spPr>
          <a:xfrm>
            <a:off x="1783080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38" name="chart:F5:cell"/>
          <p:cNvSpPr/>
          <p:nvPr/>
        </p:nvSpPr>
        <p:spPr>
          <a:xfrm>
            <a:off x="2879344" y="3599078"/>
            <a:ext cx="1096264" cy="526694"/>
          </a:xfrm>
          <a:prstGeom prst="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art:F5:cellv"/>
          <p:cNvSpPr txBox="1"/>
          <p:nvPr/>
        </p:nvSpPr>
        <p:spPr>
          <a:xfrm>
            <a:off x="2879344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0" name="chart:F5:cell"/>
          <p:cNvSpPr/>
          <p:nvPr/>
        </p:nvSpPr>
        <p:spPr>
          <a:xfrm>
            <a:off x="3975608" y="3599078"/>
            <a:ext cx="1096264" cy="526694"/>
          </a:xfrm>
          <a:prstGeom prst="rect">
            <a:avLst/>
          </a:prstGeom>
          <a:solidFill>
            <a:srgbClr val="D7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rt:F5:cellv"/>
          <p:cNvSpPr txBox="1"/>
          <p:nvPr/>
        </p:nvSpPr>
        <p:spPr>
          <a:xfrm>
            <a:off x="3975608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2" name="chart:F5:cell"/>
          <p:cNvSpPr/>
          <p:nvPr/>
        </p:nvSpPr>
        <p:spPr>
          <a:xfrm>
            <a:off x="5071872" y="3599078"/>
            <a:ext cx="1096264" cy="52669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art:F5:cellv"/>
          <p:cNvSpPr txBox="1"/>
          <p:nvPr/>
        </p:nvSpPr>
        <p:spPr>
          <a:xfrm>
            <a:off x="5071872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43</a:t>
            </a:r>
          </a:p>
        </p:txBody>
      </p:sp>
      <p:sp>
        <p:nvSpPr>
          <p:cNvPr id="44" name="chart:F5:cell"/>
          <p:cNvSpPr/>
          <p:nvPr/>
        </p:nvSpPr>
        <p:spPr>
          <a:xfrm>
            <a:off x="6168136" y="3599078"/>
            <a:ext cx="1096264" cy="526694"/>
          </a:xfrm>
          <a:prstGeom prst="rect">
            <a:avLst/>
          </a:prstGeom>
          <a:solidFill>
            <a:srgbClr val="F0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art:F5:cellv"/>
          <p:cNvSpPr txBox="1"/>
          <p:nvPr/>
        </p:nvSpPr>
        <p:spPr>
          <a:xfrm>
            <a:off x="6168136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46" name="chart:F5:cell"/>
          <p:cNvSpPr/>
          <p:nvPr/>
        </p:nvSpPr>
        <p:spPr>
          <a:xfrm>
            <a:off x="7264400" y="3599078"/>
            <a:ext cx="1096264" cy="526694"/>
          </a:xfrm>
          <a:prstGeom prst="rect">
            <a:avLst/>
          </a:prstGeom>
          <a:solidFill>
            <a:srgbClr val="DB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5:cellv"/>
          <p:cNvSpPr txBox="1"/>
          <p:nvPr/>
        </p:nvSpPr>
        <p:spPr>
          <a:xfrm>
            <a:off x="7264400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48" name="chart:F5:cell"/>
          <p:cNvSpPr/>
          <p:nvPr/>
        </p:nvSpPr>
        <p:spPr>
          <a:xfrm>
            <a:off x="8360664" y="3599078"/>
            <a:ext cx="1096264" cy="526694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hart:F5:cellv"/>
          <p:cNvSpPr txBox="1"/>
          <p:nvPr/>
        </p:nvSpPr>
        <p:spPr>
          <a:xfrm>
            <a:off x="8360664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0" name="chart:F5:cell"/>
          <p:cNvSpPr/>
          <p:nvPr/>
        </p:nvSpPr>
        <p:spPr>
          <a:xfrm>
            <a:off x="9456928" y="3599078"/>
            <a:ext cx="1096264" cy="526694"/>
          </a:xfrm>
          <a:prstGeom prst="rect">
            <a:avLst/>
          </a:prstGeom>
          <a:solidFill>
            <a:srgbClr val="EF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art:F5:cellv"/>
          <p:cNvSpPr txBox="1"/>
          <p:nvPr/>
        </p:nvSpPr>
        <p:spPr>
          <a:xfrm>
            <a:off x="9456928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52" name="chart:F5:cell"/>
          <p:cNvSpPr/>
          <p:nvPr/>
        </p:nvSpPr>
        <p:spPr>
          <a:xfrm>
            <a:off x="10553192" y="3599078"/>
            <a:ext cx="1096264" cy="526694"/>
          </a:xfrm>
          <a:prstGeom prst="rect">
            <a:avLst/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hart:F5:cellv"/>
          <p:cNvSpPr txBox="1"/>
          <p:nvPr/>
        </p:nvSpPr>
        <p:spPr>
          <a:xfrm>
            <a:off x="10553192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4" name="chart:F5:row"/>
          <p:cNvSpPr txBox="1"/>
          <p:nvPr/>
        </p:nvSpPr>
        <p:spPr>
          <a:xfrm>
            <a:off x="548640" y="4125772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</p:txBody>
      </p:sp>
      <p:sp>
        <p:nvSpPr>
          <p:cNvPr id="55" name="chart:F5:cell"/>
          <p:cNvSpPr/>
          <p:nvPr/>
        </p:nvSpPr>
        <p:spPr>
          <a:xfrm>
            <a:off x="1783080" y="4125772"/>
            <a:ext cx="1096264" cy="526694"/>
          </a:xfrm>
          <a:prstGeom prst="rect">
            <a:avLst/>
          </a:prstGeom>
          <a:solidFill>
            <a:srgbClr val="9B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art:F5:cellv"/>
          <p:cNvSpPr txBox="1"/>
          <p:nvPr/>
        </p:nvSpPr>
        <p:spPr>
          <a:xfrm>
            <a:off x="1783080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7" name="chart:F5:cell"/>
          <p:cNvSpPr/>
          <p:nvPr/>
        </p:nvSpPr>
        <p:spPr>
          <a:xfrm>
            <a:off x="2879344" y="4125772"/>
            <a:ext cx="1096264" cy="526694"/>
          </a:xfrm>
          <a:prstGeom prst="rect">
            <a:avLst/>
          </a:prstGeom>
          <a:solidFill>
            <a:srgbClr val="D6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hart:F5:cellv"/>
          <p:cNvSpPr txBox="1"/>
          <p:nvPr/>
        </p:nvSpPr>
        <p:spPr>
          <a:xfrm>
            <a:off x="2879344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9" name="chart:F5:cell"/>
          <p:cNvSpPr/>
          <p:nvPr/>
        </p:nvSpPr>
        <p:spPr>
          <a:xfrm>
            <a:off x="3975608" y="4125772"/>
            <a:ext cx="1096264" cy="526694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hart:F5:cellv"/>
          <p:cNvSpPr txBox="1"/>
          <p:nvPr/>
        </p:nvSpPr>
        <p:spPr>
          <a:xfrm>
            <a:off x="3975608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61" name="chart:F5:cell"/>
          <p:cNvSpPr/>
          <p:nvPr/>
        </p:nvSpPr>
        <p:spPr>
          <a:xfrm>
            <a:off x="5071872" y="4125772"/>
            <a:ext cx="1096264" cy="526694"/>
          </a:xfrm>
          <a:prstGeom prst="rect">
            <a:avLst/>
          </a:prstGeom>
          <a:solidFill>
            <a:srgbClr val="B8D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hart:F5:cellv"/>
          <p:cNvSpPr txBox="1"/>
          <p:nvPr/>
        </p:nvSpPr>
        <p:spPr>
          <a:xfrm>
            <a:off x="5071872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63" name="chart:F5:cell"/>
          <p:cNvSpPr/>
          <p:nvPr/>
        </p:nvSpPr>
        <p:spPr>
          <a:xfrm>
            <a:off x="6168136" y="4125772"/>
            <a:ext cx="1096264" cy="526694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hart:F5:cellv"/>
          <p:cNvSpPr txBox="1"/>
          <p:nvPr/>
        </p:nvSpPr>
        <p:spPr>
          <a:xfrm>
            <a:off x="6168136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65" name="chart:F5:cell"/>
          <p:cNvSpPr/>
          <p:nvPr/>
        </p:nvSpPr>
        <p:spPr>
          <a:xfrm>
            <a:off x="7264400" y="4125772"/>
            <a:ext cx="1096264" cy="526694"/>
          </a:xfrm>
          <a:prstGeom prst="rect">
            <a:avLst/>
          </a:prstGeom>
          <a:solidFill>
            <a:srgbClr val="D2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hart:F5:cellv"/>
          <p:cNvSpPr txBox="1"/>
          <p:nvPr/>
        </p:nvSpPr>
        <p:spPr>
          <a:xfrm>
            <a:off x="7264400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67" name="chart:F5:cell"/>
          <p:cNvSpPr/>
          <p:nvPr/>
        </p:nvSpPr>
        <p:spPr>
          <a:xfrm>
            <a:off x="8360664" y="4125772"/>
            <a:ext cx="1096264" cy="526694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hart:F5:cellv"/>
          <p:cNvSpPr txBox="1"/>
          <p:nvPr/>
        </p:nvSpPr>
        <p:spPr>
          <a:xfrm>
            <a:off x="8360664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69" name="chart:F5:cell"/>
          <p:cNvSpPr/>
          <p:nvPr/>
        </p:nvSpPr>
        <p:spPr>
          <a:xfrm>
            <a:off x="9456928" y="4125772"/>
            <a:ext cx="1096264" cy="526694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chart:F5:cellv"/>
          <p:cNvSpPr txBox="1"/>
          <p:nvPr/>
        </p:nvSpPr>
        <p:spPr>
          <a:xfrm>
            <a:off x="9456928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71" name="chart:F5:cell"/>
          <p:cNvSpPr/>
          <p:nvPr/>
        </p:nvSpPr>
        <p:spPr>
          <a:xfrm>
            <a:off x="10553192" y="4125772"/>
            <a:ext cx="1096264" cy="526694"/>
          </a:xfrm>
          <a:prstGeom prst="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chart:F5:cellv"/>
          <p:cNvSpPr txBox="1"/>
          <p:nvPr/>
        </p:nvSpPr>
        <p:spPr>
          <a:xfrm>
            <a:off x="10553192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73" name="chart:F5:row"/>
          <p:cNvSpPr txBox="1"/>
          <p:nvPr/>
        </p:nvSpPr>
        <p:spPr>
          <a:xfrm>
            <a:off x="548640" y="4652467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74" name="chart:F5:cell"/>
          <p:cNvSpPr/>
          <p:nvPr/>
        </p:nvSpPr>
        <p:spPr>
          <a:xfrm>
            <a:off x="1783080" y="4652467"/>
            <a:ext cx="1096264" cy="526694"/>
          </a:xfrm>
          <a:prstGeom prst="rect">
            <a:avLst/>
          </a:prstGeom>
          <a:solidFill>
            <a:srgbClr val="B2D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chart:F5:cellv"/>
          <p:cNvSpPr txBox="1"/>
          <p:nvPr/>
        </p:nvSpPr>
        <p:spPr>
          <a:xfrm>
            <a:off x="1783080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76" name="chart:F5:cell"/>
          <p:cNvSpPr/>
          <p:nvPr/>
        </p:nvSpPr>
        <p:spPr>
          <a:xfrm>
            <a:off x="2879344" y="4652467"/>
            <a:ext cx="1096264" cy="526694"/>
          </a:xfrm>
          <a:prstGeom prst="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chart:F5:cellv"/>
          <p:cNvSpPr txBox="1"/>
          <p:nvPr/>
        </p:nvSpPr>
        <p:spPr>
          <a:xfrm>
            <a:off x="2879344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78" name="chart:F5:cell"/>
          <p:cNvSpPr/>
          <p:nvPr/>
        </p:nvSpPr>
        <p:spPr>
          <a:xfrm>
            <a:off x="3975608" y="4652467"/>
            <a:ext cx="1096264" cy="526694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chart:F5:cellv"/>
          <p:cNvSpPr txBox="1"/>
          <p:nvPr/>
        </p:nvSpPr>
        <p:spPr>
          <a:xfrm>
            <a:off x="3975608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80" name="chart:F5:cell"/>
          <p:cNvSpPr/>
          <p:nvPr/>
        </p:nvSpPr>
        <p:spPr>
          <a:xfrm>
            <a:off x="5071872" y="4652467"/>
            <a:ext cx="1096264" cy="526694"/>
          </a:xfrm>
          <a:prstGeom prst="rect">
            <a:avLst/>
          </a:prstGeom>
          <a:solidFill>
            <a:srgbClr val="A0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chart:F5:cellv"/>
          <p:cNvSpPr txBox="1"/>
          <p:nvPr/>
        </p:nvSpPr>
        <p:spPr>
          <a:xfrm>
            <a:off x="5071872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82" name="chart:F5:cell"/>
          <p:cNvSpPr/>
          <p:nvPr/>
        </p:nvSpPr>
        <p:spPr>
          <a:xfrm>
            <a:off x="6168136" y="4652467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chart:F5:cellv"/>
          <p:cNvSpPr txBox="1"/>
          <p:nvPr/>
        </p:nvSpPr>
        <p:spPr>
          <a:xfrm>
            <a:off x="6168136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4" name="chart:F5:cell"/>
          <p:cNvSpPr/>
          <p:nvPr/>
        </p:nvSpPr>
        <p:spPr>
          <a:xfrm>
            <a:off x="7264400" y="4652467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chart:F5:cellv"/>
          <p:cNvSpPr txBox="1"/>
          <p:nvPr/>
        </p:nvSpPr>
        <p:spPr>
          <a:xfrm>
            <a:off x="7264400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6" name="chart:F5:cell"/>
          <p:cNvSpPr/>
          <p:nvPr/>
        </p:nvSpPr>
        <p:spPr>
          <a:xfrm>
            <a:off x="8360664" y="4652467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chart:F5:cellv"/>
          <p:cNvSpPr txBox="1"/>
          <p:nvPr/>
        </p:nvSpPr>
        <p:spPr>
          <a:xfrm>
            <a:off x="8360664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8" name="chart:F5:cell"/>
          <p:cNvSpPr/>
          <p:nvPr/>
        </p:nvSpPr>
        <p:spPr>
          <a:xfrm>
            <a:off x="9456928" y="4652467"/>
            <a:ext cx="1096264" cy="52669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chart:F5:cellv"/>
          <p:cNvSpPr txBox="1"/>
          <p:nvPr/>
        </p:nvSpPr>
        <p:spPr>
          <a:xfrm>
            <a:off x="9456928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90" name="chart:F5:cell"/>
          <p:cNvSpPr/>
          <p:nvPr/>
        </p:nvSpPr>
        <p:spPr>
          <a:xfrm>
            <a:off x="10553192" y="4652467"/>
            <a:ext cx="1096264" cy="526694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chart:F5:cellv"/>
          <p:cNvSpPr txBox="1"/>
          <p:nvPr/>
        </p:nvSpPr>
        <p:spPr>
          <a:xfrm>
            <a:off x="10553192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sp>
        <p:nvSpPr>
          <p:cNvPr id="92" name="chart:F5:row"/>
          <p:cNvSpPr txBox="1"/>
          <p:nvPr/>
        </p:nvSpPr>
        <p:spPr>
          <a:xfrm>
            <a:off x="548640" y="5179161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未分類</a:t>
            </a:r>
          </a:p>
        </p:txBody>
      </p:sp>
      <p:sp>
        <p:nvSpPr>
          <p:cNvPr id="93" name="chart:F5:cell"/>
          <p:cNvSpPr/>
          <p:nvPr/>
        </p:nvSpPr>
        <p:spPr>
          <a:xfrm>
            <a:off x="1783080" y="5179161"/>
            <a:ext cx="1096264" cy="526694"/>
          </a:xfrm>
          <a:prstGeom prst="rect">
            <a:avLst/>
          </a:prstGeom>
          <a:solidFill>
            <a:srgbClr val="CA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chart:F5:cellv"/>
          <p:cNvSpPr txBox="1"/>
          <p:nvPr/>
        </p:nvSpPr>
        <p:spPr>
          <a:xfrm>
            <a:off x="1783080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95" name="chart:F5:cell"/>
          <p:cNvSpPr/>
          <p:nvPr/>
        </p:nvSpPr>
        <p:spPr>
          <a:xfrm>
            <a:off x="2879344" y="5179161"/>
            <a:ext cx="1096264" cy="526694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chart:F5:cellv"/>
          <p:cNvSpPr txBox="1"/>
          <p:nvPr/>
        </p:nvSpPr>
        <p:spPr>
          <a:xfrm>
            <a:off x="2879344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97" name="chart:F5:cell"/>
          <p:cNvSpPr/>
          <p:nvPr/>
        </p:nvSpPr>
        <p:spPr>
          <a:xfrm>
            <a:off x="3975608" y="5179161"/>
            <a:ext cx="1096264" cy="526694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chart:F5:cellv"/>
          <p:cNvSpPr txBox="1"/>
          <p:nvPr/>
        </p:nvSpPr>
        <p:spPr>
          <a:xfrm>
            <a:off x="3975608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99" name="chart:F5:cell"/>
          <p:cNvSpPr/>
          <p:nvPr/>
        </p:nvSpPr>
        <p:spPr>
          <a:xfrm>
            <a:off x="5071872" y="5179161"/>
            <a:ext cx="1096264" cy="526694"/>
          </a:xfrm>
          <a:prstGeom prst="rect">
            <a:avLst/>
          </a:prstGeom>
          <a:solidFill>
            <a:srgbClr val="DA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chart:F5:cellv"/>
          <p:cNvSpPr txBox="1"/>
          <p:nvPr/>
        </p:nvSpPr>
        <p:spPr>
          <a:xfrm>
            <a:off x="5071872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101" name="chart:F5:cell"/>
          <p:cNvSpPr/>
          <p:nvPr/>
        </p:nvSpPr>
        <p:spPr>
          <a:xfrm>
            <a:off x="6168136" y="5179161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chart:F5:cellv"/>
          <p:cNvSpPr txBox="1"/>
          <p:nvPr/>
        </p:nvSpPr>
        <p:spPr>
          <a:xfrm>
            <a:off x="6168136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103" name="chart:F5:cell"/>
          <p:cNvSpPr/>
          <p:nvPr/>
        </p:nvSpPr>
        <p:spPr>
          <a:xfrm>
            <a:off x="7264400" y="5179161"/>
            <a:ext cx="1096264" cy="526694"/>
          </a:xfrm>
          <a:prstGeom prst="rect">
            <a:avLst/>
          </a:prstGeom>
          <a:solidFill>
            <a:srgbClr val="B5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chart:F5:cellv"/>
          <p:cNvSpPr txBox="1"/>
          <p:nvPr/>
        </p:nvSpPr>
        <p:spPr>
          <a:xfrm>
            <a:off x="7264400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105" name="chart:F5:cell"/>
          <p:cNvSpPr/>
          <p:nvPr/>
        </p:nvSpPr>
        <p:spPr>
          <a:xfrm>
            <a:off x="8360664" y="5179161"/>
            <a:ext cx="1096264" cy="526694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chart:F5:cellv"/>
          <p:cNvSpPr txBox="1"/>
          <p:nvPr/>
        </p:nvSpPr>
        <p:spPr>
          <a:xfrm>
            <a:off x="8360664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07" name="chart:F5:cell"/>
          <p:cNvSpPr/>
          <p:nvPr/>
        </p:nvSpPr>
        <p:spPr>
          <a:xfrm>
            <a:off x="9456928" y="5179161"/>
            <a:ext cx="1096264" cy="526694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chart:F5:cellv"/>
          <p:cNvSpPr txBox="1"/>
          <p:nvPr/>
        </p:nvSpPr>
        <p:spPr>
          <a:xfrm>
            <a:off x="9456928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09" name="chart:F5:cell"/>
          <p:cNvSpPr/>
          <p:nvPr/>
        </p:nvSpPr>
        <p:spPr>
          <a:xfrm>
            <a:off x="10553192" y="5179161"/>
            <a:ext cx="1096264" cy="526694"/>
          </a:xfrm>
          <a:prstGeom prst="rect">
            <a:avLst/>
          </a:prstGeom>
          <a:solidFill>
            <a:srgbClr val="DD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chart:F5:cellv"/>
          <p:cNvSpPr txBox="1"/>
          <p:nvPr/>
        </p:nvSpPr>
        <p:spPr>
          <a:xfrm>
            <a:off x="10553192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111" name="chart:F5:col"/>
          <p:cNvSpPr txBox="1"/>
          <p:nvPr/>
        </p:nvSpPr>
        <p:spPr>
          <a:xfrm>
            <a:off x="1783080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112" name="chart:F5:col"/>
          <p:cNvSpPr txBox="1"/>
          <p:nvPr/>
        </p:nvSpPr>
        <p:spPr>
          <a:xfrm>
            <a:off x="2879344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113" name="chart:F5:col"/>
          <p:cNvSpPr txBox="1"/>
          <p:nvPr/>
        </p:nvSpPr>
        <p:spPr>
          <a:xfrm>
            <a:off x="3975608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114" name="chart:F5:col"/>
          <p:cNvSpPr txBox="1"/>
          <p:nvPr/>
        </p:nvSpPr>
        <p:spPr>
          <a:xfrm>
            <a:off x="5071872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115" name="chart:F5:col"/>
          <p:cNvSpPr txBox="1"/>
          <p:nvPr/>
        </p:nvSpPr>
        <p:spPr>
          <a:xfrm>
            <a:off x="6168136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116" name="chart:F5:col"/>
          <p:cNvSpPr txBox="1"/>
          <p:nvPr/>
        </p:nvSpPr>
        <p:spPr>
          <a:xfrm>
            <a:off x="7264400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117" name="chart:F5:col"/>
          <p:cNvSpPr txBox="1"/>
          <p:nvPr/>
        </p:nvSpPr>
        <p:spPr>
          <a:xfrm>
            <a:off x="8360664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118" name="chart:F5:col"/>
          <p:cNvSpPr txBox="1"/>
          <p:nvPr/>
        </p:nvSpPr>
        <p:spPr>
          <a:xfrm>
            <a:off x="9456928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119" name="chart:F5:col"/>
          <p:cNvSpPr txBox="1"/>
          <p:nvPr/>
        </p:nvSpPr>
        <p:spPr>
          <a:xfrm>
            <a:off x="10553192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20624" y="6199632"/>
            <a:ext cx="11356848" cy="53035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48640" y="6254496"/>
            <a:ext cx="11100816" cy="4206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分母：高、中風險 1,280 人。未分類 199 人列觀察名單，不投遞。Persona（客群輪廓）為規則定義，每項可回溯原句。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高風險論壇發言者 74% 確有流失句，分級可信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926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110081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風險等級對照說明（發言者層級）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316736"/>
          <a:ext cx="1135684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011680"/>
                <a:gridCol w="2011680"/>
                <a:gridCol w="2377440"/>
                <a:gridCol w="3767328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等級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風險分範圍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發言者數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占全部發言者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有被標為流失句（c≥2）的發言者比例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C0392B"/>
                          </a:solidFill>
                          <a:latin typeface="Arial"/>
                          <a:ea typeface="微軟正黑體"/>
                          <a:cs typeface="Arial"/>
                        </a:rPr>
                        <a:t>高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≥ 0.6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1,049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16.4%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74.1%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中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0.3–0.6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231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3.6%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19.5%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低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&lt; 0.3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5,114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80.0%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1.8%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2670048"/>
            <a:ext cx="11356848" cy="3657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24912"/>
            <a:ext cx="11100816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風險分＝模型最高流失機率×0.6＋命中規則數/8×0.4（初版權重）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108960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63824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分級方向可信：高風險 74% 真有流失句，低風險只有 1.8%。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20624" y="3639312"/>
          <a:ext cx="11356847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011680"/>
                <a:gridCol w="8339327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20624" y="6473952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57%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Haiku 初篩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57%。先把可能流失的句子留住，不能只靠這一段初篩。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2743200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98064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3,760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帶上下文複核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句。Mobile01、PTT 用 Sonnet，Dcard 用 GPT 再看一次。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4498848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553712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98.4%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對得起來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c≥2 一致率 98.4%，是兩段標註一致率，不是準確率。九面向標完，殘餘僅 4 句，不再另開面向。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16752" y="987552"/>
            <a:ext cx="5760720" cy="2478024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 w="3175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042416"/>
            <a:ext cx="5541264" cy="23682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F1  0.82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本機模型，與 Sonnet 同級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句。正例僅 9 句，召回區間 0.45–0.94。0.82 還不是穩定成績。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3575304"/>
            <a:ext cx="5760720" cy="2478024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 w="3175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3630168"/>
            <a:ext cx="5541264" cy="23682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600" b="1" i="0" lang="zh-TW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F1  0.50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零樣本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同一批人工金標。召回約 57% 不夠，所以才要兩段式，不能只靠初篩。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6163056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217920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初篩召回約 57%，所以第二段複核不能省；人工金標 300 句、正例僅 9 句，0.82 不是穩定成績。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562356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20624" y="2121408"/>
            <a:ext cx="5623560" cy="69494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76272"/>
            <a:ext cx="5367528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 A2b。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987552"/>
            <a:ext cx="5504688" cy="18288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42416"/>
            <a:ext cx="5248655" cy="11338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內網單機可訓可推（每句 0.7 秒）；正式規格見附錄 A6。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句：r4 F1 0.685，高於 Haiku 的 0.58。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359152"/>
            <a:ext cx="9601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95728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359152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16952" y="2359152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2395728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只取下一詞機率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1472" y="2359152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47503" y="2359152"/>
            <a:ext cx="14173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7503" y="2395728"/>
            <a:ext cx="14173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各等級機率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2926080"/>
            <a:ext cx="11356848" cy="256032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35808"/>
            <a:ext cx="1110081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五個步驟：從語料到可用的本機模型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ETL＋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弱監督標註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15184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816352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9504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資料切分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（防洩漏）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82896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84064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7216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任務轉換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50608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51776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4928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監督式微調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SFT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18320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19488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評估與校準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065776"/>
            <a:ext cx="1110081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各步驟的做法與數字見附錄 A1 術語表；指標見上表與附錄 A2b。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" y="5577840"/>
            <a:ext cx="11356848" cy="115214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632704"/>
            <a:ext cx="11100816" cy="10424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架構沿用開源 LLM2Jev，推論零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最高信心桶 n=71、實際約 68%（約七成），見附錄 A2b。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句測試集：r4 F1 0.685，高於 Haiku 零樣本的 F1 0.58。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14416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358383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沒抱怨就找出口；只看客訴看不到這群人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987552"/>
            <a:ext cx="5614416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1" y="1042416"/>
            <a:ext cx="5358383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74%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高風險確有流失句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1,049 人中 74% 有流失句，低風險 1.8%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560320"/>
            <a:ext cx="5614416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15184"/>
            <a:ext cx="5358383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 元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API 費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地端部署，每句 0.7 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5" y="2560320"/>
            <a:ext cx="5614416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1" y="2615184"/>
            <a:ext cx="5358383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R1–R8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每項可回溯原句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命中規則與機率一起標出，每句回得到去識別原句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0624" y="4151376"/>
          <a:ext cx="11356848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6784848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只看客訴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532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沒抱怨就走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看不到這群人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 128 人，替代 55% 到一般外廠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32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沒有原因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機率 6 成＋規則 4 成；高 74%、低 1.8%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32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在哪裡算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資料得出門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地端部署，每句 0.7 秒，F1 0.685，API 費 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32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四個客群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主觀標籤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ARI 0.08；只有靜默出走者被資料獨立支持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Email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 × 保固到期前 60 天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您好，提醒您，愛車保固即將屆滿。新車基本保證為自交車日起4年或行駛120,000公里，以先到者為準；自交車日起至4年或12萬公里保證到期前，連續準時8次…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1、52　查核通過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987552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042416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LINE 官方帳號推播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 × 回廠間隔拉長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您好，提醒您，可依愛車使用情況安排回廠：一般使用建議每半年實施定期保養；若半年超過一萬公里，則建議每一萬公里回廠。若您暫時不安排保養，也可預約全年免費的…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54、20　查核通過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3483864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538728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服務廠專員電話腳本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 × 刪項後首次回廠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您好，上次未處理的項目是否進行，仍由您決定；若想再確認車況，可預約回廠安排全年免費的尊榮安檢。自費更換的正廠零件，保證為自更換日起2年或行駛50,000…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20、9、11　查核通過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3483864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3538728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App 通知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 × 刪項後首次回廠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您好，官方資訊可轉述給車友：自費於Lexus服務廠更換的正廠零件（消耗性零件除外），保證為自更換日起2年或行駛50,000公里以內，以先到者為準。自備油…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9、11　查核通過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980176"/>
            <a:ext cx="11356848" cy="7498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110081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則主表已對 76 條條款查核通過；每個渠道列一則範本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待料全文見附錄 A3，客訴回訪見附錄 A5。人工核准才投遞。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4892040" cy="6812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4636007" cy="5715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人走了才知道。過保、刪項、間隔拉長時先找到人。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1741932"/>
            <a:ext cx="4892040" cy="91479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96796"/>
            <a:ext cx="4636007" cy="80506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729875"/>
            <a:ext cx="4892040" cy="1946365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84739"/>
            <a:ext cx="4636007" cy="183663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106 人時（估）→ 4.1 小時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省 90% 以上（估）、零 API 費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人時（估）；本機模型 4.1 小時跑完。人力改花在審名單與話術。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4749393"/>
            <a:ext cx="4892040" cy="6812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804257"/>
            <a:ext cx="4636007" cy="5715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五項主要風險，對策與責任人見右表。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503773"/>
            <a:ext cx="4892040" cy="122621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558637"/>
            <a:ext cx="4636007" cy="111648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怎麼讀右表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技術：寫錯條款只引用 76 條並人工審；模糊句多報就當初篩。資料註明論壇母體，上線改 CRM。法規只用去識別版。客群寫成可回溯規則，跨部門月審。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40679" y="987552"/>
          <a:ext cx="6336792" cy="574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2057400"/>
                <a:gridCol w="2761488"/>
                <a:gridCol w="804672"/>
              </a:tblGrid>
              <a:tr h="38404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Persona（客群輪廓）被質疑主觀（ARI 0.08）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規則定義、可回溯原句；每月跨部門工作小組覆核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335024"/>
          <a:ext cx="1135684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017520"/>
                <a:gridCol w="3566160"/>
                <a:gridCol w="3858768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名單一次性產出；12 則主表＋4 則附錄已查核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2761488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16352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127248"/>
            <a:ext cx="11356848" cy="1188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82112"/>
            <a:ext cx="11100816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句人工金標。每季重標，審核回饋持續再訓練。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模型，地端部署、API 封裝；GPU 伺服器建議規格見附錄 A6，零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條官方條款＋每則話術查核紀錄。價格與保固只引用這 76 條。</a:t>
            </a:r>
          </a:p>
        </p:txBody>
      </p:sp>
      <p:sp>
        <p:nvSpPr>
          <p:cNvPr id="12" name="chart:gantt:card"/>
          <p:cNvSpPr/>
          <p:nvPr/>
        </p:nvSpPr>
        <p:spPr>
          <a:xfrm>
            <a:off x="420624" y="4407407"/>
            <a:ext cx="11356848" cy="232257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art:gantt:title"/>
          <p:cNvSpPr txBox="1"/>
          <p:nvPr/>
        </p:nvSpPr>
        <p:spPr>
          <a:xfrm>
            <a:off x="548640" y="4480559"/>
            <a:ext cx="640080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導入時程：合計約 24 週（持續監控不設終點）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2148840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hart-line"/>
          <p:cNvCxnSpPr/>
          <p:nvPr/>
        </p:nvCxnSpPr>
        <p:spPr>
          <a:xfrm>
            <a:off x="3015996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art:gantt:tick"/>
          <p:cNvSpPr txBox="1"/>
          <p:nvPr/>
        </p:nvSpPr>
        <p:spPr>
          <a:xfrm>
            <a:off x="2604516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 週</a:t>
            </a:r>
          </a:p>
        </p:txBody>
      </p:sp>
      <p:cxnSp>
        <p:nvCxnSpPr>
          <p:cNvPr id="17" name="chart-line"/>
          <p:cNvCxnSpPr/>
          <p:nvPr/>
        </p:nvCxnSpPr>
        <p:spPr>
          <a:xfrm>
            <a:off x="3883152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gantt:tick"/>
          <p:cNvSpPr txBox="1"/>
          <p:nvPr/>
        </p:nvSpPr>
        <p:spPr>
          <a:xfrm>
            <a:off x="3471672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8 週</a:t>
            </a:r>
          </a:p>
        </p:txBody>
      </p:sp>
      <p:cxnSp>
        <p:nvCxnSpPr>
          <p:cNvPr id="19" name="chart-line"/>
          <p:cNvCxnSpPr/>
          <p:nvPr/>
        </p:nvCxnSpPr>
        <p:spPr>
          <a:xfrm>
            <a:off x="4750308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art:gantt:tick"/>
          <p:cNvSpPr txBox="1"/>
          <p:nvPr/>
        </p:nvSpPr>
        <p:spPr>
          <a:xfrm>
            <a:off x="4338828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12 週</a:t>
            </a:r>
          </a:p>
        </p:txBody>
      </p:sp>
      <p:cxnSp>
        <p:nvCxnSpPr>
          <p:cNvPr id="21" name="chart-line"/>
          <p:cNvCxnSpPr/>
          <p:nvPr/>
        </p:nvCxnSpPr>
        <p:spPr>
          <a:xfrm>
            <a:off x="5617464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art:gantt:tick"/>
          <p:cNvSpPr txBox="1"/>
          <p:nvPr/>
        </p:nvSpPr>
        <p:spPr>
          <a:xfrm>
            <a:off x="5205984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16 週</a:t>
            </a:r>
          </a:p>
        </p:txBody>
      </p:sp>
      <p:cxnSp>
        <p:nvCxnSpPr>
          <p:cNvPr id="23" name="chart-line"/>
          <p:cNvCxnSpPr/>
          <p:nvPr/>
        </p:nvCxnSpPr>
        <p:spPr>
          <a:xfrm>
            <a:off x="6484620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gantt:tick"/>
          <p:cNvSpPr txBox="1"/>
          <p:nvPr/>
        </p:nvSpPr>
        <p:spPr>
          <a:xfrm>
            <a:off x="6073140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 週</a:t>
            </a:r>
          </a:p>
        </p:txBody>
      </p:sp>
      <p:cxnSp>
        <p:nvCxnSpPr>
          <p:cNvPr id="25" name="chart-line"/>
          <p:cNvCxnSpPr/>
          <p:nvPr/>
        </p:nvCxnSpPr>
        <p:spPr>
          <a:xfrm>
            <a:off x="7351776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gantt:tick"/>
          <p:cNvSpPr txBox="1"/>
          <p:nvPr/>
        </p:nvSpPr>
        <p:spPr>
          <a:xfrm>
            <a:off x="6940296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24 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21884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4974335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資料接入</a:t>
            </a:r>
          </a:p>
        </p:txBody>
      </p:sp>
      <p:sp>
        <p:nvSpPr>
          <p:cNvPr id="29" name="chart:gantt:bar"/>
          <p:cNvSpPr/>
          <p:nvPr/>
        </p:nvSpPr>
        <p:spPr>
          <a:xfrm>
            <a:off x="2148840" y="5010911"/>
            <a:ext cx="867155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gantt:label"/>
          <p:cNvSpPr txBox="1"/>
          <p:nvPr/>
        </p:nvSpPr>
        <p:spPr>
          <a:xfrm>
            <a:off x="2148840" y="5010911"/>
            <a:ext cx="867155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1–4 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6096" y="4974335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R1–R8 換成 DMS 實際欄位，工單去識別後接入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354726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307177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模型校準</a:t>
            </a:r>
          </a:p>
        </p:txBody>
      </p:sp>
      <p:sp>
        <p:nvSpPr>
          <p:cNvPr id="34" name="chart:gantt:bar"/>
          <p:cNvSpPr/>
          <p:nvPr/>
        </p:nvSpPr>
        <p:spPr>
          <a:xfrm>
            <a:off x="3015996" y="5343753"/>
            <a:ext cx="867156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gantt:label"/>
          <p:cNvSpPr txBox="1"/>
          <p:nvPr/>
        </p:nvSpPr>
        <p:spPr>
          <a:xfrm>
            <a:off x="3015996" y="5343753"/>
            <a:ext cx="867156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5–8 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6096" y="5307177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重標 300 句金標，重驗 r4，再調觸發門檻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687568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5640019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單一據點試行</a:t>
            </a:r>
          </a:p>
        </p:txBody>
      </p:sp>
      <p:sp>
        <p:nvSpPr>
          <p:cNvPr id="39" name="chart:gantt:bar"/>
          <p:cNvSpPr/>
          <p:nvPr/>
        </p:nvSpPr>
        <p:spPr>
          <a:xfrm>
            <a:off x="3883152" y="5676595"/>
            <a:ext cx="1734311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art:gantt:label"/>
          <p:cNvSpPr txBox="1"/>
          <p:nvPr/>
        </p:nvSpPr>
        <p:spPr>
          <a:xfrm>
            <a:off x="3883152" y="5676595"/>
            <a:ext cx="1734311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9–16 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6096" y="5640019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一個服務廠跑完，專員審核後投遞，未核准不發出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6020409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5972860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擴大至全台</a:t>
            </a:r>
          </a:p>
        </p:txBody>
      </p:sp>
      <p:sp>
        <p:nvSpPr>
          <p:cNvPr id="44" name="chart:gantt:bar"/>
          <p:cNvSpPr/>
          <p:nvPr/>
        </p:nvSpPr>
        <p:spPr>
          <a:xfrm>
            <a:off x="5617464" y="6009436"/>
            <a:ext cx="1734312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art:gantt:label"/>
          <p:cNvSpPr txBox="1"/>
          <p:nvPr/>
        </p:nvSpPr>
        <p:spPr>
          <a:xfrm>
            <a:off x="5617464" y="6009436"/>
            <a:ext cx="1734312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17–24 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6096" y="5972860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依試行調話術與渠道分批上線，不一次開全台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6353251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6305702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持續監控</a:t>
            </a:r>
          </a:p>
        </p:txBody>
      </p:sp>
      <p:sp>
        <p:nvSpPr>
          <p:cNvPr id="49" name="chart:gantt:bar"/>
          <p:cNvSpPr/>
          <p:nvPr/>
        </p:nvSpPr>
        <p:spPr>
          <a:xfrm>
            <a:off x="3883152" y="6342278"/>
            <a:ext cx="3706368" cy="259689"/>
          </a:xfrm>
          <a:prstGeom prst="rightArrow">
            <a:avLst>
              <a:gd name="adj1" fmla="val 80000"/>
              <a:gd name="adj2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art:gantt:label"/>
          <p:cNvSpPr txBox="1"/>
          <p:nvPr/>
        </p:nvSpPr>
        <p:spPr>
          <a:xfrm>
            <a:off x="3883152" y="6353251"/>
            <a:ext cx="3468624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第 9 週起，不設終點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26096" y="6305702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日／週／月／季監控；不達標即重訓（附錄 A6）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A0 Dashboard 示意（不計入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五個看板：洞察三個、知識庫與審核佇列各一個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1　戰情總覽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高風險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1,049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5564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中風險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低風險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5,114</a:t>
            </a:r>
          </a:p>
        </p:txBody>
      </p:sp>
      <p:sp>
        <p:nvSpPr>
          <p:cNvPr id="14" name="chart:trend:card"/>
          <p:cNvSpPr/>
          <p:nvPr/>
        </p:nvSpPr>
        <p:spPr>
          <a:xfrm>
            <a:off x="530352" y="2139696"/>
            <a:ext cx="3493007" cy="138074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trend:title"/>
          <p:cNvSpPr txBox="1"/>
          <p:nvPr/>
        </p:nvSpPr>
        <p:spPr>
          <a:xfrm>
            <a:off x="603504" y="2176272"/>
            <a:ext cx="3346703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2026Q3 流失率 4.2%，季趨勢</a:t>
            </a:r>
          </a:p>
        </p:txBody>
      </p:sp>
      <p:sp>
        <p:nvSpPr>
          <p:cNvPr id="16" name="chart:trend:line"/>
          <p:cNvSpPr/>
          <p:nvPr/>
        </p:nvSpPr>
        <p:spPr>
          <a:xfrm rot="505787">
            <a:off x="916153" y="2933166"/>
            <a:ext cx="1368092" cy="9144"/>
          </a:xfrm>
          <a:prstGeom prst="rect">
            <a:avLst/>
          </a:prstGeom>
          <a:noFill/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art:trend:line"/>
          <p:cNvSpPr/>
          <p:nvPr/>
        </p:nvSpPr>
        <p:spPr>
          <a:xfrm rot="100046">
            <a:off x="2276569" y="3053143"/>
            <a:ext cx="1353885" cy="9144"/>
          </a:xfrm>
          <a:prstGeom prst="rect">
            <a:avLst/>
          </a:prstGeom>
          <a:noFill/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:trend:dot"/>
          <p:cNvSpPr/>
          <p:nvPr/>
        </p:nvSpPr>
        <p:spPr>
          <a:xfrm>
            <a:off x="859536" y="2773451"/>
            <a:ext cx="128016" cy="128016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art:trend:value"/>
          <p:cNvSpPr txBox="1"/>
          <p:nvPr/>
        </p:nvSpPr>
        <p:spPr>
          <a:xfrm>
            <a:off x="512064" y="2526563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10.9%</a:t>
            </a:r>
          </a:p>
        </p:txBody>
      </p:sp>
      <p:sp>
        <p:nvSpPr>
          <p:cNvPr id="20" name="chart:trend:cat"/>
          <p:cNvSpPr txBox="1"/>
          <p:nvPr/>
        </p:nvSpPr>
        <p:spPr>
          <a:xfrm>
            <a:off x="512064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2025Q3</a:t>
            </a:r>
          </a:p>
        </p:txBody>
      </p:sp>
      <p:sp>
        <p:nvSpPr>
          <p:cNvPr id="21" name="chart:trend:dot"/>
          <p:cNvSpPr/>
          <p:nvPr/>
        </p:nvSpPr>
        <p:spPr>
          <a:xfrm>
            <a:off x="2212848" y="2974009"/>
            <a:ext cx="128016" cy="128016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art:trend:value"/>
          <p:cNvSpPr txBox="1"/>
          <p:nvPr/>
        </p:nvSpPr>
        <p:spPr>
          <a:xfrm>
            <a:off x="1865376" y="2727121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5.3%</a:t>
            </a:r>
          </a:p>
        </p:txBody>
      </p:sp>
      <p:sp>
        <p:nvSpPr>
          <p:cNvPr id="23" name="chart:trend:cat"/>
          <p:cNvSpPr txBox="1"/>
          <p:nvPr/>
        </p:nvSpPr>
        <p:spPr>
          <a:xfrm>
            <a:off x="1865376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2026Q2</a:t>
            </a:r>
          </a:p>
        </p:txBody>
      </p:sp>
      <p:sp>
        <p:nvSpPr>
          <p:cNvPr id="24" name="chart:trend:dot"/>
          <p:cNvSpPr/>
          <p:nvPr/>
        </p:nvSpPr>
        <p:spPr>
          <a:xfrm>
            <a:off x="3566160" y="3013405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art:trend:value"/>
          <p:cNvSpPr txBox="1"/>
          <p:nvPr/>
        </p:nvSpPr>
        <p:spPr>
          <a:xfrm>
            <a:off x="3218687" y="2766517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4.2%</a:t>
            </a:r>
          </a:p>
        </p:txBody>
      </p:sp>
      <p:sp>
        <p:nvSpPr>
          <p:cNvPr id="26" name="chart:trend:cat"/>
          <p:cNvSpPr txBox="1"/>
          <p:nvPr/>
        </p:nvSpPr>
        <p:spPr>
          <a:xfrm>
            <a:off x="3218687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2026Q3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42816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42816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2544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2　報告池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1389888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25696" y="1482852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日報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1408176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每日排程：新留言 → 標註與風險 → 日報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52544" y="1886712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25696" y="1979676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週報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1905000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趨勢分析，依車型、風險等級、客群篩選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52544" y="2383536"/>
            <a:ext cx="3493007" cy="6400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43983" y="2420112"/>
            <a:ext cx="3310127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季報　2026Q3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流失率 4.2%，上季 5.3%，去年同季 10.9%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52544" y="3096768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425696" y="3189732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預警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7488" y="3115056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討論量達前 4 週平均 3 倍且至少 5 句就亮燈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65008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65008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74736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3　原始輿情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74736" y="1389888"/>
            <a:ext cx="3493007" cy="3291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47888" y="1408176"/>
            <a:ext cx="3346703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篩選：來源 ▾　日期 ▾　流失等級 ▾　面向 ▾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74736" y="1810512"/>
            <a:ext cx="3493007" cy="9144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66175" y="1847088"/>
            <a:ext cx="3310127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PTT</a:t>
            </a: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　p 0.998　面向：保固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10萬耶，過保外廠處理吧，說不定一萬都不用就幫你解決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74736" y="2834640"/>
            <a:ext cx="3493007" cy="630936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66175" y="2871216"/>
            <a:ext cx="3310127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Mobile01</a:t>
            </a: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　p 0.998　面向：價格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電瓶、輪胎都不用在原廠換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0624" y="3721608"/>
            <a:ext cx="5623560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0624" y="3721608"/>
            <a:ext cx="5623560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3739896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4　知識庫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0352" y="4123944"/>
            <a:ext cx="5404104" cy="6400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4160520"/>
            <a:ext cx="522122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76 條</a:t>
            </a: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官網 40／手冊 36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價格、保固年限、里程、次數只能引用這 76 條；RAG 檢索與審核都查這裡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30352" y="4837176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03504" y="4874895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" y="4855464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新車基本保證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30352" y="5205222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03504" y="5242941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" y="5223509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免費延保的次數、車種與建議售價上限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0352" y="5573268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03504" y="5610987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3856" y="5591555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新車基本保證的組成（原廠三年加總代理追加一年）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0352" y="5941314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03504" y="5979032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" y="5959601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準時保養享延長保證（連續準時 8 次定保）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53912" y="3721608"/>
            <a:ext cx="5623560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53912" y="3721608"/>
            <a:ext cx="5623560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63640" y="3739896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63640" y="4123944"/>
            <a:ext cx="5404104" cy="12527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73368" y="4178807"/>
            <a:ext cx="5184648" cy="11430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 H-7F3A　風險 高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Persona（客群輪廓）過保精算派　觸發 R1 過保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話術草稿　引用條目 41、52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6364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6364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4380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4380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82396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82396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63640" y="5961888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核准、改寫或退回；未核准不投遞。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0624" y="6455664"/>
            <a:ext cx="11356848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示意畫面，非實際介面；代號為示意，不是論壇帳號。決賽再給可操作版。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 補充圖表（不計入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三站發言者流失率，與發言者風險分布</a:t>
            </a:r>
          </a:p>
        </p:txBody>
      </p:sp>
      <p:sp>
        <p:nvSpPr>
          <p:cNvPr id="5" name="chart:F2:card"/>
          <p:cNvSpPr/>
          <p:nvPr/>
        </p:nvSpPr>
        <p:spPr>
          <a:xfrm>
            <a:off x="420624" y="987552"/>
            <a:ext cx="11356848" cy="224942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:F2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 論壇發言者流失率 18.2%，高於 Dcard 的 6.8%</a:t>
            </a:r>
          </a:p>
        </p:txBody>
      </p:sp>
      <p:sp>
        <p:nvSpPr>
          <p:cNvPr id="7" name="chart:F2:ylabel"/>
          <p:cNvSpPr txBox="1"/>
          <p:nvPr/>
        </p:nvSpPr>
        <p:spPr>
          <a:xfrm>
            <a:off x="548640" y="1060704"/>
            <a:ext cx="310896" cy="2084831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論壇發言者流失率（%）</a:t>
            </a:r>
          </a:p>
        </p:txBody>
      </p:sp>
      <p:cxnSp>
        <p:nvCxnSpPr>
          <p:cNvPr id="8" name="chart-line"/>
          <p:cNvCxnSpPr/>
          <p:nvPr/>
        </p:nvCxnSpPr>
        <p:spPr>
          <a:xfrm>
            <a:off x="1298448" y="283464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rt:F2:tick"/>
          <p:cNvSpPr txBox="1"/>
          <p:nvPr/>
        </p:nvSpPr>
        <p:spPr>
          <a:xfrm>
            <a:off x="877824" y="272491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0" name="chart-line"/>
          <p:cNvCxnSpPr/>
          <p:nvPr/>
        </p:nvCxnSpPr>
        <p:spPr>
          <a:xfrm>
            <a:off x="1298448" y="2283395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art:F2:tick"/>
          <p:cNvSpPr txBox="1"/>
          <p:nvPr/>
        </p:nvSpPr>
        <p:spPr>
          <a:xfrm>
            <a:off x="877824" y="2173667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cxnSp>
        <p:nvCxnSpPr>
          <p:cNvPr id="12" name="chart-line"/>
          <p:cNvCxnSpPr/>
          <p:nvPr/>
        </p:nvCxnSpPr>
        <p:spPr>
          <a:xfrm>
            <a:off x="1298448" y="17321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art:F2:tick"/>
          <p:cNvSpPr txBox="1"/>
          <p:nvPr/>
        </p:nvSpPr>
        <p:spPr>
          <a:xfrm>
            <a:off x="877824" y="16224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1298448" y="283464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art:F2:bar"/>
          <p:cNvSpPr/>
          <p:nvPr/>
        </p:nvSpPr>
        <p:spPr>
          <a:xfrm>
            <a:off x="2157984" y="2055976"/>
            <a:ext cx="1719072" cy="77866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hart-line"/>
          <p:cNvCxnSpPr/>
          <p:nvPr/>
        </p:nvCxnSpPr>
        <p:spPr>
          <a:xfrm>
            <a:off x="3017520" y="1972885"/>
            <a:ext cx="0" cy="159381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hart-line"/>
          <p:cNvCxnSpPr/>
          <p:nvPr/>
        </p:nvCxnSpPr>
        <p:spPr>
          <a:xfrm>
            <a:off x="2944368" y="197288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hart-line"/>
          <p:cNvCxnSpPr/>
          <p:nvPr/>
        </p:nvCxnSpPr>
        <p:spPr>
          <a:xfrm>
            <a:off x="2944368" y="213226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2:value"/>
          <p:cNvSpPr txBox="1"/>
          <p:nvPr/>
        </p:nvSpPr>
        <p:spPr>
          <a:xfrm>
            <a:off x="1929384" y="1652845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14.1</a:t>
            </a:r>
          </a:p>
        </p:txBody>
      </p:sp>
      <p:sp>
        <p:nvSpPr>
          <p:cNvPr id="20" name="chart:F2:cat"/>
          <p:cNvSpPr txBox="1"/>
          <p:nvPr/>
        </p:nvSpPr>
        <p:spPr>
          <a:xfrm>
            <a:off x="1929384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21" name="chart:F2:bar"/>
          <p:cNvSpPr/>
          <p:nvPr/>
        </p:nvSpPr>
        <p:spPr>
          <a:xfrm>
            <a:off x="5596128" y="1829477"/>
            <a:ext cx="1719072" cy="100516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hart-line"/>
          <p:cNvCxnSpPr/>
          <p:nvPr/>
        </p:nvCxnSpPr>
        <p:spPr>
          <a:xfrm>
            <a:off x="6455664" y="1747711"/>
            <a:ext cx="0" cy="15867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hart-line"/>
          <p:cNvCxnSpPr/>
          <p:nvPr/>
        </p:nvCxnSpPr>
        <p:spPr>
          <a:xfrm>
            <a:off x="6382512" y="174771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hart-line"/>
          <p:cNvCxnSpPr/>
          <p:nvPr/>
        </p:nvCxnSpPr>
        <p:spPr>
          <a:xfrm>
            <a:off x="6382512" y="190638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2:value"/>
          <p:cNvSpPr txBox="1"/>
          <p:nvPr/>
        </p:nvSpPr>
        <p:spPr>
          <a:xfrm>
            <a:off x="5367528" y="1427671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18.2</a:t>
            </a:r>
          </a:p>
        </p:txBody>
      </p:sp>
      <p:sp>
        <p:nvSpPr>
          <p:cNvPr id="26" name="chart:F2:cat"/>
          <p:cNvSpPr txBox="1"/>
          <p:nvPr/>
        </p:nvSpPr>
        <p:spPr>
          <a:xfrm>
            <a:off x="5367528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27" name="chart:F2:bar"/>
          <p:cNvSpPr/>
          <p:nvPr/>
        </p:nvSpPr>
        <p:spPr>
          <a:xfrm>
            <a:off x="9034272" y="2460581"/>
            <a:ext cx="1719072" cy="374058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hart-line"/>
          <p:cNvCxnSpPr/>
          <p:nvPr/>
        </p:nvCxnSpPr>
        <p:spPr>
          <a:xfrm>
            <a:off x="9893808" y="2381246"/>
            <a:ext cx="0" cy="145632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-line"/>
          <p:cNvCxnSpPr/>
          <p:nvPr/>
        </p:nvCxnSpPr>
        <p:spPr>
          <a:xfrm>
            <a:off x="9820656" y="238124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-line"/>
          <p:cNvCxnSpPr/>
          <p:nvPr/>
        </p:nvCxnSpPr>
        <p:spPr>
          <a:xfrm>
            <a:off x="9820656" y="252687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:F2:value"/>
          <p:cNvSpPr txBox="1"/>
          <p:nvPr/>
        </p:nvSpPr>
        <p:spPr>
          <a:xfrm>
            <a:off x="8805672" y="2061206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6.8</a:t>
            </a:r>
          </a:p>
        </p:txBody>
      </p:sp>
      <p:sp>
        <p:nvSpPr>
          <p:cNvPr id="32" name="chart:F2:cat"/>
          <p:cNvSpPr txBox="1"/>
          <p:nvPr/>
        </p:nvSpPr>
        <p:spPr>
          <a:xfrm>
            <a:off x="8805672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" y="3310128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364992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F2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論壇發言者流失率。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Mobile01 18.2%、PTT 14.1%、Dcard 6.8%。母體是論壇發言者，χ²=99.5。</a:t>
            </a:r>
          </a:p>
        </p:txBody>
      </p:sp>
      <p:sp>
        <p:nvSpPr>
          <p:cNvPr id="35" name="chart:F4:card"/>
          <p:cNvSpPr/>
          <p:nvPr/>
        </p:nvSpPr>
        <p:spPr>
          <a:xfrm>
            <a:off x="420624" y="3895344"/>
            <a:ext cx="11356848" cy="224942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art:F4:title"/>
          <p:cNvSpPr txBox="1"/>
          <p:nvPr/>
        </p:nvSpPr>
        <p:spPr>
          <a:xfrm>
            <a:off x="914400" y="396849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高風險發言者 1,049 人，占全部發言者 16.4%</a:t>
            </a:r>
          </a:p>
        </p:txBody>
      </p:sp>
      <p:sp>
        <p:nvSpPr>
          <p:cNvPr id="37" name="chart:F4:ylabel"/>
          <p:cNvSpPr txBox="1"/>
          <p:nvPr/>
        </p:nvSpPr>
        <p:spPr>
          <a:xfrm>
            <a:off x="548640" y="3968496"/>
            <a:ext cx="310896" cy="2084832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發言者數</a:t>
            </a:r>
          </a:p>
        </p:txBody>
      </p:sp>
      <p:cxnSp>
        <p:nvCxnSpPr>
          <p:cNvPr id="38" name="chart-line"/>
          <p:cNvCxnSpPr/>
          <p:nvPr/>
        </p:nvCxnSpPr>
        <p:spPr>
          <a:xfrm>
            <a:off x="1417320" y="5742432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hart:F4:tick"/>
          <p:cNvSpPr txBox="1"/>
          <p:nvPr/>
        </p:nvSpPr>
        <p:spPr>
          <a:xfrm>
            <a:off x="877824" y="5614416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40" name="chart-line"/>
          <p:cNvCxnSpPr/>
          <p:nvPr/>
        </p:nvCxnSpPr>
        <p:spPr>
          <a:xfrm>
            <a:off x="1417320" y="5325224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hart:F4:tick"/>
          <p:cNvSpPr txBox="1"/>
          <p:nvPr/>
        </p:nvSpPr>
        <p:spPr>
          <a:xfrm>
            <a:off x="877824" y="5197208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2,000</a:t>
            </a:r>
          </a:p>
        </p:txBody>
      </p:sp>
      <p:cxnSp>
        <p:nvCxnSpPr>
          <p:cNvPr id="42" name="chart-line"/>
          <p:cNvCxnSpPr/>
          <p:nvPr/>
        </p:nvCxnSpPr>
        <p:spPr>
          <a:xfrm>
            <a:off x="1417320" y="4908016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hart:F4:tick"/>
          <p:cNvSpPr txBox="1"/>
          <p:nvPr/>
        </p:nvSpPr>
        <p:spPr>
          <a:xfrm>
            <a:off x="877824" y="4780000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4,000</a:t>
            </a:r>
          </a:p>
        </p:txBody>
      </p:sp>
      <p:cxnSp>
        <p:nvCxnSpPr>
          <p:cNvPr id="44" name="chart-line"/>
          <p:cNvCxnSpPr/>
          <p:nvPr/>
        </p:nvCxnSpPr>
        <p:spPr>
          <a:xfrm>
            <a:off x="1417320" y="5742432"/>
            <a:ext cx="10195560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hart:F4:bar"/>
          <p:cNvSpPr/>
          <p:nvPr/>
        </p:nvSpPr>
        <p:spPr>
          <a:xfrm>
            <a:off x="2164994" y="5306658"/>
            <a:ext cx="1903171" cy="435773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art:F4:bar"/>
          <p:cNvSpPr/>
          <p:nvPr/>
        </p:nvSpPr>
        <p:spPr>
          <a:xfrm>
            <a:off x="2164994" y="4932006"/>
            <a:ext cx="1903171" cy="374652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4:bar"/>
          <p:cNvSpPr/>
          <p:nvPr/>
        </p:nvSpPr>
        <p:spPr>
          <a:xfrm>
            <a:off x="2164994" y="4675632"/>
            <a:ext cx="1903171" cy="25637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art:F4:value"/>
          <p:cNvSpPr txBox="1"/>
          <p:nvPr/>
        </p:nvSpPr>
        <p:spPr>
          <a:xfrm>
            <a:off x="1936394" y="4355592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5,114</a:t>
            </a:r>
          </a:p>
        </p:txBody>
      </p:sp>
      <p:sp>
        <p:nvSpPr>
          <p:cNvPr id="49" name="chart:F4:cat"/>
          <p:cNvSpPr txBox="1"/>
          <p:nvPr/>
        </p:nvSpPr>
        <p:spPr>
          <a:xfrm>
            <a:off x="198211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低</a:t>
            </a:r>
          </a:p>
        </p:txBody>
      </p:sp>
      <p:sp>
        <p:nvSpPr>
          <p:cNvPr id="50" name="chart:F4:bar"/>
          <p:cNvSpPr/>
          <p:nvPr/>
        </p:nvSpPr>
        <p:spPr>
          <a:xfrm>
            <a:off x="5563514" y="5715104"/>
            <a:ext cx="1903171" cy="27327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art:F4:bar"/>
          <p:cNvSpPr/>
          <p:nvPr/>
        </p:nvSpPr>
        <p:spPr>
          <a:xfrm>
            <a:off x="5563514" y="5699459"/>
            <a:ext cx="1903171" cy="15645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art:F4:value"/>
          <p:cNvSpPr txBox="1"/>
          <p:nvPr/>
        </p:nvSpPr>
        <p:spPr>
          <a:xfrm>
            <a:off x="5334914" y="5374204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231</a:t>
            </a:r>
          </a:p>
        </p:txBody>
      </p:sp>
      <p:sp>
        <p:nvSpPr>
          <p:cNvPr id="53" name="chart:F4:cat"/>
          <p:cNvSpPr txBox="1"/>
          <p:nvPr/>
        </p:nvSpPr>
        <p:spPr>
          <a:xfrm>
            <a:off x="538063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中</a:t>
            </a:r>
          </a:p>
        </p:txBody>
      </p:sp>
      <p:sp>
        <p:nvSpPr>
          <p:cNvPr id="54" name="chart:F4:bar"/>
          <p:cNvSpPr/>
          <p:nvPr/>
        </p:nvSpPr>
        <p:spPr>
          <a:xfrm>
            <a:off x="8962034" y="5628951"/>
            <a:ext cx="1903171" cy="113480"/>
          </a:xfrm>
          <a:prstGeom prst="rect">
            <a:avLst/>
          </a:prstGeom>
          <a:solidFill>
            <a:srgbClr val="F3C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hart:F4:bar"/>
          <p:cNvSpPr/>
          <p:nvPr/>
        </p:nvSpPr>
        <p:spPr>
          <a:xfrm>
            <a:off x="8962034" y="5554062"/>
            <a:ext cx="1903171" cy="74888"/>
          </a:xfrm>
          <a:prstGeom prst="rect">
            <a:avLst/>
          </a:prstGeom>
          <a:solidFill>
            <a:srgbClr val="E0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art:F4:bar"/>
          <p:cNvSpPr/>
          <p:nvPr/>
        </p:nvSpPr>
        <p:spPr>
          <a:xfrm>
            <a:off x="8962034" y="5523606"/>
            <a:ext cx="1903171" cy="30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hart:F4:value"/>
          <p:cNvSpPr txBox="1"/>
          <p:nvPr/>
        </p:nvSpPr>
        <p:spPr>
          <a:xfrm>
            <a:off x="8733434" y="5203566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1,049</a:t>
            </a:r>
          </a:p>
        </p:txBody>
      </p:sp>
      <p:sp>
        <p:nvSpPr>
          <p:cNvPr id="58" name="chart:F4:cat"/>
          <p:cNvSpPr txBox="1"/>
          <p:nvPr/>
        </p:nvSpPr>
        <p:spPr>
          <a:xfrm>
            <a:off x="877915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</a:t>
            </a:r>
          </a:p>
        </p:txBody>
      </p:sp>
      <p:sp>
        <p:nvSpPr>
          <p:cNvPr id="59" name="chart:F4:legend"/>
          <p:cNvSpPr/>
          <p:nvPr/>
        </p:nvSpPr>
        <p:spPr>
          <a:xfrm>
            <a:off x="8778240" y="4370831"/>
            <a:ext cx="201168" cy="146304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hart:F4:legend"/>
          <p:cNvSpPr txBox="1"/>
          <p:nvPr/>
        </p:nvSpPr>
        <p:spPr>
          <a:xfrm>
            <a:off x="9015984" y="4315968"/>
            <a:ext cx="96926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61" name="chart:F4:legend"/>
          <p:cNvSpPr/>
          <p:nvPr/>
        </p:nvSpPr>
        <p:spPr>
          <a:xfrm>
            <a:off x="10003536" y="4370831"/>
            <a:ext cx="201168" cy="146304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hart:F4:legend"/>
          <p:cNvSpPr txBox="1"/>
          <p:nvPr/>
        </p:nvSpPr>
        <p:spPr>
          <a:xfrm>
            <a:off x="10241280" y="4315968"/>
            <a:ext cx="46634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63" name="chart:F4:legend"/>
          <p:cNvSpPr/>
          <p:nvPr/>
        </p:nvSpPr>
        <p:spPr>
          <a:xfrm>
            <a:off x="10725912" y="4370831"/>
            <a:ext cx="201168" cy="14630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hart:F4:legend"/>
          <p:cNvSpPr txBox="1"/>
          <p:nvPr/>
        </p:nvSpPr>
        <p:spPr>
          <a:xfrm>
            <a:off x="10963656" y="4315968"/>
            <a:ext cx="667512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0624" y="6217920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6272783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F4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發言者風險分布。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高風險發言者 1,049 人（16.4%）；約八成在低風險。風險等級：紅＝高。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A2b 補充圖表（不計入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校準曲線，與季趨勢預警</a:t>
            </a:r>
          </a:p>
        </p:txBody>
      </p:sp>
      <p:sp>
        <p:nvSpPr>
          <p:cNvPr id="5" name="chart:F6:card"/>
          <p:cNvSpPr/>
          <p:nvPr/>
        </p:nvSpPr>
        <p:spPr>
          <a:xfrm>
            <a:off x="420624" y="987552"/>
            <a:ext cx="11356848" cy="22128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:F6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高分仍偏高：預測接近 96% 時，實際流失是 68%</a:t>
            </a:r>
          </a:p>
        </p:txBody>
      </p:sp>
      <p:sp>
        <p:nvSpPr>
          <p:cNvPr id="7" name="chart:F6:ylabel"/>
          <p:cNvSpPr txBox="1"/>
          <p:nvPr/>
        </p:nvSpPr>
        <p:spPr>
          <a:xfrm>
            <a:off x="548640" y="1060704"/>
            <a:ext cx="310896" cy="1847087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實際流失比例（%）</a:t>
            </a:r>
          </a:p>
        </p:txBody>
      </p:sp>
      <p:cxnSp>
        <p:nvCxnSpPr>
          <p:cNvPr id="8" name="chart-line"/>
          <p:cNvCxnSpPr/>
          <p:nvPr/>
        </p:nvCxnSpPr>
        <p:spPr>
          <a:xfrm>
            <a:off x="1298448" y="267004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rt:F6:tick"/>
          <p:cNvSpPr txBox="1"/>
          <p:nvPr/>
        </p:nvSpPr>
        <p:spPr>
          <a:xfrm>
            <a:off x="877824" y="256032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0" name="chart-line"/>
          <p:cNvCxnSpPr/>
          <p:nvPr/>
        </p:nvCxnSpPr>
        <p:spPr>
          <a:xfrm>
            <a:off x="1298448" y="207568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art:F6:tick"/>
          <p:cNvSpPr txBox="1"/>
          <p:nvPr/>
        </p:nvSpPr>
        <p:spPr>
          <a:xfrm>
            <a:off x="877824" y="196596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50</a:t>
            </a:r>
          </a:p>
        </p:txBody>
      </p:sp>
      <p:cxnSp>
        <p:nvCxnSpPr>
          <p:cNvPr id="12" name="chart-line"/>
          <p:cNvCxnSpPr/>
          <p:nvPr/>
        </p:nvCxnSpPr>
        <p:spPr>
          <a:xfrm>
            <a:off x="1298448" y="148132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art:F6:tick"/>
          <p:cNvSpPr txBox="1"/>
          <p:nvPr/>
        </p:nvSpPr>
        <p:spPr>
          <a:xfrm>
            <a:off x="877824" y="137160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3313785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art:F6:tick"/>
          <p:cNvSpPr txBox="1"/>
          <p:nvPr/>
        </p:nvSpPr>
        <p:spPr>
          <a:xfrm>
            <a:off x="3039465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5329123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6:tick"/>
          <p:cNvSpPr txBox="1"/>
          <p:nvPr/>
        </p:nvSpPr>
        <p:spPr>
          <a:xfrm>
            <a:off x="5054803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7344460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6:tick"/>
          <p:cNvSpPr txBox="1"/>
          <p:nvPr/>
        </p:nvSpPr>
        <p:spPr>
          <a:xfrm>
            <a:off x="7070140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9359798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6:tick"/>
          <p:cNvSpPr txBox="1"/>
          <p:nvPr/>
        </p:nvSpPr>
        <p:spPr>
          <a:xfrm>
            <a:off x="9085478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80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1375136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6:tick"/>
          <p:cNvSpPr txBox="1"/>
          <p:nvPr/>
        </p:nvSpPr>
        <p:spPr>
          <a:xfrm>
            <a:off x="11100815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2670048"/>
            <a:ext cx="10076688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hart-line"/>
          <p:cNvCxnSpPr/>
          <p:nvPr/>
        </p:nvCxnSpPr>
        <p:spPr>
          <a:xfrm>
            <a:off x="1298448" y="1481328"/>
            <a:ext cx="0" cy="118872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F6:diag"/>
          <p:cNvSpPr/>
          <p:nvPr/>
        </p:nvSpPr>
        <p:spPr>
          <a:xfrm rot="21196324">
            <a:off x="1263511" y="2071116"/>
            <a:ext cx="10146560" cy="9144"/>
          </a:xfrm>
          <a:prstGeom prst="rect">
            <a:avLst/>
          </a:prstGeom>
          <a:noFill/>
          <a:ln w="9525">
            <a:solidFill>
              <a:srgbClr val="D9DF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:F6:xlabel"/>
          <p:cNvSpPr txBox="1"/>
          <p:nvPr/>
        </p:nvSpPr>
        <p:spPr>
          <a:xfrm>
            <a:off x="1298448" y="2907791"/>
            <a:ext cx="10076688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桶內平均預測機率（%）</a:t>
            </a:r>
          </a:p>
        </p:txBody>
      </p:sp>
      <p:sp>
        <p:nvSpPr>
          <p:cNvPr id="28" name="chart:F6:dot"/>
          <p:cNvSpPr/>
          <p:nvPr/>
        </p:nvSpPr>
        <p:spPr>
          <a:xfrm>
            <a:off x="1273118" y="2515669"/>
            <a:ext cx="256032" cy="256032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art:F6:n"/>
          <p:cNvSpPr txBox="1"/>
          <p:nvPr/>
        </p:nvSpPr>
        <p:spPr>
          <a:xfrm>
            <a:off x="1574870" y="2277925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n=496</a:t>
            </a:r>
          </a:p>
        </p:txBody>
      </p:sp>
      <p:sp>
        <p:nvSpPr>
          <p:cNvPr id="30" name="chart:F6:dot"/>
          <p:cNvSpPr/>
          <p:nvPr/>
        </p:nvSpPr>
        <p:spPr>
          <a:xfrm>
            <a:off x="3828276" y="2449320"/>
            <a:ext cx="144274" cy="144274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art:F6:n"/>
          <p:cNvSpPr txBox="1"/>
          <p:nvPr/>
        </p:nvSpPr>
        <p:spPr>
          <a:xfrm>
            <a:off x="4018270" y="2411729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n=8</a:t>
            </a:r>
          </a:p>
        </p:txBody>
      </p:sp>
      <p:sp>
        <p:nvSpPr>
          <p:cNvPr id="32" name="chart:F6:dot"/>
          <p:cNvSpPr/>
          <p:nvPr/>
        </p:nvSpPr>
        <p:spPr>
          <a:xfrm>
            <a:off x="6099781" y="2380376"/>
            <a:ext cx="147080" cy="14708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art:F6:n"/>
          <p:cNvSpPr txBox="1"/>
          <p:nvPr/>
        </p:nvSpPr>
        <p:spPr>
          <a:xfrm>
            <a:off x="5889857" y="2142632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n=11</a:t>
            </a:r>
          </a:p>
        </p:txBody>
      </p:sp>
      <p:sp>
        <p:nvSpPr>
          <p:cNvPr id="34" name="chart:F6:dot"/>
          <p:cNvSpPr/>
          <p:nvPr/>
        </p:nvSpPr>
        <p:spPr>
          <a:xfrm>
            <a:off x="8443050" y="2340560"/>
            <a:ext cx="149523" cy="149523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6:n"/>
          <p:cNvSpPr txBox="1"/>
          <p:nvPr/>
        </p:nvSpPr>
        <p:spPr>
          <a:xfrm>
            <a:off x="8234348" y="2102816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n=14</a:t>
            </a:r>
          </a:p>
        </p:txBody>
      </p:sp>
      <p:sp>
        <p:nvSpPr>
          <p:cNvPr id="36" name="chart:F6:dot"/>
          <p:cNvSpPr/>
          <p:nvPr/>
        </p:nvSpPr>
        <p:spPr>
          <a:xfrm>
            <a:off x="10879191" y="1778181"/>
            <a:ext cx="176450" cy="17645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art:F6:n"/>
          <p:cNvSpPr txBox="1"/>
          <p:nvPr/>
        </p:nvSpPr>
        <p:spPr>
          <a:xfrm>
            <a:off x="10683952" y="1972919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n=71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" y="3273552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328416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F6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校準曲線。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最高信心桶 n=71，實際流失 68%。高分仍偏高，方向對。</a:t>
            </a:r>
          </a:p>
        </p:txBody>
      </p:sp>
      <p:sp>
        <p:nvSpPr>
          <p:cNvPr id="40" name="chart:F9:card"/>
          <p:cNvSpPr/>
          <p:nvPr/>
        </p:nvSpPr>
        <p:spPr>
          <a:xfrm>
            <a:off x="420624" y="3803904"/>
            <a:ext cx="11356848" cy="23957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3803904"/>
            <a:ext cx="11356848" cy="2394826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420624" y="6272784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327648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F9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季趨勢預警。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討論量達前 4 週平均 3 倍且至少 5 句就亮燈。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A3 待料通知話術（不計入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816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00816" cy="2633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　LINE 官方帳號推播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26、65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您好，零件還在等料，讓您久等了，很抱歉。到貨時間確定後，我們會第一時間通知您。到貨後如需到府取送車，可在保養或維修預定入廠日前 2 天預約，單程距離限 10 公里以內。若想了解目前進度，請聯絡您的服務專員。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3/3；重生成 0 次；生成次數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3913632"/>
            <a:ext cx="11356848" cy="2816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05072"/>
            <a:ext cx="11100816" cy="2633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　服務廠專員電話腳本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26、57、65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目前零件仍在等待中，有進一步消息我會再聯繫您。如果愛車因零件缺料而無法行駛或有行車安全疑慮，需要留廠72小時以上，維修期間我們會提供免費代步車；板金或噴漆維修恕無法提供，現車仍需視服務廠車輛調度實況而定。您也可聯絡我這位服務專員，或致電0800-036-036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6/6；重生成 1 次；生成次數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A4 CRM 觸發門檻（不計入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11356848" cy="574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40233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A5 客訴回訪話術（不計入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67919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00816" cy="2496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　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20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尊榮安檢，協助確認目前車況；後續有任何狀況，都可以由我作為您的服務窗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3776472"/>
            <a:ext cx="11356848" cy="267919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67912"/>
            <a:ext cx="11100816" cy="2496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　LINE 一對一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65、73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455664"/>
            <a:ext cx="11356848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【】為專員填寫欄位，刻意保留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A6 部署與閉環（不計入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地端部署、四級監控、不達標即重訓：監控到再訓練閉環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5120640"/>
            <a:ext cx="11356848" cy="133502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175504"/>
            <a:ext cx="1110081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跨部門分工　</a:t>
            </a: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每月跨部門工作小組；共同指標＝高風險車主 12 個月回廠率（上線後母體是 CRM 車主）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504688"/>
            <a:ext cx="2706624" cy="87782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550408"/>
            <a:ext cx="2487168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業務行銷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定三層 KPI 與客群策略，每月審高風險名單。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5504688"/>
            <a:ext cx="2706624" cy="87782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5550408"/>
            <a:ext cx="2487168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服務廠／客服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審核與投遞話術，回收退件與客訴案例（Human-in-the-Loop）。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5504688"/>
            <a:ext cx="2706624" cy="87782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5550408"/>
            <a:ext cx="2487168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法務風險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去識別流程、條款引用、拒收名單與頻率上限審查。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2832" y="5504688"/>
            <a:ext cx="2706624" cy="87782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59" y="5550408"/>
            <a:ext cx="2487168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資訊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地端部署、API、權限、備援與版本替換。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6510528"/>
            <a:ext cx="113568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以上為導入設計，尚未實作；週期與門檻取自 L7 運作流程草稿第 6 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987552"/>
            <a:ext cx="5120640" cy="40416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042416"/>
            <a:ext cx="48646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部署架構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" y="1316736"/>
            <a:ext cx="4901183" cy="92570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362456"/>
            <a:ext cx="4681727" cy="8342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部署位置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和泰內網地端（私有雲），資料不出門；論壇文字只做研究語料，上線改用工單與客訴文字。建議規格：GPU 伺服器 2 台（主＋備援），各 2× L40S 48 GB、256 GB RAM、2 TB NVMe；試行可先用 1 台。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" y="2288164"/>
            <a:ext cx="4901183" cy="92570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333884"/>
            <a:ext cx="4681727" cy="8342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服務封裝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自有 4B 模型（r4）包成內網 API，四個端點：流失判斷、風險分、Persona（客群輪廓）、RAG 話術。CRM／DMS 每日批次呼叫，溝通佇列即時呼叫；每句約 0.7 秒。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259592"/>
            <a:ext cx="4901183" cy="92570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305312"/>
            <a:ext cx="4681727" cy="8342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權限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Dashboard 依角色分權：服務廠專員只審核與投遞，AI 團隊調門檻與重訓，法務查條款引用與拒收名單。投遞紀錄寫回 CRM：時間、渠道、話術版本、審核人。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4231020"/>
            <a:ext cx="4901183" cy="743315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76740"/>
            <a:ext cx="4681727" cy="65187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版本管理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每版記錄資料版本、金標 F1／κ、校準表（r4 → r5…）；單張 GPU 數小時可重訓。新版先換單一據點試行，再換全台。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79" y="987552"/>
            <a:ext cx="6108192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監控到再訓練閉環</a:t>
            </a: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　不達標就重訓、分批替換，再回到監控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79" y="1316736"/>
            <a:ext cx="1293876" cy="457200"/>
          </a:xfrm>
          <a:prstGeom prst="roundRect">
            <a:avLst>
              <a:gd name="adj" fmla="val 12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監控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90588" y="1545336"/>
            <a:ext cx="256031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274051" y="1316736"/>
            <a:ext cx="1293876" cy="457200"/>
          </a:xfrm>
          <a:prstGeom prst="roundRect">
            <a:avLst>
              <a:gd name="adj" fmla="val 12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觸發門檻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95359" y="1545336"/>
            <a:ext cx="256033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878824" y="1316736"/>
            <a:ext cx="1293876" cy="457200"/>
          </a:xfrm>
          <a:prstGeom prst="roundRect">
            <a:avLst>
              <a:gd name="adj" fmla="val 12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再訓練／更新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200132" y="1545336"/>
            <a:ext cx="25603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483596" y="1316736"/>
            <a:ext cx="1293876" cy="457200"/>
          </a:xfrm>
          <a:prstGeom prst="roundRect">
            <a:avLst>
              <a:gd name="adj" fmla="val 12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分批替換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1130534" y="1792224"/>
            <a:ext cx="0" cy="292607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6316217" y="2084831"/>
            <a:ext cx="4814317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316217" y="1792224"/>
            <a:ext cx="0" cy="292607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90537" y="1828800"/>
            <a:ext cx="4265676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替換後回到監控；不達標再進下一輪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5669279" y="2176272"/>
          <a:ext cx="6108192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340864"/>
                <a:gridCol w="1554480"/>
                <a:gridCol w="1572768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週期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監控什麼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觸發門檻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動作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355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每日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投遞量、查核失敗率、投遞失敗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查核失敗率異常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暫停該接觸點，人工檢查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355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每週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退回與修改的話術樣本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退件集中於同一條目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更新提示詞與知識庫條目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355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高風險名單命中率（R7 回驗）、輸入句分布漂移（KS 檢定）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命中率下降或分布差異超門檻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調觸發門檻、重評 Persona（客群輪廓）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355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每季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300 句人工金標：F1、κ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&lt; 0.8 或 κ &lt; 0.6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重訓下一版，先試行據點再全台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A1 術語表（不計入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11356848" cy="574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434840"/>
                <a:gridCol w="4773168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單張 GPU 數小時可重訓；adapter 約數十 MB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36）；12 則主表＋4 則附錄，每則附引用與查核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Persona（客群輪廓）：只有靜默出走者被資料獨立支持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