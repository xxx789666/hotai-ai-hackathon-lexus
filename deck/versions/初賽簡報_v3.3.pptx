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大綱列出六個章節與頁碼，並標示兩大產出各落在哪幾頁。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長句門檻是Q3+1.5×IQR，超過78字只標記。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上方是兩個迴路；下方審核佇列是線框，決賽再給可操作版。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初賽提案簡報（v2，2026-10）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決策模型即時給出流失機率與可解釋規則，發言者層級高／中／低分級。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80%。高風險名單人工篩選工時 −90% 以上（估）。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六個章節、兩大產出，對照頁碼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1042416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句；186 句沒抱怨就走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773936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929384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1828800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5–8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 17.3%；一般外廠 736 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560320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715768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615184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9–11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1＋2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雙迴路、511 人、高風險 74%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3346703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502151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3401568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12–13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1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 98.4%；r4 F1 0.685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" y="4133087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4288536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4187951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支撐兩份產出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 位靜默出走者看得到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" y="4919471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5074919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4974335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15–17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產出 2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0624" y="5705855"/>
            <a:ext cx="6903720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5861303"/>
            <a:ext cx="402336" cy="402336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" y="5760719"/>
            <a:ext cx="6135624" cy="6035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18–24 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不計入 15 頁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</a:t>
            </a: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補充資料、術語、圖表與話術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987552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6" y="1042416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Persona、高風險議題、市場輿情、AI 技術／模型。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4–13 頁。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21,183 句、四種流失 Persona、r4 F1 0.685。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1,049 人，74% 真有流失句。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52360" y="3749039"/>
            <a:ext cx="4325112" cy="2670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0376" y="3803903"/>
            <a:ext cx="4069080" cy="2560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核心溝通策略、AI 生成內容、接觸點、運作流程圖。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落在第 9、15–18、22–24 頁（第 18 頁為附錄 A0）。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則主表＋4 則附錄已查核。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 A3、門檻 A4、客訴 A5。人工核准才發。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89611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1783080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8658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390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1224" y="1042416"/>
            <a:ext cx="14173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9983" y="1060704"/>
            <a:ext cx="4919472" cy="7498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句流失中，186 句沒抱怨就找出口。母體是論壇發言者，不是全體車主。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客群 Persona（客群輪廓）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10 頁</a:t>
            </a:r>
          </a:p>
        </p:txBody>
      </p:sp>
      <p:cxnSp>
        <p:nvCxnSpPr>
          <p:cNvPr id="16" name="divider"/>
          <p:cNvCxnSpPr/>
          <p:nvPr/>
        </p:nvCxnSpPr>
        <p:spPr>
          <a:xfrm>
            <a:off x="548640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高風險議題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6 頁</a:t>
            </a:r>
          </a:p>
        </p:txBody>
      </p:sp>
      <p:cxnSp>
        <p:nvCxnSpPr>
          <p:cNvPr id="19" name="divider"/>
          <p:cNvCxnSpPr/>
          <p:nvPr/>
        </p:nvCxnSpPr>
        <p:spPr>
          <a:xfrm>
            <a:off x="548640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整體市場輿情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 頁</a:t>
            </a:r>
          </a:p>
        </p:txBody>
      </p:sp>
      <p:cxnSp>
        <p:nvCxnSpPr>
          <p:cNvPr id="22" name="divider"/>
          <p:cNvCxnSpPr/>
          <p:nvPr/>
        </p:nvCxnSpPr>
        <p:spPr>
          <a:xfrm>
            <a:off x="548640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640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技術／模型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9、13 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1993392"/>
            <a:ext cx="5614416" cy="44256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1" y="2048256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1" y="281635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9983" y="2761488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核心溝通策略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cxnSp>
        <p:nvCxnSpPr>
          <p:cNvPr id="29" name="divider"/>
          <p:cNvCxnSpPr/>
          <p:nvPr/>
        </p:nvCxnSpPr>
        <p:spPr>
          <a:xfrm>
            <a:off x="6291071" y="3625596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91071" y="3717035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3" y="3662172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生成內容範例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頁；附錄 A3、A5</a:t>
            </a:r>
          </a:p>
        </p:txBody>
      </p:sp>
      <p:cxnSp>
        <p:nvCxnSpPr>
          <p:cNvPr id="32" name="divider"/>
          <p:cNvCxnSpPr/>
          <p:nvPr/>
        </p:nvCxnSpPr>
        <p:spPr>
          <a:xfrm>
            <a:off x="6291071" y="4526280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291071" y="4617720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4562855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精準接觸點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15 頁</a:t>
            </a:r>
          </a:p>
        </p:txBody>
      </p:sp>
      <p:cxnSp>
        <p:nvCxnSpPr>
          <p:cNvPr id="35" name="divider"/>
          <p:cNvCxnSpPr/>
          <p:nvPr/>
        </p:nvCxnSpPr>
        <p:spPr>
          <a:xfrm>
            <a:off x="6291071" y="5426964"/>
            <a:ext cx="5358384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91071" y="5518404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9983" y="5463540"/>
            <a:ext cx="4919472" cy="8458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運作流程圖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9、18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售後是人走了才知道；輿情能提前預警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只靠客訴與回廠紀錄，人流失之後才知道。1,671 句裡 186 句沒抱怨就找出口。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76272"/>
            <a:ext cx="7132320" cy="10972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231136"/>
            <a:ext cx="6912864" cy="9875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987552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08976" y="1033272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到期前先找到人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773936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6" y="1819656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回廠時再問一次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2560320"/>
            <a:ext cx="4096512" cy="71323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2606039"/>
            <a:ext cx="3840480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超過週期就提醒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3383280"/>
            <a:ext cx="11356848" cy="303580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438144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261616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85488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58640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998464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2336" y="3767328"/>
            <a:ext cx="3627120" cy="1024127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5488" y="3813048"/>
            <a:ext cx="3480816" cy="93268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35312" y="4809743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48640" y="5010912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056631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98464" y="5559551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5760720"/>
            <a:ext cx="11100816" cy="53035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806440"/>
            <a:ext cx="10954512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5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4" name="chart:F1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6" name="chart:F1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1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72689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1:tick"/>
          <p:cNvSpPr txBox="1"/>
          <p:nvPr/>
        </p:nvSpPr>
        <p:spPr>
          <a:xfrm>
            <a:off x="877824" y="461717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409541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1:tick"/>
          <p:cNvSpPr txBox="1"/>
          <p:nvPr/>
        </p:nvSpPr>
        <p:spPr>
          <a:xfrm>
            <a:off x="877824" y="398568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4639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1:tick"/>
          <p:cNvSpPr txBox="1"/>
          <p:nvPr/>
        </p:nvSpPr>
        <p:spPr>
          <a:xfrm>
            <a:off x="877824" y="33541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83244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1:tick"/>
          <p:cNvSpPr txBox="1"/>
          <p:nvPr/>
        </p:nvSpPr>
        <p:spPr>
          <a:xfrm>
            <a:off x="877824" y="272271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hart:F1:bar"/>
          <p:cNvSpPr/>
          <p:nvPr/>
        </p:nvSpPr>
        <p:spPr>
          <a:xfrm>
            <a:off x="1516197" y="3172170"/>
            <a:ext cx="710549" cy="218621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hart-line"/>
          <p:cNvCxnSpPr/>
          <p:nvPr/>
        </p:nvCxnSpPr>
        <p:spPr>
          <a:xfrm>
            <a:off x="1871472" y="2822217"/>
            <a:ext cx="0" cy="66059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282221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hart-line"/>
          <p:cNvCxnSpPr/>
          <p:nvPr/>
        </p:nvCxnSpPr>
        <p:spPr>
          <a:xfrm>
            <a:off x="1798320" y="348280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art:F1:value"/>
          <p:cNvSpPr txBox="1"/>
          <p:nvPr/>
        </p:nvSpPr>
        <p:spPr>
          <a:xfrm>
            <a:off x="1307592" y="254789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3" name="chart:F1:cat"/>
          <p:cNvSpPr txBox="1"/>
          <p:nvPr/>
        </p:nvSpPr>
        <p:spPr>
          <a:xfrm>
            <a:off x="130759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4" name="chart:F1:bar"/>
          <p:cNvSpPr/>
          <p:nvPr/>
        </p:nvSpPr>
        <p:spPr>
          <a:xfrm>
            <a:off x="2662245" y="3461342"/>
            <a:ext cx="710549" cy="189704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hart-line"/>
          <p:cNvCxnSpPr/>
          <p:nvPr/>
        </p:nvCxnSpPr>
        <p:spPr>
          <a:xfrm>
            <a:off x="3017520" y="3315534"/>
            <a:ext cx="0" cy="28293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31553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hart-line"/>
          <p:cNvCxnSpPr/>
          <p:nvPr/>
        </p:nvCxnSpPr>
        <p:spPr>
          <a:xfrm>
            <a:off x="2944368" y="359847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1:value"/>
          <p:cNvSpPr txBox="1"/>
          <p:nvPr/>
        </p:nvSpPr>
        <p:spPr>
          <a:xfrm>
            <a:off x="2453640" y="3041214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9" name="chart:F1:cat"/>
          <p:cNvSpPr txBox="1"/>
          <p:nvPr/>
        </p:nvSpPr>
        <p:spPr>
          <a:xfrm>
            <a:off x="245364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40" name="chart:F1:bar"/>
          <p:cNvSpPr/>
          <p:nvPr/>
        </p:nvSpPr>
        <p:spPr>
          <a:xfrm>
            <a:off x="3808293" y="4157712"/>
            <a:ext cx="710549" cy="120067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hart-line"/>
          <p:cNvCxnSpPr/>
          <p:nvPr/>
        </p:nvCxnSpPr>
        <p:spPr>
          <a:xfrm>
            <a:off x="4163568" y="3922378"/>
            <a:ext cx="0" cy="435547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39223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hart-line"/>
          <p:cNvCxnSpPr/>
          <p:nvPr/>
        </p:nvCxnSpPr>
        <p:spPr>
          <a:xfrm>
            <a:off x="4090416" y="435792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1:value"/>
          <p:cNvSpPr txBox="1"/>
          <p:nvPr/>
        </p:nvSpPr>
        <p:spPr>
          <a:xfrm>
            <a:off x="3599688" y="364805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5" name="chart:F1:cat"/>
          <p:cNvSpPr txBox="1"/>
          <p:nvPr/>
        </p:nvSpPr>
        <p:spPr>
          <a:xfrm>
            <a:off x="359968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6" name="chart:F1:bar"/>
          <p:cNvSpPr/>
          <p:nvPr/>
        </p:nvSpPr>
        <p:spPr>
          <a:xfrm>
            <a:off x="4954341" y="4234437"/>
            <a:ext cx="710549" cy="112394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hart-line"/>
          <p:cNvCxnSpPr/>
          <p:nvPr/>
        </p:nvCxnSpPr>
        <p:spPr>
          <a:xfrm>
            <a:off x="5309616" y="4104067"/>
            <a:ext cx="0" cy="2483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1040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hart-line"/>
          <p:cNvCxnSpPr/>
          <p:nvPr/>
        </p:nvCxnSpPr>
        <p:spPr>
          <a:xfrm>
            <a:off x="5236464" y="43524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chart:F1:value"/>
          <p:cNvSpPr txBox="1"/>
          <p:nvPr/>
        </p:nvSpPr>
        <p:spPr>
          <a:xfrm>
            <a:off x="4745736" y="38297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1" name="chart:F1:cat"/>
          <p:cNvSpPr txBox="1"/>
          <p:nvPr/>
        </p:nvSpPr>
        <p:spPr>
          <a:xfrm>
            <a:off x="474573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2" name="chart:F1:bar"/>
          <p:cNvSpPr/>
          <p:nvPr/>
        </p:nvSpPr>
        <p:spPr>
          <a:xfrm>
            <a:off x="6100389" y="4426302"/>
            <a:ext cx="710549" cy="93208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hart-line"/>
          <p:cNvCxnSpPr/>
          <p:nvPr/>
        </p:nvCxnSpPr>
        <p:spPr>
          <a:xfrm>
            <a:off x="6455664" y="3953497"/>
            <a:ext cx="0" cy="79513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3953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hart-line"/>
          <p:cNvCxnSpPr/>
          <p:nvPr/>
        </p:nvCxnSpPr>
        <p:spPr>
          <a:xfrm>
            <a:off x="6382512" y="474863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hart:F1:value"/>
          <p:cNvSpPr txBox="1"/>
          <p:nvPr/>
        </p:nvSpPr>
        <p:spPr>
          <a:xfrm>
            <a:off x="5891784" y="3679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7" name="chart:F1:cat"/>
          <p:cNvSpPr txBox="1"/>
          <p:nvPr/>
        </p:nvSpPr>
        <p:spPr>
          <a:xfrm>
            <a:off x="5891784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8" name="chart:F1:bar"/>
          <p:cNvSpPr/>
          <p:nvPr/>
        </p:nvSpPr>
        <p:spPr>
          <a:xfrm>
            <a:off x="7246437" y="4453296"/>
            <a:ext cx="710549" cy="90508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hart-line"/>
          <p:cNvCxnSpPr/>
          <p:nvPr/>
        </p:nvCxnSpPr>
        <p:spPr>
          <a:xfrm>
            <a:off x="7601712" y="4275592"/>
            <a:ext cx="0" cy="32815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27559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hart-line"/>
          <p:cNvCxnSpPr/>
          <p:nvPr/>
        </p:nvCxnSpPr>
        <p:spPr>
          <a:xfrm>
            <a:off x="7528560" y="460374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chart:F1:value"/>
          <p:cNvSpPr txBox="1"/>
          <p:nvPr/>
        </p:nvSpPr>
        <p:spPr>
          <a:xfrm>
            <a:off x="7037832" y="400127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3" name="chart:F1:cat"/>
          <p:cNvSpPr txBox="1"/>
          <p:nvPr/>
        </p:nvSpPr>
        <p:spPr>
          <a:xfrm>
            <a:off x="703783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4" name="chart:F1:bar"/>
          <p:cNvSpPr/>
          <p:nvPr/>
        </p:nvSpPr>
        <p:spPr>
          <a:xfrm>
            <a:off x="8392485" y="4758811"/>
            <a:ext cx="710549" cy="59957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hart-line"/>
          <p:cNvCxnSpPr/>
          <p:nvPr/>
        </p:nvCxnSpPr>
        <p:spPr>
          <a:xfrm>
            <a:off x="8747760" y="4595640"/>
            <a:ext cx="0" cy="292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459564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hart-line"/>
          <p:cNvCxnSpPr/>
          <p:nvPr/>
        </p:nvCxnSpPr>
        <p:spPr>
          <a:xfrm>
            <a:off x="8674608" y="488845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chart:F1:value"/>
          <p:cNvSpPr txBox="1"/>
          <p:nvPr/>
        </p:nvSpPr>
        <p:spPr>
          <a:xfrm>
            <a:off x="8183880" y="4321320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9" name="chart:F1:cat"/>
          <p:cNvSpPr txBox="1"/>
          <p:nvPr/>
        </p:nvSpPr>
        <p:spPr>
          <a:xfrm>
            <a:off x="818388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70" name="chart:F1:bar"/>
          <p:cNvSpPr/>
          <p:nvPr/>
        </p:nvSpPr>
        <p:spPr>
          <a:xfrm>
            <a:off x="9538533" y="4985275"/>
            <a:ext cx="710549" cy="37310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hart-line"/>
          <p:cNvCxnSpPr/>
          <p:nvPr/>
        </p:nvCxnSpPr>
        <p:spPr>
          <a:xfrm>
            <a:off x="9893808" y="4787655"/>
            <a:ext cx="0" cy="32818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47876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hart-line"/>
          <p:cNvCxnSpPr/>
          <p:nvPr/>
        </p:nvCxnSpPr>
        <p:spPr>
          <a:xfrm>
            <a:off x="9820656" y="511584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chart:F1:value"/>
          <p:cNvSpPr txBox="1"/>
          <p:nvPr/>
        </p:nvSpPr>
        <p:spPr>
          <a:xfrm>
            <a:off x="9329928" y="451333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5" name="chart:F1:cat"/>
          <p:cNvSpPr txBox="1"/>
          <p:nvPr/>
        </p:nvSpPr>
        <p:spPr>
          <a:xfrm>
            <a:off x="932992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6" name="chart:F1:bar"/>
          <p:cNvSpPr/>
          <p:nvPr/>
        </p:nvSpPr>
        <p:spPr>
          <a:xfrm>
            <a:off x="10684581" y="5182843"/>
            <a:ext cx="710549" cy="17554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hart-line"/>
          <p:cNvCxnSpPr/>
          <p:nvPr/>
        </p:nvCxnSpPr>
        <p:spPr>
          <a:xfrm>
            <a:off x="11039856" y="5085497"/>
            <a:ext cx="0" cy="16028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085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hart-line"/>
          <p:cNvCxnSpPr/>
          <p:nvPr/>
        </p:nvCxnSpPr>
        <p:spPr>
          <a:xfrm>
            <a:off x="10966704" y="5245779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chart:F1:value"/>
          <p:cNvSpPr txBox="1"/>
          <p:nvPr/>
        </p:nvSpPr>
        <p:spPr>
          <a:xfrm>
            <a:off x="10475976" y="4811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1" name="chart:F1:cat"/>
          <p:cNvSpPr txBox="1"/>
          <p:nvPr/>
        </p:nvSpPr>
        <p:spPr>
          <a:xfrm>
            <a:off x="1047597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對應接觸點：待料通知（R5），話術見附錄 A3。零件勝算比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4" name="chart:F3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6" name="chart:F3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3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66920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3:tick"/>
          <p:cNvSpPr txBox="1"/>
          <p:nvPr/>
        </p:nvSpPr>
        <p:spPr>
          <a:xfrm>
            <a:off x="877824" y="455948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398003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3:tick"/>
          <p:cNvSpPr txBox="1"/>
          <p:nvPr/>
        </p:nvSpPr>
        <p:spPr>
          <a:xfrm>
            <a:off x="877824" y="387030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29085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3:tick"/>
          <p:cNvSpPr txBox="1"/>
          <p:nvPr/>
        </p:nvSpPr>
        <p:spPr>
          <a:xfrm>
            <a:off x="877824" y="318112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3:bar"/>
          <p:cNvSpPr/>
          <p:nvPr/>
        </p:nvSpPr>
        <p:spPr>
          <a:xfrm>
            <a:off x="1625071" y="2822217"/>
            <a:ext cx="1065824" cy="253616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3:value"/>
          <p:cNvSpPr txBox="1"/>
          <p:nvPr/>
        </p:nvSpPr>
        <p:spPr>
          <a:xfrm>
            <a:off x="1396471" y="2547897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8" name="chart:F3:cat"/>
          <p:cNvSpPr txBox="1"/>
          <p:nvPr/>
        </p:nvSpPr>
        <p:spPr>
          <a:xfrm>
            <a:off x="139647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9" name="chart:F3:bar"/>
          <p:cNvSpPr/>
          <p:nvPr/>
        </p:nvSpPr>
        <p:spPr>
          <a:xfrm>
            <a:off x="3344143" y="4552048"/>
            <a:ext cx="1065824" cy="8063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3:value"/>
          <p:cNvSpPr txBox="1"/>
          <p:nvPr/>
        </p:nvSpPr>
        <p:spPr>
          <a:xfrm>
            <a:off x="3115543" y="42777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1" name="chart:F3:cat"/>
          <p:cNvSpPr txBox="1"/>
          <p:nvPr/>
        </p:nvSpPr>
        <p:spPr>
          <a:xfrm>
            <a:off x="3115543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2" name="chart:F3:bar"/>
          <p:cNvSpPr/>
          <p:nvPr/>
        </p:nvSpPr>
        <p:spPr>
          <a:xfrm>
            <a:off x="5063215" y="4893190"/>
            <a:ext cx="1065824" cy="46519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3:value"/>
          <p:cNvSpPr txBox="1"/>
          <p:nvPr/>
        </p:nvSpPr>
        <p:spPr>
          <a:xfrm>
            <a:off x="4834615" y="4618870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4" name="chart:F3:cat"/>
          <p:cNvSpPr txBox="1"/>
          <p:nvPr/>
        </p:nvSpPr>
        <p:spPr>
          <a:xfrm>
            <a:off x="4834615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5" name="chart:F3:bar"/>
          <p:cNvSpPr/>
          <p:nvPr/>
        </p:nvSpPr>
        <p:spPr>
          <a:xfrm>
            <a:off x="6782287" y="5117172"/>
            <a:ext cx="1065824" cy="2412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3:value"/>
          <p:cNvSpPr txBox="1"/>
          <p:nvPr/>
        </p:nvSpPr>
        <p:spPr>
          <a:xfrm>
            <a:off x="6553687" y="4842852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7" name="chart:F3:cat"/>
          <p:cNvSpPr txBox="1"/>
          <p:nvPr/>
        </p:nvSpPr>
        <p:spPr>
          <a:xfrm>
            <a:off x="6553687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8" name="chart:F3:bar"/>
          <p:cNvSpPr/>
          <p:nvPr/>
        </p:nvSpPr>
        <p:spPr>
          <a:xfrm>
            <a:off x="8501359" y="5220548"/>
            <a:ext cx="1065824" cy="1378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3:value"/>
          <p:cNvSpPr txBox="1"/>
          <p:nvPr/>
        </p:nvSpPr>
        <p:spPr>
          <a:xfrm>
            <a:off x="8272759" y="49462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40" name="chart:F3:cat"/>
          <p:cNvSpPr txBox="1"/>
          <p:nvPr/>
        </p:nvSpPr>
        <p:spPr>
          <a:xfrm>
            <a:off x="8272759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1" name="chart:F3:bar"/>
          <p:cNvSpPr/>
          <p:nvPr/>
        </p:nvSpPr>
        <p:spPr>
          <a:xfrm>
            <a:off x="10220431" y="5330816"/>
            <a:ext cx="1065824" cy="2756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3:value"/>
          <p:cNvSpPr txBox="1"/>
          <p:nvPr/>
        </p:nvSpPr>
        <p:spPr>
          <a:xfrm>
            <a:off x="9991831" y="5056496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3:cat"/>
          <p:cNvSpPr txBox="1"/>
          <p:nvPr/>
        </p:nvSpPr>
        <p:spPr>
          <a:xfrm>
            <a:off x="999183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34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9502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419856"/>
            <a:ext cx="11356848" cy="7315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1100816" cy="6217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次，抽查 50 句（seed 42）漏網 0。超過 78 字的長句占 7.77%，只標記、不刪除。21,183 句仍全部進入標註。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242816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297679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846319"/>
            <a:ext cx="11356848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44444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09036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2188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4841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69433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2585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65238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29830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2982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字只標記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425635" y="5632703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90227" y="4956047"/>
            <a:ext cx="2059228" cy="1353312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63379" y="5001767"/>
            <a:ext cx="1912924" cy="12618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499616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36192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673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49961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65376" y="153619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99232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9584" y="1499616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1536192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2686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1499616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75504" y="1536192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9904" y="1563624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99616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1536192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99616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79408" y="1536192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51008" y="149961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9296" y="1536192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5564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438144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6577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8601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" y="1956816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25956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20624" y="2798064"/>
            <a:ext cx="11356848" cy="2761488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6071616" y="2468880"/>
            <a:ext cx="0" cy="18288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12064" y="26517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2651760"/>
            <a:ext cx="0" cy="93268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12064" y="358444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633472" y="25328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43784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3063240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331012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4670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52344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4408" y="331012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82696" y="334670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1416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83480" y="331012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01768" y="334670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088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31152" y="331012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334670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41080" y="331012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9367" y="334670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674351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86415" y="331012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04703" y="334670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338559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191256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49103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858000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679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13263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21792" y="442569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64408" y="442569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83480" y="442569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01768" y="446227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7" name="Connector 66"/>
          <p:cNvCxnSpPr/>
          <p:nvPr/>
        </p:nvCxnSpPr>
        <p:spPr>
          <a:xfrm flipV="1">
            <a:off x="59207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931152" y="442569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949440" y="446227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7495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641080" y="442569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649455" y="427939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512064" y="539496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512064" y="400507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12064" y="400507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420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49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85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278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4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4706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43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35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172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64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600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93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29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0421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458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20624" y="614476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0352" y="6153912"/>
            <a:ext cx="11155680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4813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042416"/>
            <a:ext cx="2551176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chart:F5:card"/>
          <p:cNvSpPr/>
          <p:nvPr/>
        </p:nvSpPr>
        <p:spPr>
          <a:xfrm>
            <a:off x="420624" y="2560320"/>
            <a:ext cx="11356848" cy="3236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5:title"/>
          <p:cNvSpPr txBox="1"/>
          <p:nvPr/>
        </p:nvSpPr>
        <p:spPr>
          <a:xfrm>
            <a:off x="548640" y="263347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6" name="chart:F5:legend"/>
          <p:cNvSpPr txBox="1"/>
          <p:nvPr/>
        </p:nvSpPr>
        <p:spPr>
          <a:xfrm>
            <a:off x="8906256" y="263347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7" name="chart:F5:row"/>
          <p:cNvSpPr txBox="1"/>
          <p:nvPr/>
        </p:nvSpPr>
        <p:spPr>
          <a:xfrm>
            <a:off x="548640" y="2980944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8" name="chart:F5:cell"/>
          <p:cNvSpPr/>
          <p:nvPr/>
        </p:nvSpPr>
        <p:spPr>
          <a:xfrm>
            <a:off x="1783080" y="2980944"/>
            <a:ext cx="1096264" cy="482803"/>
          </a:xfrm>
          <a:prstGeom prst="rect">
            <a:avLst/>
          </a:prstGeom>
          <a:solidFill>
            <a:srgbClr val="083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F5:cellv"/>
          <p:cNvSpPr txBox="1"/>
          <p:nvPr/>
        </p:nvSpPr>
        <p:spPr>
          <a:xfrm>
            <a:off x="1783080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20" name="chart:F5:cell"/>
          <p:cNvSpPr/>
          <p:nvPr/>
        </p:nvSpPr>
        <p:spPr>
          <a:xfrm>
            <a:off x="2879344" y="2980944"/>
            <a:ext cx="1096264" cy="482803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5:cellv"/>
          <p:cNvSpPr txBox="1"/>
          <p:nvPr/>
        </p:nvSpPr>
        <p:spPr>
          <a:xfrm>
            <a:off x="2879344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2" name="chart:F5:cell"/>
          <p:cNvSpPr/>
          <p:nvPr/>
        </p:nvSpPr>
        <p:spPr>
          <a:xfrm>
            <a:off x="3975608" y="2980944"/>
            <a:ext cx="1096264" cy="482803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art:F5:cellv"/>
          <p:cNvSpPr txBox="1"/>
          <p:nvPr/>
        </p:nvSpPr>
        <p:spPr>
          <a:xfrm>
            <a:off x="3975608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4" name="chart:F5:cell"/>
          <p:cNvSpPr/>
          <p:nvPr/>
        </p:nvSpPr>
        <p:spPr>
          <a:xfrm>
            <a:off x="5071872" y="2980944"/>
            <a:ext cx="1096264" cy="482803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F5:cellv"/>
          <p:cNvSpPr txBox="1"/>
          <p:nvPr/>
        </p:nvSpPr>
        <p:spPr>
          <a:xfrm>
            <a:off x="5071872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6" name="chart:F5:cell"/>
          <p:cNvSpPr/>
          <p:nvPr/>
        </p:nvSpPr>
        <p:spPr>
          <a:xfrm>
            <a:off x="6168136" y="2980944"/>
            <a:ext cx="1096264" cy="482803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5:cellv"/>
          <p:cNvSpPr txBox="1"/>
          <p:nvPr/>
        </p:nvSpPr>
        <p:spPr>
          <a:xfrm>
            <a:off x="6168136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chart:F5:cell"/>
          <p:cNvSpPr/>
          <p:nvPr/>
        </p:nvSpPr>
        <p:spPr>
          <a:xfrm>
            <a:off x="7264400" y="2980944"/>
            <a:ext cx="1096264" cy="482803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5:cellv"/>
          <p:cNvSpPr txBox="1"/>
          <p:nvPr/>
        </p:nvSpPr>
        <p:spPr>
          <a:xfrm>
            <a:off x="7264400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30" name="chart:F5:cell"/>
          <p:cNvSpPr/>
          <p:nvPr/>
        </p:nvSpPr>
        <p:spPr>
          <a:xfrm>
            <a:off x="8360664" y="2980944"/>
            <a:ext cx="1096264" cy="482803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5:cellv"/>
          <p:cNvSpPr txBox="1"/>
          <p:nvPr/>
        </p:nvSpPr>
        <p:spPr>
          <a:xfrm>
            <a:off x="8360664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2" name="chart:F5:cell"/>
          <p:cNvSpPr/>
          <p:nvPr/>
        </p:nvSpPr>
        <p:spPr>
          <a:xfrm>
            <a:off x="9456928" y="2980944"/>
            <a:ext cx="1096264" cy="482803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5:cellv"/>
          <p:cNvSpPr txBox="1"/>
          <p:nvPr/>
        </p:nvSpPr>
        <p:spPr>
          <a:xfrm>
            <a:off x="9456928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4" name="chart:F5:cell"/>
          <p:cNvSpPr/>
          <p:nvPr/>
        </p:nvSpPr>
        <p:spPr>
          <a:xfrm>
            <a:off x="10553192" y="2980944"/>
            <a:ext cx="1096264" cy="482803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5:cellv"/>
          <p:cNvSpPr txBox="1"/>
          <p:nvPr/>
        </p:nvSpPr>
        <p:spPr>
          <a:xfrm>
            <a:off x="10553192" y="2980944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6" name="chart:F5:row"/>
          <p:cNvSpPr txBox="1"/>
          <p:nvPr/>
        </p:nvSpPr>
        <p:spPr>
          <a:xfrm>
            <a:off x="548640" y="3463747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7" name="chart:F5:cell"/>
          <p:cNvSpPr/>
          <p:nvPr/>
        </p:nvSpPr>
        <p:spPr>
          <a:xfrm>
            <a:off x="1783080" y="3463747"/>
            <a:ext cx="1096264" cy="482803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5:cellv"/>
          <p:cNvSpPr txBox="1"/>
          <p:nvPr/>
        </p:nvSpPr>
        <p:spPr>
          <a:xfrm>
            <a:off x="1783080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9" name="chart:F5:cell"/>
          <p:cNvSpPr/>
          <p:nvPr/>
        </p:nvSpPr>
        <p:spPr>
          <a:xfrm>
            <a:off x="2879344" y="3463747"/>
            <a:ext cx="1096264" cy="482803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F5:cellv"/>
          <p:cNvSpPr txBox="1"/>
          <p:nvPr/>
        </p:nvSpPr>
        <p:spPr>
          <a:xfrm>
            <a:off x="2879344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1" name="chart:F5:cell"/>
          <p:cNvSpPr/>
          <p:nvPr/>
        </p:nvSpPr>
        <p:spPr>
          <a:xfrm>
            <a:off x="3975608" y="3463747"/>
            <a:ext cx="1096264" cy="482803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5:cellv"/>
          <p:cNvSpPr txBox="1"/>
          <p:nvPr/>
        </p:nvSpPr>
        <p:spPr>
          <a:xfrm>
            <a:off x="3975608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5:cell"/>
          <p:cNvSpPr/>
          <p:nvPr/>
        </p:nvSpPr>
        <p:spPr>
          <a:xfrm>
            <a:off x="5071872" y="3463747"/>
            <a:ext cx="1096264" cy="482803"/>
          </a:xfrm>
          <a:prstGeom prst="rect">
            <a:avLst/>
          </a:prstGeom>
          <a:solidFill>
            <a:srgbClr val="084B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5:cellv"/>
          <p:cNvSpPr txBox="1"/>
          <p:nvPr/>
        </p:nvSpPr>
        <p:spPr>
          <a:xfrm>
            <a:off x="5071872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5" name="chart:F5:cell"/>
          <p:cNvSpPr/>
          <p:nvPr/>
        </p:nvSpPr>
        <p:spPr>
          <a:xfrm>
            <a:off x="6168136" y="3463747"/>
            <a:ext cx="1096264" cy="482803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5:cellv"/>
          <p:cNvSpPr txBox="1"/>
          <p:nvPr/>
        </p:nvSpPr>
        <p:spPr>
          <a:xfrm>
            <a:off x="6168136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7" name="chart:F5:cell"/>
          <p:cNvSpPr/>
          <p:nvPr/>
        </p:nvSpPr>
        <p:spPr>
          <a:xfrm>
            <a:off x="7264400" y="3463747"/>
            <a:ext cx="1096264" cy="482803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5:cellv"/>
          <p:cNvSpPr txBox="1"/>
          <p:nvPr/>
        </p:nvSpPr>
        <p:spPr>
          <a:xfrm>
            <a:off x="7264400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9" name="chart:F5:cell"/>
          <p:cNvSpPr/>
          <p:nvPr/>
        </p:nvSpPr>
        <p:spPr>
          <a:xfrm>
            <a:off x="8360664" y="3463747"/>
            <a:ext cx="1096264" cy="482803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5:cellv"/>
          <p:cNvSpPr txBox="1"/>
          <p:nvPr/>
        </p:nvSpPr>
        <p:spPr>
          <a:xfrm>
            <a:off x="8360664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1" name="chart:F5:cell"/>
          <p:cNvSpPr/>
          <p:nvPr/>
        </p:nvSpPr>
        <p:spPr>
          <a:xfrm>
            <a:off x="9456928" y="3463747"/>
            <a:ext cx="1096264" cy="482803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5:cellv"/>
          <p:cNvSpPr txBox="1"/>
          <p:nvPr/>
        </p:nvSpPr>
        <p:spPr>
          <a:xfrm>
            <a:off x="9456928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3" name="chart:F5:cell"/>
          <p:cNvSpPr/>
          <p:nvPr/>
        </p:nvSpPr>
        <p:spPr>
          <a:xfrm>
            <a:off x="10553192" y="3463747"/>
            <a:ext cx="1096264" cy="482803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5:cellv"/>
          <p:cNvSpPr txBox="1"/>
          <p:nvPr/>
        </p:nvSpPr>
        <p:spPr>
          <a:xfrm>
            <a:off x="10553192" y="3463747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5" name="chart:F5:row"/>
          <p:cNvSpPr txBox="1"/>
          <p:nvPr/>
        </p:nvSpPr>
        <p:spPr>
          <a:xfrm>
            <a:off x="548640" y="3946550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6" name="chart:F5:cell"/>
          <p:cNvSpPr/>
          <p:nvPr/>
        </p:nvSpPr>
        <p:spPr>
          <a:xfrm>
            <a:off x="1783080" y="3946550"/>
            <a:ext cx="1096264" cy="482803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5:cellv"/>
          <p:cNvSpPr txBox="1"/>
          <p:nvPr/>
        </p:nvSpPr>
        <p:spPr>
          <a:xfrm>
            <a:off x="1783080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8" name="chart:F5:cell"/>
          <p:cNvSpPr/>
          <p:nvPr/>
        </p:nvSpPr>
        <p:spPr>
          <a:xfrm>
            <a:off x="2879344" y="3946550"/>
            <a:ext cx="1096264" cy="482803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5:cellv"/>
          <p:cNvSpPr txBox="1"/>
          <p:nvPr/>
        </p:nvSpPr>
        <p:spPr>
          <a:xfrm>
            <a:off x="2879344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60" name="chart:F5:cell"/>
          <p:cNvSpPr/>
          <p:nvPr/>
        </p:nvSpPr>
        <p:spPr>
          <a:xfrm>
            <a:off x="3975608" y="3946550"/>
            <a:ext cx="1096264" cy="482803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5:cellv"/>
          <p:cNvSpPr txBox="1"/>
          <p:nvPr/>
        </p:nvSpPr>
        <p:spPr>
          <a:xfrm>
            <a:off x="3975608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2" name="chart:F5:cell"/>
          <p:cNvSpPr/>
          <p:nvPr/>
        </p:nvSpPr>
        <p:spPr>
          <a:xfrm>
            <a:off x="5071872" y="3946550"/>
            <a:ext cx="1096264" cy="482803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5:cellv"/>
          <p:cNvSpPr txBox="1"/>
          <p:nvPr/>
        </p:nvSpPr>
        <p:spPr>
          <a:xfrm>
            <a:off x="5071872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4" name="chart:F5:cell"/>
          <p:cNvSpPr/>
          <p:nvPr/>
        </p:nvSpPr>
        <p:spPr>
          <a:xfrm>
            <a:off x="6168136" y="3946550"/>
            <a:ext cx="1096264" cy="482803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art:F5:cellv"/>
          <p:cNvSpPr txBox="1"/>
          <p:nvPr/>
        </p:nvSpPr>
        <p:spPr>
          <a:xfrm>
            <a:off x="6168136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6" name="chart:F5:cell"/>
          <p:cNvSpPr/>
          <p:nvPr/>
        </p:nvSpPr>
        <p:spPr>
          <a:xfrm>
            <a:off x="7264400" y="3946550"/>
            <a:ext cx="1096264" cy="482803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art:F5:cellv"/>
          <p:cNvSpPr txBox="1"/>
          <p:nvPr/>
        </p:nvSpPr>
        <p:spPr>
          <a:xfrm>
            <a:off x="7264400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8" name="chart:F5:cell"/>
          <p:cNvSpPr/>
          <p:nvPr/>
        </p:nvSpPr>
        <p:spPr>
          <a:xfrm>
            <a:off x="8360664" y="3946550"/>
            <a:ext cx="1096264" cy="482803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art:F5:cellv"/>
          <p:cNvSpPr txBox="1"/>
          <p:nvPr/>
        </p:nvSpPr>
        <p:spPr>
          <a:xfrm>
            <a:off x="8360664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70" name="chart:F5:cell"/>
          <p:cNvSpPr/>
          <p:nvPr/>
        </p:nvSpPr>
        <p:spPr>
          <a:xfrm>
            <a:off x="9456928" y="3946550"/>
            <a:ext cx="1096264" cy="482803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art:F5:cellv"/>
          <p:cNvSpPr txBox="1"/>
          <p:nvPr/>
        </p:nvSpPr>
        <p:spPr>
          <a:xfrm>
            <a:off x="9456928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2" name="chart:F5:cell"/>
          <p:cNvSpPr/>
          <p:nvPr/>
        </p:nvSpPr>
        <p:spPr>
          <a:xfrm>
            <a:off x="10553192" y="3946550"/>
            <a:ext cx="1096264" cy="482803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art:F5:cellv"/>
          <p:cNvSpPr txBox="1"/>
          <p:nvPr/>
        </p:nvSpPr>
        <p:spPr>
          <a:xfrm>
            <a:off x="10553192" y="3946550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4" name="chart:F5:row"/>
          <p:cNvSpPr txBox="1"/>
          <p:nvPr/>
        </p:nvSpPr>
        <p:spPr>
          <a:xfrm>
            <a:off x="548640" y="4429353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5" name="chart:F5:cell"/>
          <p:cNvSpPr/>
          <p:nvPr/>
        </p:nvSpPr>
        <p:spPr>
          <a:xfrm>
            <a:off x="1783080" y="4429353"/>
            <a:ext cx="1096264" cy="482803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art:F5:cellv"/>
          <p:cNvSpPr txBox="1"/>
          <p:nvPr/>
        </p:nvSpPr>
        <p:spPr>
          <a:xfrm>
            <a:off x="1783080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7" name="chart:F5:cell"/>
          <p:cNvSpPr/>
          <p:nvPr/>
        </p:nvSpPr>
        <p:spPr>
          <a:xfrm>
            <a:off x="2879344" y="4429353"/>
            <a:ext cx="1096264" cy="482803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art:F5:cellv"/>
          <p:cNvSpPr txBox="1"/>
          <p:nvPr/>
        </p:nvSpPr>
        <p:spPr>
          <a:xfrm>
            <a:off x="2879344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9" name="chart:F5:cell"/>
          <p:cNvSpPr/>
          <p:nvPr/>
        </p:nvSpPr>
        <p:spPr>
          <a:xfrm>
            <a:off x="3975608" y="4429353"/>
            <a:ext cx="1096264" cy="482803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art:F5:cellv"/>
          <p:cNvSpPr txBox="1"/>
          <p:nvPr/>
        </p:nvSpPr>
        <p:spPr>
          <a:xfrm>
            <a:off x="3975608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1" name="chart:F5:cell"/>
          <p:cNvSpPr/>
          <p:nvPr/>
        </p:nvSpPr>
        <p:spPr>
          <a:xfrm>
            <a:off x="5071872" y="4429353"/>
            <a:ext cx="1096264" cy="482803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hart:F5:cellv"/>
          <p:cNvSpPr txBox="1"/>
          <p:nvPr/>
        </p:nvSpPr>
        <p:spPr>
          <a:xfrm>
            <a:off x="5071872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3" name="chart:F5:cell"/>
          <p:cNvSpPr/>
          <p:nvPr/>
        </p:nvSpPr>
        <p:spPr>
          <a:xfrm>
            <a:off x="6168136" y="4429353"/>
            <a:ext cx="1096264" cy="482803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hart:F5:cellv"/>
          <p:cNvSpPr txBox="1"/>
          <p:nvPr/>
        </p:nvSpPr>
        <p:spPr>
          <a:xfrm>
            <a:off x="6168136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5" name="chart:F5:cell"/>
          <p:cNvSpPr/>
          <p:nvPr/>
        </p:nvSpPr>
        <p:spPr>
          <a:xfrm>
            <a:off x="7264400" y="4429353"/>
            <a:ext cx="1096264" cy="482803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art:F5:cellv"/>
          <p:cNvSpPr txBox="1"/>
          <p:nvPr/>
        </p:nvSpPr>
        <p:spPr>
          <a:xfrm>
            <a:off x="7264400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7" name="chart:F5:cell"/>
          <p:cNvSpPr/>
          <p:nvPr/>
        </p:nvSpPr>
        <p:spPr>
          <a:xfrm>
            <a:off x="8360664" y="4429353"/>
            <a:ext cx="1096264" cy="482803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hart:F5:cellv"/>
          <p:cNvSpPr txBox="1"/>
          <p:nvPr/>
        </p:nvSpPr>
        <p:spPr>
          <a:xfrm>
            <a:off x="8360664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9" name="chart:F5:cell"/>
          <p:cNvSpPr/>
          <p:nvPr/>
        </p:nvSpPr>
        <p:spPr>
          <a:xfrm>
            <a:off x="9456928" y="4429353"/>
            <a:ext cx="1096264" cy="482803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art:F5:cellv"/>
          <p:cNvSpPr txBox="1"/>
          <p:nvPr/>
        </p:nvSpPr>
        <p:spPr>
          <a:xfrm>
            <a:off x="9456928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1" name="chart:F5:cell"/>
          <p:cNvSpPr/>
          <p:nvPr/>
        </p:nvSpPr>
        <p:spPr>
          <a:xfrm>
            <a:off x="10553192" y="4429353"/>
            <a:ext cx="1096264" cy="482803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art:F5:cellv"/>
          <p:cNvSpPr txBox="1"/>
          <p:nvPr/>
        </p:nvSpPr>
        <p:spPr>
          <a:xfrm>
            <a:off x="10553192" y="4429353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3" name="chart:F5:row"/>
          <p:cNvSpPr txBox="1"/>
          <p:nvPr/>
        </p:nvSpPr>
        <p:spPr>
          <a:xfrm>
            <a:off x="548640" y="4912156"/>
            <a:ext cx="1179576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4" name="chart:F5:cell"/>
          <p:cNvSpPr/>
          <p:nvPr/>
        </p:nvSpPr>
        <p:spPr>
          <a:xfrm>
            <a:off x="1783080" y="4912156"/>
            <a:ext cx="1096264" cy="482803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hart:F5:cellv"/>
          <p:cNvSpPr txBox="1"/>
          <p:nvPr/>
        </p:nvSpPr>
        <p:spPr>
          <a:xfrm>
            <a:off x="1783080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6" name="chart:F5:cell"/>
          <p:cNvSpPr/>
          <p:nvPr/>
        </p:nvSpPr>
        <p:spPr>
          <a:xfrm>
            <a:off x="2879344" y="4912156"/>
            <a:ext cx="1096264" cy="482803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hart:F5:cellv"/>
          <p:cNvSpPr txBox="1"/>
          <p:nvPr/>
        </p:nvSpPr>
        <p:spPr>
          <a:xfrm>
            <a:off x="2879344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8" name="chart:F5:cell"/>
          <p:cNvSpPr/>
          <p:nvPr/>
        </p:nvSpPr>
        <p:spPr>
          <a:xfrm>
            <a:off x="3975608" y="4912156"/>
            <a:ext cx="1096264" cy="482803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hart:F5:cellv"/>
          <p:cNvSpPr txBox="1"/>
          <p:nvPr/>
        </p:nvSpPr>
        <p:spPr>
          <a:xfrm>
            <a:off x="3975608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0" name="chart:F5:cell"/>
          <p:cNvSpPr/>
          <p:nvPr/>
        </p:nvSpPr>
        <p:spPr>
          <a:xfrm>
            <a:off x="5071872" y="4912156"/>
            <a:ext cx="1096264" cy="482803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hart:F5:cellv"/>
          <p:cNvSpPr txBox="1"/>
          <p:nvPr/>
        </p:nvSpPr>
        <p:spPr>
          <a:xfrm>
            <a:off x="5071872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2" name="chart:F5:cell"/>
          <p:cNvSpPr/>
          <p:nvPr/>
        </p:nvSpPr>
        <p:spPr>
          <a:xfrm>
            <a:off x="6168136" y="4912156"/>
            <a:ext cx="1096264" cy="482803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hart:F5:cellv"/>
          <p:cNvSpPr txBox="1"/>
          <p:nvPr/>
        </p:nvSpPr>
        <p:spPr>
          <a:xfrm>
            <a:off x="6168136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4" name="chart:F5:cell"/>
          <p:cNvSpPr/>
          <p:nvPr/>
        </p:nvSpPr>
        <p:spPr>
          <a:xfrm>
            <a:off x="7264400" y="4912156"/>
            <a:ext cx="1096264" cy="482803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art:F5:cellv"/>
          <p:cNvSpPr txBox="1"/>
          <p:nvPr/>
        </p:nvSpPr>
        <p:spPr>
          <a:xfrm>
            <a:off x="7264400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6" name="chart:F5:cell"/>
          <p:cNvSpPr/>
          <p:nvPr/>
        </p:nvSpPr>
        <p:spPr>
          <a:xfrm>
            <a:off x="8360664" y="4912156"/>
            <a:ext cx="1096264" cy="482803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hart:F5:cellv"/>
          <p:cNvSpPr txBox="1"/>
          <p:nvPr/>
        </p:nvSpPr>
        <p:spPr>
          <a:xfrm>
            <a:off x="8360664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8" name="chart:F5:cell"/>
          <p:cNvSpPr/>
          <p:nvPr/>
        </p:nvSpPr>
        <p:spPr>
          <a:xfrm>
            <a:off x="9456928" y="4912156"/>
            <a:ext cx="1096264" cy="482803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rt:F5:cellv"/>
          <p:cNvSpPr txBox="1"/>
          <p:nvPr/>
        </p:nvSpPr>
        <p:spPr>
          <a:xfrm>
            <a:off x="9456928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10" name="chart:F5:cell"/>
          <p:cNvSpPr/>
          <p:nvPr/>
        </p:nvSpPr>
        <p:spPr>
          <a:xfrm>
            <a:off x="10553192" y="4912156"/>
            <a:ext cx="1096264" cy="482803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hart:F5:cellv"/>
          <p:cNvSpPr txBox="1"/>
          <p:nvPr/>
        </p:nvSpPr>
        <p:spPr>
          <a:xfrm>
            <a:off x="10553192" y="4912156"/>
            <a:ext cx="1096264" cy="482803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2" name="chart:F5:best"/>
          <p:cNvSpPr/>
          <p:nvPr/>
        </p:nvSpPr>
        <p:spPr>
          <a:xfrm>
            <a:off x="1783080" y="2980944"/>
            <a:ext cx="1096264" cy="482803"/>
          </a:xfrm>
          <a:prstGeom prst="rect">
            <a:avLst/>
          </a:prstGeom>
          <a:noFill/>
          <a:ln w="2857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chart:F5:col"/>
          <p:cNvSpPr txBox="1"/>
          <p:nvPr/>
        </p:nvSpPr>
        <p:spPr>
          <a:xfrm>
            <a:off x="178308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287934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397560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507187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6168136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726440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836066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20" name="chart:F5:col"/>
          <p:cNvSpPr txBox="1"/>
          <p:nvPr/>
        </p:nvSpPr>
        <p:spPr>
          <a:xfrm>
            <a:off x="945692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21" name="chart:F5:col"/>
          <p:cNvSpPr txBox="1"/>
          <p:nvPr/>
        </p:nvSpPr>
        <p:spPr>
          <a:xfrm>
            <a:off x="1055319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20624" y="5888736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8640" y="5943599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 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chart:F7:card"/>
          <p:cNvSpPr/>
          <p:nvPr/>
        </p:nvSpPr>
        <p:spPr>
          <a:xfrm>
            <a:off x="420624" y="987552"/>
            <a:ext cx="11356848" cy="2011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7:title"/>
          <p:cNvSpPr txBox="1"/>
          <p:nvPr/>
        </p:nvSpPr>
        <p:spPr>
          <a:xfrm>
            <a:off x="548640" y="1060704"/>
            <a:ext cx="111008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過保精算派人數最多，平均風險也最高</a:t>
            </a:r>
          </a:p>
        </p:txBody>
      </p:sp>
      <p:sp>
        <p:nvSpPr>
          <p:cNvPr id="8" name="chart:F7a:ylabel"/>
          <p:cNvSpPr txBox="1"/>
          <p:nvPr/>
        </p:nvSpPr>
        <p:spPr>
          <a:xfrm>
            <a:off x="548640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7a:tick"/>
          <p:cNvSpPr txBox="1"/>
          <p:nvPr/>
        </p:nvSpPr>
        <p:spPr>
          <a:xfrm>
            <a:off x="877824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86586"/>
            <a:ext cx="449884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7a:tick"/>
          <p:cNvSpPr txBox="1"/>
          <p:nvPr/>
        </p:nvSpPr>
        <p:spPr>
          <a:xfrm>
            <a:off x="877824" y="167685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596896"/>
            <a:ext cx="449884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7a:bar"/>
          <p:cNvSpPr/>
          <p:nvPr/>
        </p:nvSpPr>
        <p:spPr>
          <a:xfrm>
            <a:off x="1469404" y="1768760"/>
            <a:ext cx="557857" cy="82813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7a:value"/>
          <p:cNvSpPr txBox="1"/>
          <p:nvPr/>
        </p:nvSpPr>
        <p:spPr>
          <a:xfrm>
            <a:off x="1307592" y="1494440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511</a:t>
            </a:r>
          </a:p>
        </p:txBody>
      </p:sp>
      <p:sp>
        <p:nvSpPr>
          <p:cNvPr id="16" name="chart:F7a:cat"/>
          <p:cNvSpPr txBox="1"/>
          <p:nvPr/>
        </p:nvSpPr>
        <p:spPr>
          <a:xfrm>
            <a:off x="1307592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7" name="chart:F7a:bar"/>
          <p:cNvSpPr/>
          <p:nvPr/>
        </p:nvSpPr>
        <p:spPr>
          <a:xfrm>
            <a:off x="2369173" y="2196603"/>
            <a:ext cx="557857" cy="40029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F7a:value"/>
          <p:cNvSpPr txBox="1"/>
          <p:nvPr/>
        </p:nvSpPr>
        <p:spPr>
          <a:xfrm>
            <a:off x="2207361" y="1922283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247</a:t>
            </a:r>
          </a:p>
        </p:txBody>
      </p:sp>
      <p:sp>
        <p:nvSpPr>
          <p:cNvPr id="19" name="chart:F7a:cat"/>
          <p:cNvSpPr txBox="1"/>
          <p:nvPr/>
        </p:nvSpPr>
        <p:spPr>
          <a:xfrm>
            <a:off x="220736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20" name="chart:F7a:bar"/>
          <p:cNvSpPr/>
          <p:nvPr/>
        </p:nvSpPr>
        <p:spPr>
          <a:xfrm>
            <a:off x="3268943" y="2280875"/>
            <a:ext cx="557857" cy="31602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7a:value"/>
          <p:cNvSpPr txBox="1"/>
          <p:nvPr/>
        </p:nvSpPr>
        <p:spPr>
          <a:xfrm>
            <a:off x="3107131" y="2006555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195</a:t>
            </a:r>
          </a:p>
        </p:txBody>
      </p:sp>
      <p:sp>
        <p:nvSpPr>
          <p:cNvPr id="22" name="chart:F7a:cat"/>
          <p:cNvSpPr txBox="1"/>
          <p:nvPr/>
        </p:nvSpPr>
        <p:spPr>
          <a:xfrm>
            <a:off x="3107131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23" name="chart:F7a:bar"/>
          <p:cNvSpPr/>
          <p:nvPr/>
        </p:nvSpPr>
        <p:spPr>
          <a:xfrm>
            <a:off x="4168713" y="2389456"/>
            <a:ext cx="557857" cy="207439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art:F7a:value"/>
          <p:cNvSpPr txBox="1"/>
          <p:nvPr/>
        </p:nvSpPr>
        <p:spPr>
          <a:xfrm>
            <a:off x="4006900" y="2115136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128</a:t>
            </a:r>
          </a:p>
        </p:txBody>
      </p:sp>
      <p:sp>
        <p:nvSpPr>
          <p:cNvPr id="25" name="chart:F7a:cat"/>
          <p:cNvSpPr txBox="1"/>
          <p:nvPr/>
        </p:nvSpPr>
        <p:spPr>
          <a:xfrm>
            <a:off x="400690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26" name="chart:F7a:bar"/>
          <p:cNvSpPr/>
          <p:nvPr/>
        </p:nvSpPr>
        <p:spPr>
          <a:xfrm>
            <a:off x="5068482" y="2274392"/>
            <a:ext cx="557857" cy="32250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7a:value"/>
          <p:cNvSpPr txBox="1"/>
          <p:nvPr/>
        </p:nvSpPr>
        <p:spPr>
          <a:xfrm>
            <a:off x="4906670" y="2000072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199</a:t>
            </a:r>
          </a:p>
        </p:txBody>
      </p:sp>
      <p:sp>
        <p:nvSpPr>
          <p:cNvPr id="28" name="chart:F7a:cat"/>
          <p:cNvSpPr txBox="1"/>
          <p:nvPr/>
        </p:nvSpPr>
        <p:spPr>
          <a:xfrm>
            <a:off x="4906670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29" name="chart:F7b:ylabel"/>
          <p:cNvSpPr txBox="1"/>
          <p:nvPr/>
        </p:nvSpPr>
        <p:spPr>
          <a:xfrm>
            <a:off x="6364223" y="1426464"/>
            <a:ext cx="310896" cy="1481328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平均風險分</a:t>
            </a:r>
          </a:p>
        </p:txBody>
      </p:sp>
      <p:cxnSp>
        <p:nvCxnSpPr>
          <p:cNvPr id="30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7b:tick"/>
          <p:cNvSpPr txBox="1"/>
          <p:nvPr/>
        </p:nvSpPr>
        <p:spPr>
          <a:xfrm>
            <a:off x="6693407" y="248716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2" name="chart-line"/>
          <p:cNvCxnSpPr/>
          <p:nvPr/>
        </p:nvCxnSpPr>
        <p:spPr>
          <a:xfrm>
            <a:off x="7114031" y="2157984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art:F7b:tick"/>
          <p:cNvSpPr txBox="1"/>
          <p:nvPr/>
        </p:nvSpPr>
        <p:spPr>
          <a:xfrm>
            <a:off x="6693407" y="20482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0.5</a:t>
            </a:r>
          </a:p>
        </p:txBody>
      </p:sp>
      <p:cxnSp>
        <p:nvCxnSpPr>
          <p:cNvPr id="34" name="chart-line"/>
          <p:cNvCxnSpPr/>
          <p:nvPr/>
        </p:nvCxnSpPr>
        <p:spPr>
          <a:xfrm>
            <a:off x="7114031" y="1719072"/>
            <a:ext cx="4498849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art:F7b:tick"/>
          <p:cNvSpPr txBox="1"/>
          <p:nvPr/>
        </p:nvSpPr>
        <p:spPr>
          <a:xfrm>
            <a:off x="6693407" y="160934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cxnSp>
        <p:nvCxnSpPr>
          <p:cNvPr id="36" name="chart-line"/>
          <p:cNvCxnSpPr/>
          <p:nvPr/>
        </p:nvCxnSpPr>
        <p:spPr>
          <a:xfrm>
            <a:off x="7114031" y="2596896"/>
            <a:ext cx="4498849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7b:bar"/>
          <p:cNvSpPr/>
          <p:nvPr/>
        </p:nvSpPr>
        <p:spPr>
          <a:xfrm>
            <a:off x="7284988" y="1952275"/>
            <a:ext cx="557857" cy="6446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7b:value"/>
          <p:cNvSpPr txBox="1"/>
          <p:nvPr/>
        </p:nvSpPr>
        <p:spPr>
          <a:xfrm>
            <a:off x="7123175" y="1677955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0.73</a:t>
            </a:r>
          </a:p>
        </p:txBody>
      </p:sp>
      <p:sp>
        <p:nvSpPr>
          <p:cNvPr id="39" name="chart:F7b:cat"/>
          <p:cNvSpPr txBox="1"/>
          <p:nvPr/>
        </p:nvSpPr>
        <p:spPr>
          <a:xfrm>
            <a:off x="712317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40" name="chart:F7b:bar"/>
          <p:cNvSpPr/>
          <p:nvPr/>
        </p:nvSpPr>
        <p:spPr>
          <a:xfrm>
            <a:off x="8184757" y="2010765"/>
            <a:ext cx="557857" cy="58613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F7b:value"/>
          <p:cNvSpPr txBox="1"/>
          <p:nvPr/>
        </p:nvSpPr>
        <p:spPr>
          <a:xfrm>
            <a:off x="8022945" y="1736445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0.67</a:t>
            </a:r>
          </a:p>
        </p:txBody>
      </p:sp>
      <p:sp>
        <p:nvSpPr>
          <p:cNvPr id="42" name="chart:F7b:cat"/>
          <p:cNvSpPr txBox="1"/>
          <p:nvPr/>
        </p:nvSpPr>
        <p:spPr>
          <a:xfrm>
            <a:off x="802294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43" name="chart:F7b:bar"/>
          <p:cNvSpPr/>
          <p:nvPr/>
        </p:nvSpPr>
        <p:spPr>
          <a:xfrm>
            <a:off x="9084527" y="1980427"/>
            <a:ext cx="557857" cy="61646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7b:value"/>
          <p:cNvSpPr txBox="1"/>
          <p:nvPr/>
        </p:nvSpPr>
        <p:spPr>
          <a:xfrm>
            <a:off x="8922715" y="1706107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0.70</a:t>
            </a:r>
          </a:p>
        </p:txBody>
      </p:sp>
      <p:sp>
        <p:nvSpPr>
          <p:cNvPr id="45" name="chart:F7b:cat"/>
          <p:cNvSpPr txBox="1"/>
          <p:nvPr/>
        </p:nvSpPr>
        <p:spPr>
          <a:xfrm>
            <a:off x="8922715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46" name="chart:F7b:bar"/>
          <p:cNvSpPr/>
          <p:nvPr/>
        </p:nvSpPr>
        <p:spPr>
          <a:xfrm>
            <a:off x="9984297" y="1988761"/>
            <a:ext cx="557857" cy="60813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7b:value"/>
          <p:cNvSpPr txBox="1"/>
          <p:nvPr/>
        </p:nvSpPr>
        <p:spPr>
          <a:xfrm>
            <a:off x="9822484" y="1714441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0.69</a:t>
            </a:r>
          </a:p>
        </p:txBody>
      </p:sp>
      <p:sp>
        <p:nvSpPr>
          <p:cNvPr id="48" name="chart:F7b:cat"/>
          <p:cNvSpPr txBox="1"/>
          <p:nvPr/>
        </p:nvSpPr>
        <p:spPr>
          <a:xfrm>
            <a:off x="982248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49" name="chart:F7b:bar"/>
          <p:cNvSpPr/>
          <p:nvPr/>
        </p:nvSpPr>
        <p:spPr>
          <a:xfrm>
            <a:off x="10884066" y="2113653"/>
            <a:ext cx="557857" cy="48324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7b:value"/>
          <p:cNvSpPr txBox="1"/>
          <p:nvPr/>
        </p:nvSpPr>
        <p:spPr>
          <a:xfrm>
            <a:off x="10722254" y="1839333"/>
            <a:ext cx="88148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0.55</a:t>
            </a:r>
          </a:p>
        </p:txBody>
      </p:sp>
      <p:sp>
        <p:nvSpPr>
          <p:cNvPr id="51" name="chart:F7b:cat"/>
          <p:cNvSpPr txBox="1"/>
          <p:nvPr/>
        </p:nvSpPr>
        <p:spPr>
          <a:xfrm>
            <a:off x="10722254" y="2624328"/>
            <a:ext cx="88148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0624" y="3072384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127248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1.8%。過保精算派 511 人，平均風險 0.73。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420624" y="3602736"/>
          <a:ext cx="11356847" cy="2523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6605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420624" y="6163055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29840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4704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072128"/>
            <a:ext cx="676656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26991"/>
            <a:ext cx="651052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6912" y="987552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042416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6912" y="3310127"/>
            <a:ext cx="4480559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3364991"/>
            <a:ext cx="4261103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632703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7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121408"/>
            <a:ext cx="5623560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36752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7007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31136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2231136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267712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503" y="2231136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3" y="2267712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篩出 21,183 句售後語料。先用 Haiku 寬鬆標，再用 Sonnet 或 GPT 帶上下文複核。c≥2 一致率 98.4%，殘餘僅 4 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281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1721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整篇排除測試 600 句。驗證 1,096 句，訓練池 9,431 句。同篇句子不進訓練，避免把成績高估。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9939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1379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流失四級拆成四個是非題。Prefill-only 只取下一詞在候選上的機率，不生成文字。每句約 0.7 秒，8 GB 顯卡可推，資料不出門。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89596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1036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Qwen3-4B，QLoRA r=16。流失句過採樣到四成。2 epoch，8 GB 顯卡約 5 小時。只訓低秩參數，推論零 API 費。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79254" y="2798064"/>
            <a:ext cx="2198217" cy="24323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0694" y="2852928"/>
            <a:ext cx="2015337" cy="232257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金標 300 句：F1 0.82、κ 0.81。另看精確率、召回與五段校準。最高信心桶 n=71、實際約 68%。曲線見附錄 A2b。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624" y="5321807"/>
            <a:ext cx="11356848" cy="10972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1"/>
            <a:ext cx="11100816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規則看替代去向，不靠客訴關鍵字。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這 128 人裡，替代有 55% 是一般外廠。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42416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分數說得出原因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風險＝模型機率 ×0.6＋命中規則／8 ×0.4。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 74% 真有流失句，低風險只有 1.8%。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Qwen3-4B，8 GB 約 5 小時，每句 0.7 秒。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測試集 F1 0.685。CRM 文字不上雲。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286000"/>
            <a:ext cx="5614416" cy="12070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340864"/>
            <a:ext cx="5358383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只有一組被資料分開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k=4 的 ARI 0.08，四個假設沒有全被拆開。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簡報仍用可回溯原句的規則，不假裝分群已分開。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602736"/>
          <a:ext cx="11356848" cy="2816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1264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7" cy="4571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3151662"/>
                <a:gridCol w="3151662"/>
                <a:gridCol w="3151571"/>
              </a:tblGrid>
              <a:tr h="38404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您好，提醒您留意愛車保養週期：一般使用建議每六個月回廠；若半年超過一萬公里，則建…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您好，我是服務廠專員。想提醒您，上次未同意的估價項目仍由您決定是否處理。若自費更…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您好，您的保固即將屆滿，目前保證窗口仍在，可先核對新車基本保證；期限為交車日起4…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您好，提醒您，Lexus提供全年免費的尊榮安檢。一般使用建議每六個月回廠保養及檢…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您好，上次未處理的項目是否進行，仍由您決定；若想再確認車況，可預約回廠安排全年免…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您好，提醒您，愛車保固即將屆滿。新車基本保證為自交車日起4年或120,000公里…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您好，提醒您可依使用頻率安排愛車保養：一般使用建議每六個月回廠；若半年超過一萬公…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您好，官方資訊可轉述給車友：自費於Lexus服務廠更換的正廠零件（消耗性零件除外…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4698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您好，提醒您，愛車保固即將屆滿。新車基本保證為自交車日起4年或行駛120,000…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您好，提醒您，可依愛車使用情況安排回廠：一般使用建議每半年實施定期保養；若半年超…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您好，若您想回廠，自費更換的正廠零件（消耗性零件除外），保證自更換日起2年或行駛…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5669279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724143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則對 76 條官方條款查核通過。人工核准才投遞。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十二則只列前 40 字。待料全文見附錄 A3，客訴回訪見附錄 A5。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73413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4636007" cy="6244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94836"/>
            <a:ext cx="4892040" cy="99207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49700"/>
            <a:ext cx="4636007" cy="8823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860059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14923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人時（估）。本機模型 4.1 小時跑完，零 API 費。人力改花在審名單與話術。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282428"/>
            <a:ext cx="4892040" cy="714291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337292"/>
            <a:ext cx="4636007" cy="60456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069871"/>
            <a:ext cx="4892040" cy="134921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124735"/>
            <a:ext cx="4636007" cy="1239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127248"/>
            <a:ext cx="11356848" cy="122529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1100816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035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DMS 實際欄位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工單去識別後接入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393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2366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600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366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重驗 r4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再調觸發門檻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725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1698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931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698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專員審核後投遞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未核准不發出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00569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10297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2633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0297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與渠道分批上線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不一次開全台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3884" y="4443983"/>
            <a:ext cx="2183587" cy="15910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03612" y="4553712"/>
            <a:ext cx="329184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5948" y="4535423"/>
            <a:ext cx="1580083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3612" y="4956048"/>
            <a:ext cx="1982419" cy="10241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月重評 Persona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季重驗模型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" y="6126479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181343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補充資料（不計入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每則話術都經人工核准；決賽提供可操作版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316736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  <a:r>
              <a:rPr sz="1200" b="0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　洞察迴路｜每日排程：新留言 → 標註與風險 → 日報 →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298448"/>
            <a:ext cx="13350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35024"/>
            <a:ext cx="12984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16736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129844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133502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9232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29584" y="1298448"/>
            <a:ext cx="153619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335024"/>
            <a:ext cx="149961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136245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57216" y="1298448"/>
            <a:ext cx="182880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75504" y="1335024"/>
            <a:ext cx="179222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362456"/>
            <a:ext cx="8412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L3·L4·L5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77456" y="1298448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95744" y="1335024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298448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79408" y="1335024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51008" y="1298448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9296" y="1335024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75564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438144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06577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86016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69680" y="1755648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259568" y="1755648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20624" y="2542032"/>
            <a:ext cx="11356848" cy="2523744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071616" y="2267712"/>
            <a:ext cx="0" cy="15544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512064" y="2423160"/>
            <a:ext cx="555955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" y="2423160"/>
            <a:ext cx="0" cy="905256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12064" y="3328416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633472" y="23042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2587752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2807208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3054096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3090672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52344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4408" y="3054096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82696" y="3090672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71416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3054096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1768" y="3090672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31152" y="3054096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0" y="3090672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641080" y="3054096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7" y="3090672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74351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186415" y="305409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3" y="309067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338559" y="311810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191256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103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858000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67928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113263" y="3511296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1792" y="4169664"/>
            <a:ext cx="2569464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64408" y="4169664"/>
            <a:ext cx="1645920" cy="731520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983480" y="4169664"/>
            <a:ext cx="1874519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01768" y="4206240"/>
            <a:ext cx="1837943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6" name="Connector 65"/>
          <p:cNvCxnSpPr/>
          <p:nvPr/>
        </p:nvCxnSpPr>
        <p:spPr>
          <a:xfrm flipV="1">
            <a:off x="59207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931152" y="4169664"/>
            <a:ext cx="1636776" cy="731520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4206240"/>
            <a:ext cx="1600200" cy="6766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749540" y="4023360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641080" y="4169664"/>
            <a:ext cx="288036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1649455" y="4023360"/>
            <a:ext cx="0" cy="95097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H="1">
            <a:off x="512064" y="4974336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512064" y="3749040"/>
            <a:ext cx="0" cy="1225296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12064" y="3749040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20624" y="5157216"/>
            <a:ext cx="11356848" cy="126187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0624" y="5157216"/>
            <a:ext cx="11356848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5175503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5513831"/>
            <a:ext cx="5486400" cy="859535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　觸發 R1 過保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88212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8212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6228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6228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442448" y="5550407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442448" y="5577840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693408" y="6007607"/>
            <a:ext cx="4937760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未核准不投遞。決賽再給可操作版。代號為示意，不是論壇帳號。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6" name="chart:F2:card"/>
          <p:cNvSpPr/>
          <p:nvPr/>
        </p:nvSpPr>
        <p:spPr>
          <a:xfrm>
            <a:off x="420624" y="987552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8" name="chart:F2:ylabel"/>
          <p:cNvSpPr txBox="1"/>
          <p:nvPr/>
        </p:nvSpPr>
        <p:spPr>
          <a:xfrm>
            <a:off x="548640" y="1060704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2:tick"/>
          <p:cNvSpPr txBox="1"/>
          <p:nvPr/>
        </p:nvSpPr>
        <p:spPr>
          <a:xfrm>
            <a:off x="877824" y="256946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2545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2:tick"/>
          <p:cNvSpPr txBox="1"/>
          <p:nvPr/>
        </p:nvSpPr>
        <p:spPr>
          <a:xfrm>
            <a:off x="877824" y="16157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2:bar"/>
          <p:cNvSpPr/>
          <p:nvPr/>
        </p:nvSpPr>
        <p:spPr>
          <a:xfrm>
            <a:off x="2157984" y="2005586"/>
            <a:ext cx="1719072" cy="67360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hart-line"/>
          <p:cNvCxnSpPr/>
          <p:nvPr/>
        </p:nvCxnSpPr>
        <p:spPr>
          <a:xfrm>
            <a:off x="3017520" y="1933706"/>
            <a:ext cx="0" cy="13787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hart-line"/>
          <p:cNvCxnSpPr/>
          <p:nvPr/>
        </p:nvCxnSpPr>
        <p:spPr>
          <a:xfrm>
            <a:off x="2944368" y="19337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20715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2:value"/>
          <p:cNvSpPr txBox="1"/>
          <p:nvPr/>
        </p:nvSpPr>
        <p:spPr>
          <a:xfrm>
            <a:off x="1929384" y="165938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19" name="chart:F2:cat"/>
          <p:cNvSpPr txBox="1"/>
          <p:nvPr/>
        </p:nvSpPr>
        <p:spPr>
          <a:xfrm>
            <a:off x="1929384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0" name="chart:F2:bar"/>
          <p:cNvSpPr/>
          <p:nvPr/>
        </p:nvSpPr>
        <p:spPr>
          <a:xfrm>
            <a:off x="5596128" y="1809646"/>
            <a:ext cx="1719072" cy="86954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hart-line"/>
          <p:cNvCxnSpPr/>
          <p:nvPr/>
        </p:nvCxnSpPr>
        <p:spPr>
          <a:xfrm>
            <a:off x="6455664" y="1738912"/>
            <a:ext cx="0" cy="13726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-line"/>
          <p:cNvCxnSpPr/>
          <p:nvPr/>
        </p:nvCxnSpPr>
        <p:spPr>
          <a:xfrm>
            <a:off x="6382512" y="173891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87617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2:value"/>
          <p:cNvSpPr txBox="1"/>
          <p:nvPr/>
        </p:nvSpPr>
        <p:spPr>
          <a:xfrm>
            <a:off x="5367528" y="1464592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5" name="chart:F2:cat"/>
          <p:cNvSpPr txBox="1"/>
          <p:nvPr/>
        </p:nvSpPr>
        <p:spPr>
          <a:xfrm>
            <a:off x="5367528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6" name="chart:F2:bar"/>
          <p:cNvSpPr/>
          <p:nvPr/>
        </p:nvSpPr>
        <p:spPr>
          <a:xfrm>
            <a:off x="9034272" y="2355601"/>
            <a:ext cx="1719072" cy="32359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hart-line"/>
          <p:cNvCxnSpPr/>
          <p:nvPr/>
        </p:nvCxnSpPr>
        <p:spPr>
          <a:xfrm>
            <a:off x="9893808" y="2286970"/>
            <a:ext cx="0" cy="12598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-line"/>
          <p:cNvCxnSpPr/>
          <p:nvPr/>
        </p:nvCxnSpPr>
        <p:spPr>
          <a:xfrm>
            <a:off x="9820656" y="228697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41295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:F2:value"/>
          <p:cNvSpPr txBox="1"/>
          <p:nvPr/>
        </p:nvSpPr>
        <p:spPr>
          <a:xfrm>
            <a:off x="8805672" y="2012650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1" name="chart:F2:cat"/>
          <p:cNvSpPr txBox="1"/>
          <p:nvPr/>
        </p:nvSpPr>
        <p:spPr>
          <a:xfrm>
            <a:off x="8805672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3154679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09544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4" name="chart:F4:card"/>
          <p:cNvSpPr/>
          <p:nvPr/>
        </p:nvSpPr>
        <p:spPr>
          <a:xfrm>
            <a:off x="420624" y="3739896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4:title"/>
          <p:cNvSpPr txBox="1"/>
          <p:nvPr/>
        </p:nvSpPr>
        <p:spPr>
          <a:xfrm>
            <a:off x="914400" y="3813048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6" name="chart:F4:ylabel"/>
          <p:cNvSpPr txBox="1"/>
          <p:nvPr/>
        </p:nvSpPr>
        <p:spPr>
          <a:xfrm>
            <a:off x="548640" y="3813048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7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4:tick"/>
          <p:cNvSpPr txBox="1"/>
          <p:nvPr/>
        </p:nvSpPr>
        <p:spPr>
          <a:xfrm>
            <a:off x="877824" y="530352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9" name="chart-line"/>
          <p:cNvCxnSpPr/>
          <p:nvPr/>
        </p:nvCxnSpPr>
        <p:spPr>
          <a:xfrm>
            <a:off x="1417320" y="5070618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art:F4:tick"/>
          <p:cNvSpPr txBox="1"/>
          <p:nvPr/>
        </p:nvSpPr>
        <p:spPr>
          <a:xfrm>
            <a:off x="877824" y="4942602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1" name="chart-line"/>
          <p:cNvCxnSpPr/>
          <p:nvPr/>
        </p:nvCxnSpPr>
        <p:spPr>
          <a:xfrm>
            <a:off x="1417320" y="4709700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art:F4:tick"/>
          <p:cNvSpPr txBox="1"/>
          <p:nvPr/>
        </p:nvSpPr>
        <p:spPr>
          <a:xfrm>
            <a:off x="877824" y="4581684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3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4:bar"/>
          <p:cNvSpPr/>
          <p:nvPr/>
        </p:nvSpPr>
        <p:spPr>
          <a:xfrm>
            <a:off x="2164994" y="5054557"/>
            <a:ext cx="1903171" cy="376978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4:bar"/>
          <p:cNvSpPr/>
          <p:nvPr/>
        </p:nvSpPr>
        <p:spPr>
          <a:xfrm>
            <a:off x="2164994" y="4730453"/>
            <a:ext cx="1903171" cy="3241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508669"/>
            <a:ext cx="1903171" cy="22178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value"/>
          <p:cNvSpPr txBox="1"/>
          <p:nvPr/>
        </p:nvSpPr>
        <p:spPr>
          <a:xfrm>
            <a:off x="1936394" y="4234349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8" name="chart:F4:cat"/>
          <p:cNvSpPr txBox="1"/>
          <p:nvPr/>
        </p:nvSpPr>
        <p:spPr>
          <a:xfrm>
            <a:off x="198211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49" name="chart:F4:bar"/>
          <p:cNvSpPr/>
          <p:nvPr/>
        </p:nvSpPr>
        <p:spPr>
          <a:xfrm>
            <a:off x="5563514" y="5407895"/>
            <a:ext cx="1903171" cy="23640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4:bar"/>
          <p:cNvSpPr/>
          <p:nvPr/>
        </p:nvSpPr>
        <p:spPr>
          <a:xfrm>
            <a:off x="5563514" y="5394361"/>
            <a:ext cx="1903171" cy="1353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value"/>
          <p:cNvSpPr txBox="1"/>
          <p:nvPr/>
        </p:nvSpPr>
        <p:spPr>
          <a:xfrm>
            <a:off x="5334914" y="5115530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2" name="chart:F4:cat"/>
          <p:cNvSpPr txBox="1"/>
          <p:nvPr/>
        </p:nvSpPr>
        <p:spPr>
          <a:xfrm>
            <a:off x="538063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3" name="chart:F4:bar"/>
          <p:cNvSpPr/>
          <p:nvPr/>
        </p:nvSpPr>
        <p:spPr>
          <a:xfrm>
            <a:off x="8962034" y="5333366"/>
            <a:ext cx="1903171" cy="98169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4:bar"/>
          <p:cNvSpPr/>
          <p:nvPr/>
        </p:nvSpPr>
        <p:spPr>
          <a:xfrm>
            <a:off x="8962034" y="5268581"/>
            <a:ext cx="1903171" cy="64784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242234"/>
            <a:ext cx="1903171" cy="263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value"/>
          <p:cNvSpPr txBox="1"/>
          <p:nvPr/>
        </p:nvSpPr>
        <p:spPr>
          <a:xfrm>
            <a:off x="8733434" y="496791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7" name="chart:F4:cat"/>
          <p:cNvSpPr txBox="1"/>
          <p:nvPr/>
        </p:nvSpPr>
        <p:spPr>
          <a:xfrm>
            <a:off x="877915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8" name="chart:F4:legend"/>
          <p:cNvSpPr/>
          <p:nvPr/>
        </p:nvSpPr>
        <p:spPr>
          <a:xfrm>
            <a:off x="8778240" y="4215383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4:legend"/>
          <p:cNvSpPr txBox="1"/>
          <p:nvPr/>
        </p:nvSpPr>
        <p:spPr>
          <a:xfrm>
            <a:off x="9015984" y="4160520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0" name="chart:F4:legend"/>
          <p:cNvSpPr/>
          <p:nvPr/>
        </p:nvSpPr>
        <p:spPr>
          <a:xfrm>
            <a:off x="10003536" y="4215383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4:legend"/>
          <p:cNvSpPr txBox="1"/>
          <p:nvPr/>
        </p:nvSpPr>
        <p:spPr>
          <a:xfrm>
            <a:off x="10241280" y="4160520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2" name="chart:F4:legend"/>
          <p:cNvSpPr/>
          <p:nvPr/>
        </p:nvSpPr>
        <p:spPr>
          <a:xfrm>
            <a:off x="10725912" y="4215383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4:legend"/>
          <p:cNvSpPr txBox="1"/>
          <p:nvPr/>
        </p:nvSpPr>
        <p:spPr>
          <a:xfrm>
            <a:off x="10963656" y="4160520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" y="5907023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961887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6" name="chart:F6:card"/>
          <p:cNvSpPr/>
          <p:nvPr/>
        </p:nvSpPr>
        <p:spPr>
          <a:xfrm>
            <a:off x="420624" y="987552"/>
            <a:ext cx="11356848" cy="19019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8" name="chart:F6:ylabel"/>
          <p:cNvSpPr txBox="1"/>
          <p:nvPr/>
        </p:nvSpPr>
        <p:spPr>
          <a:xfrm>
            <a:off x="548640" y="1060704"/>
            <a:ext cx="310896" cy="1499615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322576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6:tick"/>
          <p:cNvSpPr txBox="1"/>
          <p:nvPr/>
        </p:nvSpPr>
        <p:spPr>
          <a:xfrm>
            <a:off x="877824" y="2212848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965960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6:tick"/>
          <p:cNvSpPr txBox="1"/>
          <p:nvPr/>
        </p:nvSpPr>
        <p:spPr>
          <a:xfrm>
            <a:off x="877824" y="1856231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1609344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6:tick"/>
          <p:cNvSpPr txBox="1"/>
          <p:nvPr/>
        </p:nvSpPr>
        <p:spPr>
          <a:xfrm>
            <a:off x="877824" y="149961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5" name="chart-line"/>
          <p:cNvCxnSpPr/>
          <p:nvPr/>
        </p:nvCxnSpPr>
        <p:spPr>
          <a:xfrm>
            <a:off x="3313785" y="1609344"/>
            <a:ext cx="0" cy="713232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F6:tick"/>
          <p:cNvSpPr txBox="1"/>
          <p:nvPr/>
        </p:nvSpPr>
        <p:spPr>
          <a:xfrm>
            <a:off x="3039465" y="2350008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5329123" y="1609344"/>
            <a:ext cx="0" cy="713232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6:tick"/>
          <p:cNvSpPr txBox="1"/>
          <p:nvPr/>
        </p:nvSpPr>
        <p:spPr>
          <a:xfrm>
            <a:off x="5054803" y="2350008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7344460" y="1609344"/>
            <a:ext cx="0" cy="713232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6:tick"/>
          <p:cNvSpPr txBox="1"/>
          <p:nvPr/>
        </p:nvSpPr>
        <p:spPr>
          <a:xfrm>
            <a:off x="7070140" y="2350008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9359798" y="1609344"/>
            <a:ext cx="0" cy="713232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6:tick"/>
          <p:cNvSpPr txBox="1"/>
          <p:nvPr/>
        </p:nvSpPr>
        <p:spPr>
          <a:xfrm>
            <a:off x="9085478" y="2350008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1375136" y="1609344"/>
            <a:ext cx="0" cy="713232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6:tick"/>
          <p:cNvSpPr txBox="1"/>
          <p:nvPr/>
        </p:nvSpPr>
        <p:spPr>
          <a:xfrm>
            <a:off x="11100815" y="2350008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322576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-line"/>
          <p:cNvCxnSpPr/>
          <p:nvPr/>
        </p:nvCxnSpPr>
        <p:spPr>
          <a:xfrm>
            <a:off x="1298448" y="1609344"/>
            <a:ext cx="0" cy="713232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6:diag"/>
          <p:cNvSpPr/>
          <p:nvPr/>
        </p:nvSpPr>
        <p:spPr>
          <a:xfrm rot="21357080">
            <a:off x="1285843" y="1961388"/>
            <a:ext cx="10101897" cy="9144"/>
          </a:xfrm>
          <a:prstGeom prst="rect">
            <a:avLst/>
          </a:prstGeom>
          <a:noFill/>
          <a:ln w="12700">
            <a:solidFill>
              <a:srgbClr val="8A949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6:xlabel"/>
          <p:cNvSpPr txBox="1"/>
          <p:nvPr/>
        </p:nvSpPr>
        <p:spPr>
          <a:xfrm>
            <a:off x="1298448" y="2560320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9" name="chart:F6:dot"/>
          <p:cNvSpPr/>
          <p:nvPr/>
        </p:nvSpPr>
        <p:spPr>
          <a:xfrm>
            <a:off x="1273118" y="2178742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6:n"/>
          <p:cNvSpPr txBox="1"/>
          <p:nvPr/>
        </p:nvSpPr>
        <p:spPr>
          <a:xfrm>
            <a:off x="1565726" y="2160454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1" name="chart:F6:dot"/>
          <p:cNvSpPr/>
          <p:nvPr/>
        </p:nvSpPr>
        <p:spPr>
          <a:xfrm>
            <a:off x="3828276" y="2161284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6:n"/>
          <p:cNvSpPr txBox="1"/>
          <p:nvPr/>
        </p:nvSpPr>
        <p:spPr>
          <a:xfrm>
            <a:off x="3443213" y="1886964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3" name="chart:F6:dot"/>
          <p:cNvSpPr/>
          <p:nvPr/>
        </p:nvSpPr>
        <p:spPr>
          <a:xfrm>
            <a:off x="6099781" y="2119357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6:n"/>
          <p:cNvSpPr txBox="1"/>
          <p:nvPr/>
        </p:nvSpPr>
        <p:spPr>
          <a:xfrm>
            <a:off x="5716121" y="1845037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5" name="chart:F6:dot"/>
          <p:cNvSpPr/>
          <p:nvPr/>
        </p:nvSpPr>
        <p:spPr>
          <a:xfrm>
            <a:off x="8443050" y="2094978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6:n"/>
          <p:cNvSpPr txBox="1"/>
          <p:nvPr/>
        </p:nvSpPr>
        <p:spPr>
          <a:xfrm>
            <a:off x="8060612" y="1820658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7" name="chart:F6:dot"/>
          <p:cNvSpPr/>
          <p:nvPr/>
        </p:nvSpPr>
        <p:spPr>
          <a:xfrm>
            <a:off x="10879191" y="1752165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6:n"/>
          <p:cNvSpPr txBox="1"/>
          <p:nvPr/>
        </p:nvSpPr>
        <p:spPr>
          <a:xfrm>
            <a:off x="10510216" y="1477845"/>
            <a:ext cx="91440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" y="2962656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17520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1" name="chart:F9:card"/>
          <p:cNvSpPr/>
          <p:nvPr/>
        </p:nvSpPr>
        <p:spPr>
          <a:xfrm>
            <a:off x="420624" y="3493008"/>
            <a:ext cx="11356848" cy="23957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493008"/>
            <a:ext cx="11356848" cy="239482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20624" y="5961888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16751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天就主動通知，話術不寫到貨日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 到貨後如需到府取送車，可在保養或維修預定入廠日前 2 天預約，單程距離限 10 公里以內。若想了解目前進度，請聯絡您的服務專員。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八條規則的欄位與門檻；投影片只留欄位名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