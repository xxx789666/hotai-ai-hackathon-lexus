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由輿情到回廠：產出一看見誰有風險，產出二經人工核准後關懷。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內網地端部署，四級監控設門檻，不達標就重訓；四個部門分工，每月共審。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；Haiku 初篩＋Sonnet／GPT 複核（兩段式標註）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 個百分點（假設值，基期實測校正）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 ≥ 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 ≥ 0.8、κ ≥ 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零成本推論: 每句 0.7 秒 高速回應，達成 地端 0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5" name="toc-axis"/>
          <p:cNvCxnSpPr/>
          <p:nvPr/>
        </p:nvCxnSpPr>
        <p:spPr>
          <a:xfrm>
            <a:off x="822960" y="1344168"/>
            <a:ext cx="0" cy="5029200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" y="987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088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024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825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26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2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62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6639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645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005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005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35021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6027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387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387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3403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409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769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769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5178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279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15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15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" y="6016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6117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6053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6053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17–24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5544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1042416"/>
            <a:ext cx="466344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Mobile01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PTT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Dcard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864" y="1042416"/>
            <a:ext cx="473659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公開輿情能在車主離開原廠之前先辨識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254496"/>
            <a:ext cx="8723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兩份產出，一個閉環：每日洞察 → 人工核准的關懷 → 結果回寫 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456" y="6254496"/>
            <a:ext cx="2286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各章節頁碼見第 2 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07024" y="2944368"/>
            <a:ext cx="384048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12096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公開論壇輿情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56816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看見誰有風險</a:t>
            </a:r>
          </a:p>
        </p:txBody>
      </p:sp>
      <p:sp>
        <p:nvSpPr>
          <p:cNvPr id="20" name="Oval 19"/>
          <p:cNvSpPr/>
          <p:nvPr/>
        </p:nvSpPr>
        <p:spPr>
          <a:xfrm>
            <a:off x="2432304" y="322097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四種客群，過保精算派 511 人</a:t>
            </a:r>
          </a:p>
        </p:txBody>
      </p:sp>
      <p:cxnSp>
        <p:nvCxnSpPr>
          <p:cNvPr id="22" name="chart-sep"/>
          <p:cNvCxnSpPr/>
          <p:nvPr/>
        </p:nvCxnSpPr>
        <p:spPr>
          <a:xfrm>
            <a:off x="2414016" y="371703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32304" y="397535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高風險議題分析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零件等料 17.3%、價格 15.0%</a:t>
            </a:r>
          </a:p>
        </p:txBody>
      </p:sp>
      <p:cxnSp>
        <p:nvCxnSpPr>
          <p:cNvPr id="25" name="chart-sep"/>
          <p:cNvCxnSpPr/>
          <p:nvPr/>
        </p:nvCxnSpPr>
        <p:spPr>
          <a:xfrm>
            <a:off x="2414016" y="447141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432304" y="472973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整體市場輿情洞察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句售後語料，日週季報</a:t>
            </a:r>
          </a:p>
        </p:txBody>
      </p:sp>
      <p:cxnSp>
        <p:nvCxnSpPr>
          <p:cNvPr id="28" name="chart-sep"/>
          <p:cNvCxnSpPr/>
          <p:nvPr/>
        </p:nvCxnSpPr>
        <p:spPr>
          <a:xfrm>
            <a:off x="2414016" y="522579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432304" y="548411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使用的 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本機模型，F1 0.685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61888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FBF3F2"/>
          </a:solidFill>
          <a:ln w="15875">
            <a:solidFill>
              <a:srgbClr val="E3A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溝通計畫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對的人、對的時機、說對的話，人工核准</a:t>
            </a:r>
          </a:p>
        </p:txBody>
      </p:sp>
      <p:sp>
        <p:nvSpPr>
          <p:cNvPr id="34" name="Oval 33"/>
          <p:cNvSpPr/>
          <p:nvPr/>
        </p:nvSpPr>
        <p:spPr>
          <a:xfrm>
            <a:off x="6437376" y="322097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四種客群配三種進廠時機</a:t>
            </a:r>
          </a:p>
        </p:txBody>
      </p:sp>
      <p:cxnSp>
        <p:nvCxnSpPr>
          <p:cNvPr id="36" name="chart-sep"/>
          <p:cNvCxnSpPr/>
          <p:nvPr/>
        </p:nvCxnSpPr>
        <p:spPr>
          <a:xfrm>
            <a:off x="6419088" y="371703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37376" y="397535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則話術對 76 條條款查核</a:t>
            </a:r>
          </a:p>
        </p:txBody>
      </p:sp>
      <p:cxnSp>
        <p:nvCxnSpPr>
          <p:cNvPr id="39" name="chart-sep"/>
          <p:cNvCxnSpPr/>
          <p:nvPr/>
        </p:nvCxnSpPr>
        <p:spPr>
          <a:xfrm>
            <a:off x="6419088" y="447141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37376" y="472973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3136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精準接觸點規劃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三個接觸點＋客訴第 7 天回訪</a:t>
            </a:r>
          </a:p>
        </p:txBody>
      </p:sp>
      <p:cxnSp>
        <p:nvCxnSpPr>
          <p:cNvPr id="42" name="chart-sep"/>
          <p:cNvCxnSpPr/>
          <p:nvPr/>
        </p:nvCxnSpPr>
        <p:spPr>
          <a:xfrm>
            <a:off x="6419088" y="522579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37376" y="548411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方案運作流程圖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雙迴路，人工核准才投遞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966960" y="3794760"/>
            <a:ext cx="274320" cy="40233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9614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6929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點擊・預約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寫回 CRM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回頭校正門檻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80944"/>
            <a:ext cx="11356848" cy="374903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</a:t>
            </a:r>
            <a:br/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61616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5488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98464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2336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735312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8464" y="579729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99846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4418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6476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85503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2602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41505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555736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44600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5122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4149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230238"/>
            <a:ext cx="710549" cy="243904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39815"/>
            <a:ext cx="0" cy="736985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3981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57680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6549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552852"/>
            <a:ext cx="710549" cy="2116427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90182"/>
            <a:ext cx="0" cy="31565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901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70584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11586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329754"/>
            <a:ext cx="710549" cy="133952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4067206"/>
            <a:ext cx="0" cy="48591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40672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55312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7928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415353"/>
            <a:ext cx="710549" cy="125392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269906"/>
            <a:ext cx="0" cy="27711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2699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54702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9955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629406"/>
            <a:ext cx="710549" cy="103987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4101923"/>
            <a:ext cx="0" cy="8870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410192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9890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827603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659522"/>
            <a:ext cx="710549" cy="100975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461267"/>
            <a:ext cx="0" cy="36609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4612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8273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1869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5000368"/>
            <a:ext cx="710549" cy="6689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818327"/>
            <a:ext cx="0" cy="3266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81832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514500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54400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5253023"/>
            <a:ext cx="710549" cy="41625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5032548"/>
            <a:ext cx="0" cy="366143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503254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39869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75822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473438"/>
            <a:ext cx="710549" cy="1958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364835"/>
            <a:ext cx="0" cy="178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36483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54365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509051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3" name="chart:F3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5" name="chart:F3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3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0040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3:tick"/>
          <p:cNvSpPr txBox="1"/>
          <p:nvPr/>
        </p:nvSpPr>
        <p:spPr>
          <a:xfrm>
            <a:off x="877824" y="479067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1315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3:tick"/>
          <p:cNvSpPr txBox="1"/>
          <p:nvPr/>
        </p:nvSpPr>
        <p:spPr>
          <a:xfrm>
            <a:off x="877824" y="40217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3626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3:tick"/>
          <p:cNvSpPr txBox="1"/>
          <p:nvPr/>
        </p:nvSpPr>
        <p:spPr>
          <a:xfrm>
            <a:off x="877824" y="32529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3:bar"/>
          <p:cNvSpPr/>
          <p:nvPr/>
        </p:nvSpPr>
        <p:spPr>
          <a:xfrm>
            <a:off x="1625071" y="2839815"/>
            <a:ext cx="1065824" cy="2829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3:value"/>
          <p:cNvSpPr txBox="1"/>
          <p:nvPr/>
        </p:nvSpPr>
        <p:spPr>
          <a:xfrm>
            <a:off x="1396471" y="2565495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7" name="chart:F3:cat"/>
          <p:cNvSpPr txBox="1"/>
          <p:nvPr/>
        </p:nvSpPr>
        <p:spPr>
          <a:xfrm>
            <a:off x="139647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8" name="chart:F3:bar"/>
          <p:cNvSpPr/>
          <p:nvPr/>
        </p:nvSpPr>
        <p:spPr>
          <a:xfrm>
            <a:off x="3344143" y="4769694"/>
            <a:ext cx="1065824" cy="89958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3:value"/>
          <p:cNvSpPr txBox="1"/>
          <p:nvPr/>
        </p:nvSpPr>
        <p:spPr>
          <a:xfrm>
            <a:off x="3115543" y="449537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0" name="chart:F3:cat"/>
          <p:cNvSpPr txBox="1"/>
          <p:nvPr/>
        </p:nvSpPr>
        <p:spPr>
          <a:xfrm>
            <a:off x="3115543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1" name="chart:F3:bar"/>
          <p:cNvSpPr/>
          <p:nvPr/>
        </p:nvSpPr>
        <p:spPr>
          <a:xfrm>
            <a:off x="5063215" y="5150288"/>
            <a:ext cx="1065824" cy="51899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3:value"/>
          <p:cNvSpPr txBox="1"/>
          <p:nvPr/>
        </p:nvSpPr>
        <p:spPr>
          <a:xfrm>
            <a:off x="4834615" y="487596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3" name="chart:F3:cat"/>
          <p:cNvSpPr txBox="1"/>
          <p:nvPr/>
        </p:nvSpPr>
        <p:spPr>
          <a:xfrm>
            <a:off x="4834615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4" name="chart:F3:bar"/>
          <p:cNvSpPr/>
          <p:nvPr/>
        </p:nvSpPr>
        <p:spPr>
          <a:xfrm>
            <a:off x="6782287" y="5400173"/>
            <a:ext cx="1065824" cy="26910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3:value"/>
          <p:cNvSpPr txBox="1"/>
          <p:nvPr/>
        </p:nvSpPr>
        <p:spPr>
          <a:xfrm>
            <a:off x="6553687" y="5125853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6" name="chart:F3:cat"/>
          <p:cNvSpPr txBox="1"/>
          <p:nvPr/>
        </p:nvSpPr>
        <p:spPr>
          <a:xfrm>
            <a:off x="6553687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7" name="chart:F3:bar"/>
          <p:cNvSpPr/>
          <p:nvPr/>
        </p:nvSpPr>
        <p:spPr>
          <a:xfrm>
            <a:off x="8501359" y="5515504"/>
            <a:ext cx="1065824" cy="15377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3:value"/>
          <p:cNvSpPr txBox="1"/>
          <p:nvPr/>
        </p:nvSpPr>
        <p:spPr>
          <a:xfrm>
            <a:off x="8272759" y="524118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39" name="chart:F3:cat"/>
          <p:cNvSpPr txBox="1"/>
          <p:nvPr/>
        </p:nvSpPr>
        <p:spPr>
          <a:xfrm>
            <a:off x="8272759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0" name="chart:F3:bar"/>
          <p:cNvSpPr/>
          <p:nvPr/>
        </p:nvSpPr>
        <p:spPr>
          <a:xfrm>
            <a:off x="10220431" y="5638524"/>
            <a:ext cx="1065824" cy="3075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3:value"/>
          <p:cNvSpPr txBox="1"/>
          <p:nvPr/>
        </p:nvSpPr>
        <p:spPr>
          <a:xfrm>
            <a:off x="9991831" y="536420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3:cat"/>
          <p:cNvSpPr txBox="1"/>
          <p:nvPr/>
        </p:nvSpPr>
        <p:spPr>
          <a:xfrm>
            <a:off x="999183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532120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7064" y="987552"/>
          <a:ext cx="5550408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4224527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79391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864607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4444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9036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04841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69433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585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5238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983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5635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90227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3379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554480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554480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1591056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554480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91056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554480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91056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7456" y="1554480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591056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54480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1591056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591056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6420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46704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8289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601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" y="2011680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5956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" y="2926080"/>
            <a:ext cx="11356848" cy="2798063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6" y="2523744"/>
            <a:ext cx="0" cy="2194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12064" y="274320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2743200"/>
            <a:ext cx="0" cy="102412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376732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6312" y="262432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971800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191256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49300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2958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2344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4408" y="349300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82696" y="352958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1416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349300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52958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1152" y="349300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52958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349300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352958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4351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86415" y="349300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703" y="352958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59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91256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103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679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3263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460857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60857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83480" y="460857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464515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59207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931152" y="460857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64515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495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41080" y="460857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49455" y="446227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12064" y="557784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2064" y="418795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2064" y="418795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20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9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5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8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06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43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35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64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0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93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9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21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58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" y="6382512"/>
            <a:ext cx="11356848" cy="3474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" y="6391656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四種流失論壇發言者，過保精算派最多（511 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3" name="chart:F5:card"/>
          <p:cNvSpPr/>
          <p:nvPr/>
        </p:nvSpPr>
        <p:spPr>
          <a:xfrm>
            <a:off x="420624" y="2651760"/>
            <a:ext cx="11356848" cy="3456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5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6" name="chart:F5:row"/>
          <p:cNvSpPr txBox="1"/>
          <p:nvPr/>
        </p:nvSpPr>
        <p:spPr>
          <a:xfrm>
            <a:off x="548640" y="3072384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5:cell"/>
          <p:cNvSpPr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5:cellv"/>
          <p:cNvSpPr txBox="1"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19" name="chart:F5:cell"/>
          <p:cNvSpPr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F5:cellv"/>
          <p:cNvSpPr txBox="1"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1" name="chart:F5:cell"/>
          <p:cNvSpPr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F5:cellv"/>
          <p:cNvSpPr txBox="1"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chart:F5:cell"/>
          <p:cNvSpPr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5:cellv"/>
          <p:cNvSpPr txBox="1"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5" name="chart:F5:cell"/>
          <p:cNvSpPr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5:cellv"/>
          <p:cNvSpPr txBox="1"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7" name="chart:F5:cell"/>
          <p:cNvSpPr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5:cellv"/>
          <p:cNvSpPr txBox="1"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29" name="chart:F5:cell"/>
          <p:cNvSpPr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5:cellv"/>
          <p:cNvSpPr txBox="1"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chart:F5:cell"/>
          <p:cNvSpPr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5:cellv"/>
          <p:cNvSpPr txBox="1"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chart:F5:cell"/>
          <p:cNvSpPr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5:cellv"/>
          <p:cNvSpPr txBox="1"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5" name="chart:F5:row"/>
          <p:cNvSpPr txBox="1"/>
          <p:nvPr/>
        </p:nvSpPr>
        <p:spPr>
          <a:xfrm>
            <a:off x="548640" y="3599078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6" name="chart:F5:cell"/>
          <p:cNvSpPr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5:cellv"/>
          <p:cNvSpPr txBox="1"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8" name="chart:F5:cell"/>
          <p:cNvSpPr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5:cellv"/>
          <p:cNvSpPr txBox="1"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0" name="chart:F5:cell"/>
          <p:cNvSpPr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5:cellv"/>
          <p:cNvSpPr txBox="1"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5:cell"/>
          <p:cNvSpPr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:F5:cellv"/>
          <p:cNvSpPr txBox="1"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4" name="chart:F5:cell"/>
          <p:cNvSpPr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5:cellv"/>
          <p:cNvSpPr txBox="1"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6" name="chart:F5:cell"/>
          <p:cNvSpPr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5:cellv"/>
          <p:cNvSpPr txBox="1"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8" name="chart:F5:cell"/>
          <p:cNvSpPr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art:F5:cellv"/>
          <p:cNvSpPr txBox="1"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0" name="chart:F5:cell"/>
          <p:cNvSpPr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5:cellv"/>
          <p:cNvSpPr txBox="1"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2" name="chart:F5:cell"/>
          <p:cNvSpPr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:F5:cellv"/>
          <p:cNvSpPr txBox="1"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4" name="chart:F5:row"/>
          <p:cNvSpPr txBox="1"/>
          <p:nvPr/>
        </p:nvSpPr>
        <p:spPr>
          <a:xfrm>
            <a:off x="548640" y="4125772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5" name="chart:F5:cell"/>
          <p:cNvSpPr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5:cellv"/>
          <p:cNvSpPr txBox="1"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7" name="chart:F5:cell"/>
          <p:cNvSpPr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art:F5:cellv"/>
          <p:cNvSpPr txBox="1"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9" name="chart:F5:cell"/>
          <p:cNvSpPr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5:cellv"/>
          <p:cNvSpPr txBox="1"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1" name="chart:F5:cell"/>
          <p:cNvSpPr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5:cellv"/>
          <p:cNvSpPr txBox="1"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3" name="chart:F5:cell"/>
          <p:cNvSpPr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5:cellv"/>
          <p:cNvSpPr txBox="1"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5" name="chart:F5:cell"/>
          <p:cNvSpPr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rt:F5:cellv"/>
          <p:cNvSpPr txBox="1"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7" name="chart:F5:cell"/>
          <p:cNvSpPr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art:F5:cellv"/>
          <p:cNvSpPr txBox="1"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69" name="chart:F5:cell"/>
          <p:cNvSpPr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art:F5:cellv"/>
          <p:cNvSpPr txBox="1"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1" name="chart:F5:cell"/>
          <p:cNvSpPr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art:F5:cellv"/>
          <p:cNvSpPr txBox="1"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3" name="chart:F5:row"/>
          <p:cNvSpPr txBox="1"/>
          <p:nvPr/>
        </p:nvSpPr>
        <p:spPr>
          <a:xfrm>
            <a:off x="548640" y="4652467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4" name="chart:F5:cell"/>
          <p:cNvSpPr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rt:F5:cellv"/>
          <p:cNvSpPr txBox="1"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6" name="chart:F5:cell"/>
          <p:cNvSpPr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art:F5:cellv"/>
          <p:cNvSpPr txBox="1"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8" name="chart:F5:cell"/>
          <p:cNvSpPr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art:F5:cellv"/>
          <p:cNvSpPr txBox="1"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0" name="chart:F5:cell"/>
          <p:cNvSpPr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rt:F5:cellv"/>
          <p:cNvSpPr txBox="1"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2" name="chart:F5:cell"/>
          <p:cNvSpPr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hart:F5:cellv"/>
          <p:cNvSpPr txBox="1"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4" name="chart:F5:cell"/>
          <p:cNvSpPr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rt:F5:cellv"/>
          <p:cNvSpPr txBox="1"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6" name="chart:F5:cell"/>
          <p:cNvSpPr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art:F5:cellv"/>
          <p:cNvSpPr txBox="1"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8" name="chart:F5:cell"/>
          <p:cNvSpPr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art:F5:cellv"/>
          <p:cNvSpPr txBox="1"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0" name="chart:F5:cell"/>
          <p:cNvSpPr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art:F5:cellv"/>
          <p:cNvSpPr txBox="1"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2" name="chart:F5:row"/>
          <p:cNvSpPr txBox="1"/>
          <p:nvPr/>
        </p:nvSpPr>
        <p:spPr>
          <a:xfrm>
            <a:off x="548640" y="5179161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3" name="chart:F5:cell"/>
          <p:cNvSpPr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art:F5:cellv"/>
          <p:cNvSpPr txBox="1"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5" name="chart:F5:cell"/>
          <p:cNvSpPr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art:F5:cellv"/>
          <p:cNvSpPr txBox="1"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7" name="chart:F5:cell"/>
          <p:cNvSpPr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art:F5:cellv"/>
          <p:cNvSpPr txBox="1"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99" name="chart:F5:cell"/>
          <p:cNvSpPr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hart:F5:cellv"/>
          <p:cNvSpPr txBox="1"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1" name="chart:F5:cell"/>
          <p:cNvSpPr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art:F5:cellv"/>
          <p:cNvSpPr txBox="1"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3" name="chart:F5:cell"/>
          <p:cNvSpPr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rt:F5:cellv"/>
          <p:cNvSpPr txBox="1"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5" name="chart:F5:cell"/>
          <p:cNvSpPr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art:F5:cellv"/>
          <p:cNvSpPr txBox="1"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7" name="chart:F5:cell"/>
          <p:cNvSpPr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art:F5:cellv"/>
          <p:cNvSpPr txBox="1"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9" name="chart:F5:cell"/>
          <p:cNvSpPr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art:F5:cellv"/>
          <p:cNvSpPr txBox="1"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1" name="chart:F5:col"/>
          <p:cNvSpPr txBox="1"/>
          <p:nvPr/>
        </p:nvSpPr>
        <p:spPr>
          <a:xfrm>
            <a:off x="178308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287934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397560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507187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6168136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726440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836066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945692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1055319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" y="6199632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6254496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高風險論壇發言者 74% 確有流失句，分級可信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分級方向可信：高風險 74% 真有流失句，低風險只有 1.8%。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" y="3639312"/>
          <a:ext cx="1135684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0624" y="64739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74320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98064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498848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53712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98.4%，是兩段標註一致率，不是準確率。九面向標完，殘餘僅 4 句，不再另開面向。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42416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575304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630168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初篩召回約 57%，所以第二段複核不能省；人工金標 300 句、正例僅 9 句，0.82 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0624" y="2121408"/>
            <a:ext cx="562356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36752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1828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內網單機可訓可推（每句 0.7 秒）；正式規格見附錄 A6。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5915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3591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9572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3" y="2359152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3" y="239572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926080"/>
            <a:ext cx="11356848" cy="2560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5184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16352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9504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51776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9488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5577840"/>
            <a:ext cx="11356848" cy="11521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32704"/>
            <a:ext cx="11100816" cy="10424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LLM2Jev。內網單機可訓可推，推論零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沒抱怨就找出口；只看客訴看不到這群人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高風險確有流失句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人中 74% 有流失句，低風險 1.8%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API 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內網自有 GPU，每句 0.7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R1–R8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每項可回溯原句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命中規則與機率一起標出，每句回得到去識別原句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4151376"/>
          <a:ext cx="11356848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內網自有 GPU，每句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您好，提醒您，愛車保固即將屆滿。新車基本保證為自交車日起4年或行駛120,000公里，以先到者為準；自交車日起至4年或12萬公里保證到期前，連續準時8次…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1、52　查核通過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980176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741932"/>
            <a:ext cx="4892040" cy="9147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6796"/>
            <a:ext cx="4636007" cy="8050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29875"/>
            <a:ext cx="4892040" cy="194636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4739"/>
            <a:ext cx="4636007" cy="1836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49393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4257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503773"/>
            <a:ext cx="4892040" cy="122621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8637"/>
            <a:ext cx="4636007" cy="111648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CRM。法規只用去識別版。客群寫成可回溯規則，跨部門月審。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40679" y="987552"/>
          <a:ext cx="6336792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規則定義、可回溯原句；每月跨部門工作小組覆核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模型，地端部署、API 封裝；GPU 伺服器建議規格見附錄 A6，零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2" name="chart:gantt:card"/>
          <p:cNvSpPr/>
          <p:nvPr/>
        </p:nvSpPr>
        <p:spPr>
          <a:xfrm>
            <a:off x="420624" y="4407407"/>
            <a:ext cx="11356848" cy="23225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214884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hart-line"/>
          <p:cNvCxnSpPr/>
          <p:nvPr/>
        </p:nvCxnSpPr>
        <p:spPr>
          <a:xfrm>
            <a:off x="301599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3883152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4750308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5617464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648462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735177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188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5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29" name="chart:gantt:bar"/>
          <p:cNvSpPr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gantt:label"/>
          <p:cNvSpPr txBox="1"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974335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5472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07177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4" name="chart:gantt:bar"/>
          <p:cNvSpPr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gantt:label"/>
          <p:cNvSpPr txBox="1"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307177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640019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39" name="chart:gantt:bar"/>
          <p:cNvSpPr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gantt:label"/>
          <p:cNvSpPr txBox="1"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5640019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2040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972860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4" name="chart:gantt:bar"/>
          <p:cNvSpPr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gantt:label"/>
          <p:cNvSpPr txBox="1"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5972860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353251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305702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49" name="chart:gantt:bar"/>
          <p:cNvSpPr/>
          <p:nvPr/>
        </p:nvSpPr>
        <p:spPr>
          <a:xfrm>
            <a:off x="3883152" y="6342278"/>
            <a:ext cx="3706368" cy="25968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gantt:label"/>
          <p:cNvSpPr txBox="1"/>
          <p:nvPr/>
        </p:nvSpPr>
        <p:spPr>
          <a:xfrm>
            <a:off x="3883152" y="6342278"/>
            <a:ext cx="3468624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6305702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日／週／月／季監控；不達標即重訓（附錄 A6）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4" name="chart:trend:card"/>
          <p:cNvSpPr/>
          <p:nvPr/>
        </p:nvSpPr>
        <p:spPr>
          <a:xfrm>
            <a:off x="530352" y="2139696"/>
            <a:ext cx="3493007" cy="13807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6" name="chart:trend:line"/>
          <p:cNvSpPr/>
          <p:nvPr/>
        </p:nvSpPr>
        <p:spPr>
          <a:xfrm rot="505787">
            <a:off x="916153" y="2933166"/>
            <a:ext cx="1368092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art:trend:line"/>
          <p:cNvSpPr/>
          <p:nvPr/>
        </p:nvSpPr>
        <p:spPr>
          <a:xfrm rot="100046">
            <a:off x="2276569" y="3053143"/>
            <a:ext cx="135388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dot"/>
          <p:cNvSpPr/>
          <p:nvPr/>
        </p:nvSpPr>
        <p:spPr>
          <a:xfrm>
            <a:off x="859536" y="2773451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value"/>
          <p:cNvSpPr txBox="1"/>
          <p:nvPr/>
        </p:nvSpPr>
        <p:spPr>
          <a:xfrm>
            <a:off x="512064" y="2526563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0" name="chart:trend:cat"/>
          <p:cNvSpPr txBox="1"/>
          <p:nvPr/>
        </p:nvSpPr>
        <p:spPr>
          <a:xfrm>
            <a:off x="512064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1" name="chart:trend:dot"/>
          <p:cNvSpPr/>
          <p:nvPr/>
        </p:nvSpPr>
        <p:spPr>
          <a:xfrm>
            <a:off x="2212848" y="2974009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trend:value"/>
          <p:cNvSpPr txBox="1"/>
          <p:nvPr/>
        </p:nvSpPr>
        <p:spPr>
          <a:xfrm>
            <a:off x="1865376" y="2727121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3" name="chart:trend:cat"/>
          <p:cNvSpPr txBox="1"/>
          <p:nvPr/>
        </p:nvSpPr>
        <p:spPr>
          <a:xfrm>
            <a:off x="1865376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4" name="chart:trend:dot"/>
          <p:cNvSpPr/>
          <p:nvPr/>
        </p:nvSpPr>
        <p:spPr>
          <a:xfrm>
            <a:off x="3566160" y="3013405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trend:value"/>
          <p:cNvSpPr txBox="1"/>
          <p:nvPr/>
        </p:nvSpPr>
        <p:spPr>
          <a:xfrm>
            <a:off x="3218687" y="2766517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6" name="chart:trend:cat"/>
          <p:cNvSpPr txBox="1"/>
          <p:nvPr/>
        </p:nvSpPr>
        <p:spPr>
          <a:xfrm>
            <a:off x="3218687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38988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14828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140817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544" y="1886712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1979676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905000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2383536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420112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09676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25696" y="318973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11505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8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1389888"/>
            <a:ext cx="3493007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408176"/>
            <a:ext cx="3346703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1810512"/>
            <a:ext cx="3493007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1847088"/>
            <a:ext cx="3310127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2834640"/>
            <a:ext cx="3493007" cy="630936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2871216"/>
            <a:ext cx="3310127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123944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160520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837176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504" y="4874895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4855464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205222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242941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5223509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573268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3504" y="561098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5591555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5941314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5979032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5959601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123944"/>
            <a:ext cx="5404104" cy="12527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178807"/>
            <a:ext cx="5184648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2396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96188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5" name="chart:F2:card"/>
          <p:cNvSpPr/>
          <p:nvPr/>
        </p:nvSpPr>
        <p:spPr>
          <a:xfrm>
            <a:off x="420624" y="987552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7" name="chart:F2:ylabel"/>
          <p:cNvSpPr txBox="1"/>
          <p:nvPr/>
        </p:nvSpPr>
        <p:spPr>
          <a:xfrm>
            <a:off x="548640" y="1060704"/>
            <a:ext cx="310896" cy="208483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2:tick"/>
          <p:cNvSpPr txBox="1"/>
          <p:nvPr/>
        </p:nvSpPr>
        <p:spPr>
          <a:xfrm>
            <a:off x="877824" y="27249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28339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2:tick"/>
          <p:cNvSpPr txBox="1"/>
          <p:nvPr/>
        </p:nvSpPr>
        <p:spPr>
          <a:xfrm>
            <a:off x="877824" y="217366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7321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2:tick"/>
          <p:cNvSpPr txBox="1"/>
          <p:nvPr/>
        </p:nvSpPr>
        <p:spPr>
          <a:xfrm>
            <a:off x="877824" y="16224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2:bar"/>
          <p:cNvSpPr/>
          <p:nvPr/>
        </p:nvSpPr>
        <p:spPr>
          <a:xfrm>
            <a:off x="2157984" y="2055976"/>
            <a:ext cx="1719072" cy="77866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line"/>
          <p:cNvCxnSpPr/>
          <p:nvPr/>
        </p:nvCxnSpPr>
        <p:spPr>
          <a:xfrm>
            <a:off x="3017520" y="1972885"/>
            <a:ext cx="0" cy="1593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197288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art-line"/>
          <p:cNvCxnSpPr/>
          <p:nvPr/>
        </p:nvCxnSpPr>
        <p:spPr>
          <a:xfrm>
            <a:off x="2944368" y="21322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2:value"/>
          <p:cNvSpPr txBox="1"/>
          <p:nvPr/>
        </p:nvSpPr>
        <p:spPr>
          <a:xfrm>
            <a:off x="1929384" y="1652845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20" name="chart:F2:cat"/>
          <p:cNvSpPr txBox="1"/>
          <p:nvPr/>
        </p:nvSpPr>
        <p:spPr>
          <a:xfrm>
            <a:off x="1929384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1" name="chart:F2:bar"/>
          <p:cNvSpPr/>
          <p:nvPr/>
        </p:nvSpPr>
        <p:spPr>
          <a:xfrm>
            <a:off x="5596128" y="1829477"/>
            <a:ext cx="1719072" cy="100516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hart-line"/>
          <p:cNvCxnSpPr/>
          <p:nvPr/>
        </p:nvCxnSpPr>
        <p:spPr>
          <a:xfrm>
            <a:off x="6455664" y="1747711"/>
            <a:ext cx="0" cy="15867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7477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-line"/>
          <p:cNvCxnSpPr/>
          <p:nvPr/>
        </p:nvCxnSpPr>
        <p:spPr>
          <a:xfrm>
            <a:off x="6382512" y="190638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2:value"/>
          <p:cNvSpPr txBox="1"/>
          <p:nvPr/>
        </p:nvSpPr>
        <p:spPr>
          <a:xfrm>
            <a:off x="5367528" y="1427671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6" name="chart:F2:cat"/>
          <p:cNvSpPr txBox="1"/>
          <p:nvPr/>
        </p:nvSpPr>
        <p:spPr>
          <a:xfrm>
            <a:off x="5367528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7" name="chart:F2:bar"/>
          <p:cNvSpPr/>
          <p:nvPr/>
        </p:nvSpPr>
        <p:spPr>
          <a:xfrm>
            <a:off x="9034272" y="2460581"/>
            <a:ext cx="1719072" cy="37405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9893808" y="2381246"/>
            <a:ext cx="0" cy="14563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38124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9820656" y="25268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2:value"/>
          <p:cNvSpPr txBox="1"/>
          <p:nvPr/>
        </p:nvSpPr>
        <p:spPr>
          <a:xfrm>
            <a:off x="8805672" y="206120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2" name="chart:F2:cat"/>
          <p:cNvSpPr txBox="1"/>
          <p:nvPr/>
        </p:nvSpPr>
        <p:spPr>
          <a:xfrm>
            <a:off x="8805672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3310128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5" name="chart:F4:card"/>
          <p:cNvSpPr/>
          <p:nvPr/>
        </p:nvSpPr>
        <p:spPr>
          <a:xfrm>
            <a:off x="420624" y="3895344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4:title"/>
          <p:cNvSpPr txBox="1"/>
          <p:nvPr/>
        </p:nvSpPr>
        <p:spPr>
          <a:xfrm>
            <a:off x="914400" y="396849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7" name="chart:F4:ylabel"/>
          <p:cNvSpPr txBox="1"/>
          <p:nvPr/>
        </p:nvSpPr>
        <p:spPr>
          <a:xfrm>
            <a:off x="548640" y="3968496"/>
            <a:ext cx="310896" cy="2084832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8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art:F4:tick"/>
          <p:cNvSpPr txBox="1"/>
          <p:nvPr/>
        </p:nvSpPr>
        <p:spPr>
          <a:xfrm>
            <a:off x="877824" y="5614416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40" name="chart-line"/>
          <p:cNvCxnSpPr/>
          <p:nvPr/>
        </p:nvCxnSpPr>
        <p:spPr>
          <a:xfrm>
            <a:off x="1417320" y="5325224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art:F4:tick"/>
          <p:cNvSpPr txBox="1"/>
          <p:nvPr/>
        </p:nvSpPr>
        <p:spPr>
          <a:xfrm>
            <a:off x="877824" y="5197208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2" name="chart-line"/>
          <p:cNvCxnSpPr/>
          <p:nvPr/>
        </p:nvCxnSpPr>
        <p:spPr>
          <a:xfrm>
            <a:off x="1417320" y="490801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4:tick"/>
          <p:cNvSpPr txBox="1"/>
          <p:nvPr/>
        </p:nvSpPr>
        <p:spPr>
          <a:xfrm>
            <a:off x="877824" y="478000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4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art:F4:bar"/>
          <p:cNvSpPr/>
          <p:nvPr/>
        </p:nvSpPr>
        <p:spPr>
          <a:xfrm>
            <a:off x="2164994" y="5306658"/>
            <a:ext cx="1903171" cy="435773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932006"/>
            <a:ext cx="1903171" cy="374652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bar"/>
          <p:cNvSpPr/>
          <p:nvPr/>
        </p:nvSpPr>
        <p:spPr>
          <a:xfrm>
            <a:off x="2164994" y="4675632"/>
            <a:ext cx="1903171" cy="25637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4:value"/>
          <p:cNvSpPr txBox="1"/>
          <p:nvPr/>
        </p:nvSpPr>
        <p:spPr>
          <a:xfrm>
            <a:off x="1936394" y="4355592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9" name="chart:F4:cat"/>
          <p:cNvSpPr txBox="1"/>
          <p:nvPr/>
        </p:nvSpPr>
        <p:spPr>
          <a:xfrm>
            <a:off x="198211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50" name="chart:F4:bar"/>
          <p:cNvSpPr/>
          <p:nvPr/>
        </p:nvSpPr>
        <p:spPr>
          <a:xfrm>
            <a:off x="5563514" y="5715104"/>
            <a:ext cx="1903171" cy="27327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bar"/>
          <p:cNvSpPr/>
          <p:nvPr/>
        </p:nvSpPr>
        <p:spPr>
          <a:xfrm>
            <a:off x="5563514" y="5699459"/>
            <a:ext cx="1903171" cy="15645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4:value"/>
          <p:cNvSpPr txBox="1"/>
          <p:nvPr/>
        </p:nvSpPr>
        <p:spPr>
          <a:xfrm>
            <a:off x="5334914" y="537420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3" name="chart:F4:cat"/>
          <p:cNvSpPr txBox="1"/>
          <p:nvPr/>
        </p:nvSpPr>
        <p:spPr>
          <a:xfrm>
            <a:off x="538063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4" name="chart:F4:bar"/>
          <p:cNvSpPr/>
          <p:nvPr/>
        </p:nvSpPr>
        <p:spPr>
          <a:xfrm>
            <a:off x="8962034" y="5628951"/>
            <a:ext cx="1903171" cy="113480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554062"/>
            <a:ext cx="1903171" cy="74888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bar"/>
          <p:cNvSpPr/>
          <p:nvPr/>
        </p:nvSpPr>
        <p:spPr>
          <a:xfrm>
            <a:off x="8962034" y="5523606"/>
            <a:ext cx="1903171" cy="30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4:value"/>
          <p:cNvSpPr txBox="1"/>
          <p:nvPr/>
        </p:nvSpPr>
        <p:spPr>
          <a:xfrm>
            <a:off x="8733434" y="5203566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8" name="chart:F4:cat"/>
          <p:cNvSpPr txBox="1"/>
          <p:nvPr/>
        </p:nvSpPr>
        <p:spPr>
          <a:xfrm>
            <a:off x="877915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9" name="chart:F4:legend"/>
          <p:cNvSpPr/>
          <p:nvPr/>
        </p:nvSpPr>
        <p:spPr>
          <a:xfrm>
            <a:off x="8778240" y="4370831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4:legend"/>
          <p:cNvSpPr txBox="1"/>
          <p:nvPr/>
        </p:nvSpPr>
        <p:spPr>
          <a:xfrm>
            <a:off x="9015984" y="4315968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1" name="chart:F4:legend"/>
          <p:cNvSpPr/>
          <p:nvPr/>
        </p:nvSpPr>
        <p:spPr>
          <a:xfrm>
            <a:off x="10003536" y="4370831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4:legend"/>
          <p:cNvSpPr txBox="1"/>
          <p:nvPr/>
        </p:nvSpPr>
        <p:spPr>
          <a:xfrm>
            <a:off x="10241280" y="4315968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3" name="chart:F4:legend"/>
          <p:cNvSpPr/>
          <p:nvPr/>
        </p:nvSpPr>
        <p:spPr>
          <a:xfrm>
            <a:off x="10725912" y="4370831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4:legend"/>
          <p:cNvSpPr txBox="1"/>
          <p:nvPr/>
        </p:nvSpPr>
        <p:spPr>
          <a:xfrm>
            <a:off x="10963656" y="4315968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272783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5" name="chart:F6:card"/>
          <p:cNvSpPr/>
          <p:nvPr/>
        </p:nvSpPr>
        <p:spPr>
          <a:xfrm>
            <a:off x="420624" y="987552"/>
            <a:ext cx="11356848" cy="22128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7" name="chart:F6:ylabel"/>
          <p:cNvSpPr txBox="1"/>
          <p:nvPr/>
        </p:nvSpPr>
        <p:spPr>
          <a:xfrm>
            <a:off x="548640" y="1060704"/>
            <a:ext cx="310896" cy="1847087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6:tick"/>
          <p:cNvSpPr txBox="1"/>
          <p:nvPr/>
        </p:nvSpPr>
        <p:spPr>
          <a:xfrm>
            <a:off x="877824" y="256032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07568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6:tick"/>
          <p:cNvSpPr txBox="1"/>
          <p:nvPr/>
        </p:nvSpPr>
        <p:spPr>
          <a:xfrm>
            <a:off x="877824" y="196596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3313785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6:tick"/>
          <p:cNvSpPr txBox="1"/>
          <p:nvPr/>
        </p:nvSpPr>
        <p:spPr>
          <a:xfrm>
            <a:off x="303946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5329123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6:tick"/>
          <p:cNvSpPr txBox="1"/>
          <p:nvPr/>
        </p:nvSpPr>
        <p:spPr>
          <a:xfrm>
            <a:off x="5054803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7344460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6:tick"/>
          <p:cNvSpPr txBox="1"/>
          <p:nvPr/>
        </p:nvSpPr>
        <p:spPr>
          <a:xfrm>
            <a:off x="7070140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9359798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6:tick"/>
          <p:cNvSpPr txBox="1"/>
          <p:nvPr/>
        </p:nvSpPr>
        <p:spPr>
          <a:xfrm>
            <a:off x="9085478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1375136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6:tick"/>
          <p:cNvSpPr txBox="1"/>
          <p:nvPr/>
        </p:nvSpPr>
        <p:spPr>
          <a:xfrm>
            <a:off x="1110081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-line"/>
          <p:cNvCxnSpPr/>
          <p:nvPr/>
        </p:nvCxnSpPr>
        <p:spPr>
          <a:xfrm>
            <a:off x="1298448" y="1481328"/>
            <a:ext cx="0" cy="118872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6:diag"/>
          <p:cNvSpPr/>
          <p:nvPr/>
        </p:nvSpPr>
        <p:spPr>
          <a:xfrm rot="21196324">
            <a:off x="1263511" y="2071116"/>
            <a:ext cx="10146560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6:xlabel"/>
          <p:cNvSpPr txBox="1"/>
          <p:nvPr/>
        </p:nvSpPr>
        <p:spPr>
          <a:xfrm>
            <a:off x="1298448" y="2907791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8" name="chart:F6:dot"/>
          <p:cNvSpPr/>
          <p:nvPr/>
        </p:nvSpPr>
        <p:spPr>
          <a:xfrm>
            <a:off x="1273118" y="2515669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6:n"/>
          <p:cNvSpPr txBox="1"/>
          <p:nvPr/>
        </p:nvSpPr>
        <p:spPr>
          <a:xfrm>
            <a:off x="1574870" y="2277925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0" name="chart:F6:dot"/>
          <p:cNvSpPr/>
          <p:nvPr/>
        </p:nvSpPr>
        <p:spPr>
          <a:xfrm>
            <a:off x="3828276" y="244932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6:n"/>
          <p:cNvSpPr txBox="1"/>
          <p:nvPr/>
        </p:nvSpPr>
        <p:spPr>
          <a:xfrm>
            <a:off x="4018270" y="241172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2" name="chart:F6:dot"/>
          <p:cNvSpPr/>
          <p:nvPr/>
        </p:nvSpPr>
        <p:spPr>
          <a:xfrm>
            <a:off x="6099781" y="2380376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6:n"/>
          <p:cNvSpPr txBox="1"/>
          <p:nvPr/>
        </p:nvSpPr>
        <p:spPr>
          <a:xfrm>
            <a:off x="5889857" y="2142632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4" name="chart:F6:dot"/>
          <p:cNvSpPr/>
          <p:nvPr/>
        </p:nvSpPr>
        <p:spPr>
          <a:xfrm>
            <a:off x="8443050" y="2340560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6:n"/>
          <p:cNvSpPr txBox="1"/>
          <p:nvPr/>
        </p:nvSpPr>
        <p:spPr>
          <a:xfrm>
            <a:off x="8234348" y="210281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6" name="chart:F6:dot"/>
          <p:cNvSpPr/>
          <p:nvPr/>
        </p:nvSpPr>
        <p:spPr>
          <a:xfrm>
            <a:off x="10879191" y="1778181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6:n"/>
          <p:cNvSpPr txBox="1"/>
          <p:nvPr/>
        </p:nvSpPr>
        <p:spPr>
          <a:xfrm>
            <a:off x="10683952" y="19729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327355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0" name="chart:F9:card"/>
          <p:cNvSpPr/>
          <p:nvPr/>
        </p:nvSpPr>
        <p:spPr>
          <a:xfrm>
            <a:off x="420624" y="3803904"/>
            <a:ext cx="11356848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03904"/>
            <a:ext cx="11356848" cy="23948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62727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77647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【】為專員填寫欄位，刻意保留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A6 部署與閉環（不計入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地端部署、四級監控、不達標即重訓：監控到再訓練閉環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5120640"/>
            <a:ext cx="11356848" cy="13350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75504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跨部門分工　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每月跨部門工作小組；共同指標＝高風險車主 12 個月回廠率（上線後母體是 CRM 車主）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業務行銷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定三層 KPI 與客群策略，每月審高風險名單。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服務廠／客服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審核與投遞話術，回收退件與客訴案例（Human-in-the-Loop）。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法務風險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去識別流程、條款引用、拒收名單與頻率上限審查。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59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地端部署、API、權限、備援與版本替換。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6510528"/>
            <a:ext cx="113568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以上為導入設計，尚未實作；週期與門檻取自 L7 運作流程草稿第 6 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987552"/>
            <a:ext cx="5120640" cy="40416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042416"/>
            <a:ext cx="48646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部署架構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1316736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362456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部署位置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和泰內網地端（私有雲），資料不出門；論壇文字只做研究語料，上線改用工單與客訴文字。建議規格：GPU 伺服器 2 台（主＋備援），各 2× L40S 48GB、256 GB RAM、2 TB NVMe；試行可先用 1 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88164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33884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服務封裝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自有 4B 模型（r4）包成內網 API，四個端點：流失判斷、風險分、Persona（客群輪廓）、RAG 話術。CRM／DMS 每日批次呼叫，溝通佇列即時呼叫；每句約 0.7 秒。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259592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05312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權限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依角色分權：服務廠專員只審核與投遞，AI 團隊調門檻與重訓，法務查條款引用與拒收名單。投遞紀錄寫回 CRM：時間、渠道、話術版本、審核人。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4231020"/>
            <a:ext cx="4901183" cy="74331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76740"/>
            <a:ext cx="4681727" cy="6518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版本管理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每版記錄資料版本、金標 F1／κ、校準表（r4 → r5…）；單張 GPU 數小時可重訓。新版先換單一據點試行，再換全台。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79" y="987552"/>
            <a:ext cx="6108192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監控到再訓練閉環</a:t>
            </a: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不達標就重訓、分批替換，再回到監控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79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監控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0588" y="1545336"/>
            <a:ext cx="256031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74051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觸發門檻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5359" y="1545336"/>
            <a:ext cx="256033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878824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再訓練／更新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200132" y="1545336"/>
            <a:ext cx="25603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483596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分批替換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130534" y="1792224"/>
            <a:ext cx="0" cy="292607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316217" y="2084831"/>
            <a:ext cx="4814317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316217" y="1792224"/>
            <a:ext cx="0" cy="292607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90537" y="1828800"/>
            <a:ext cx="4265676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替換後回到監控；不達標再進下一輪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669279" y="2176272"/>
          <a:ext cx="6108192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76272"/>
                <a:gridCol w="1645920"/>
                <a:gridCol w="1645920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週期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監控什麼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觸發門檻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動作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投遞量、查核失敗率、投遞失敗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查核失敗率異常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暫停該接觸點，人工檢查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每週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退回與修改的話術樣本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退件集中於同一條目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更新提示詞與知識庫條目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高風險名單命中率（R7 回驗）、輸入句分布漂移（KS 檢定）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命中率下降或分布差異超門檻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調觸發門檻、重評 Persona（客群輪廓）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300 句人工金標：F1、κ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&lt; 0.8 或 κ &lt; 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重訓下一版，先試行據點再全台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單張 GPU 數小時可重訓；adapter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