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題三初賽：公開輿情裡，每六位售後發言就有一位在找出口。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大綱列出六個章節與頁碼，並標示兩大產出各落在哪幾頁。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提案分成兩份產出：一份輿情洞察，一份對準四種客群的溝通。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三個前兆並行，不是依序發生：過保、刪項、間隔拉長。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長句門檻是Q3+1.5×IQR，超過78字只標記。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八層對到雙迴路：上面是產出一，下面是產出二，審核後才投遞。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Persona（客群輪廓）用規則定義。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高風險七成四真有流失句；過保精算派人最多，平均風險也最高。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左邊是兩個迴路；右邊審核佇列是線框，決賽再給可操作版。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附錄前兩張圖：三站發言者流失率，以及高中低風險分布。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附錄後兩張圖：校準曲線五個信心桶，以及季趨勢預警。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 sz="4400" b="1"/>
              <a:t>Lexus車主流失預警與 AI 溝通系統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和泰 AI 黑客松｜AI 流失風險洞察與智慧溝通：打造Lexus車主忠誠度的終極防線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1800"/>
              <a:t>團隊：回廠率研究所</a:t>
            </a:r>
          </a:p>
          <a:p>
            <a:r>
              <a:rPr sz="1800"/>
              <a:t>初賽提案簡報（v2，2026-10）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 21,183 句售後語料自動標註流失意圖與九大面向，找出 4 種流失 Persona（客群輪廓）。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System-One 決策模型即時給出流失機率與可解釋規則，發言者層級高／中／低分級。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Persona（客群輪廓） × 接觸點的 RAG 關懷內容生成，價格與保固只引用官方知識庫並經人工審核。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Claude Haiku／Sonnet 兩段式標註、GPT-5.6 Sol 複核、Qwen3-4B QLoRA 自訓 prefill-only 決策模型（LLM2Jev 架構，本機 8 GB 顯卡）、K-means 分群、RAG（官方保修知識庫）、統計檢定（χ²、勝算比、Wilson CI）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成果：高風險車主 12 個月回廠率提升 10 個百分點（假設值，導入後以基期實測校正）。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流程：高風險名單每月更新、話術人工核准率 ≥ 80%。高風險名單人工篩選工時 −90% 以上（估）。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模型：隨機層 F1 ≥ 0.8、κ ≥ 0.6，每季 300 句人工金標重驗。每句 0.7 秒、零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大綱（計入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來源：本簡報章節；兩大產出依企業挑戰題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六個章節、兩大產出，對照頁碼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6070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  提案概述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4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句；186 句沒抱怨就走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7268" y="98755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8708" y="106070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  目標對象與痛點分析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5–8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 17.3%；一般外廠 736 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98755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106070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  解決方案設計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9–11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1＋2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雙迴路、511 人、高風險 74%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0556" y="98755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1996" y="106070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  AI 應用方法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12–13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 98.4%；r4 F1 0.685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254203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61518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  獨特優勢與差異化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支撐兩份產出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128 位靜默出走者看得到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7268" y="254203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8708" y="261518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  預期效益與落地評估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15–17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則主表＋4 則附錄已查核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254203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261518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附  附錄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18–24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不計入 15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補充資料、術語、圖表與話術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" y="4133088"/>
            <a:ext cx="5623560" cy="228599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24528"/>
            <a:ext cx="5367528" cy="213969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網路輿情洞察系統架構與報告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客群 Persona、高風險議題、市場輿情、AI 技術／模型。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落在第 4–13 頁。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句、四種流失 Persona、r4 F1 0.685。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1,049 人，74% 真有流失句。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3912" y="4133088"/>
            <a:ext cx="5623560" cy="228599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8" y="4224528"/>
            <a:ext cx="5367528" cy="213969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針對目標 Persona（客群輪廓）的 AI 溝通計畫與系統流程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核心溝通策略、AI 生成內容、接觸點、運作流程圖。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落在第 9、15–18、22–24 頁（第 18 頁為附錄 A0）。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則主表＋4 則附錄已查核。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 A3、門檻 A4、客訴 A5。人工核准才發。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來源：企業挑戰題、統計檢定報告（T7）、殘餘切分報告（T3）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提案是兩份產出：輿情洞察，以及對準客群的溝通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111556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24128"/>
            <a:ext cx="11064240" cy="10424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為什麼要做</a:t>
            </a: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　論壇發言者流失率</a:t>
            </a:r>
            <a:r>
              <a:rPr sz="15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χ²=99.5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Mobile01  18.2%</a:t>
            </a: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　　PTT  14.1%</a:t>
            </a: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　　Dcard  6.8%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句流失中，186 句沒抱怨就找出口。母體是論壇發言者，不是全體車主。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194560"/>
            <a:ext cx="5623560" cy="42245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249424"/>
            <a:ext cx="5422392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網路輿情洞察系統架構與報告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852928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 客群 Persona（客群輪廓）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四種流失樣貌；過保精算派 511 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10 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730752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 高風險議題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 17.3%、價格 15.0%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6 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608575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 整體市場輿情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售後語料 21,183 句；186 句沒抱怨就走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 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5486399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 AI 技術／模型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r4 本機模型 F1 0.685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9、13 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2194560"/>
            <a:ext cx="5623560" cy="42245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249424"/>
            <a:ext cx="5422392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針對目標 Persona（客群輪廓）的 AI 溝通計畫與系統流程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852928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 核心溝通策略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 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730752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 AI 生成內容範例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則主表已對 76 條條款查核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 頁；附錄 A3、A5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608575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 精準接觸點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保固前 60 天、間隔拉長、刪項後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 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486399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 運作流程圖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洞察與溝通雙迴路，人工核准才發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9、18 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來源：統計檢定（T7）、專案架構、風險報告（T10）；門檻見附錄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售後是人走了才知道；輿情能提前預警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6903720" cy="99669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6665976" cy="90525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As-Is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只靠客訴與回廠紀錄，人流失之後才知道。1,671 句裡 186 句沒抱怨就找出口。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使用者是售後決策者與服務廠客戶關係人員。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075688"/>
            <a:ext cx="6903720" cy="99669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30552"/>
            <a:ext cx="6665976" cy="90525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To-Be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三個訊號並行。到期前 90 天進名單，第 60 天再開口。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CRM，在離開原廠之前先辨識。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34071" y="987552"/>
            <a:ext cx="4343400" cy="6461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511" y="1024128"/>
            <a:ext cx="4197096" cy="59131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到期前先找到人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34071" y="1706880"/>
            <a:ext cx="4343400" cy="6461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5511" y="1743456"/>
            <a:ext cx="4197096" cy="59131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回廠時再問一次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34071" y="2426208"/>
            <a:ext cx="4343400" cy="6461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1" y="2462784"/>
            <a:ext cx="4197096" cy="59131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超過週期就提醒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3163824"/>
            <a:ext cx="11356848" cy="3255263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200400"/>
            <a:ext cx="11137392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三個前兆並排，匯流後才是離開；資料沒有先後順序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74720"/>
            <a:ext cx="3627120" cy="98755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3529584"/>
            <a:ext cx="3517392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 62 句、保固內 17 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觸發：到期前 90 天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261616" y="4498848"/>
            <a:ext cx="201168" cy="201168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85488" y="3474720"/>
            <a:ext cx="3627120" cy="98755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0352" y="3529584"/>
            <a:ext cx="3517392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連續 2 次拒項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拒絕估價項目就列管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998464" y="4498848"/>
            <a:ext cx="201168" cy="201168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22336" y="3474720"/>
            <a:ext cx="3627120" cy="98755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7200" y="3529584"/>
            <a:ext cx="3517392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逾期超過建議週期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1.5 倍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9735312" y="4498848"/>
            <a:ext cx="201168" cy="201168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4736592"/>
            <a:ext cx="11100816" cy="53035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4773168"/>
            <a:ext cx="10954512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離開原廠</a:t>
            </a: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人走了才知道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998464" y="5303520"/>
            <a:ext cx="201168" cy="201168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5541264"/>
            <a:ext cx="11100816" cy="512064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5559551"/>
            <a:ext cx="10954512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一般外廠　736 句</a:t>
            </a: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可複選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來源：統計檢定報告（T7）；圖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24128"/>
            <a:ext cx="2642615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17.3%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零件供應最高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024128"/>
            <a:ext cx="2642615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15.0%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價格次高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024128"/>
            <a:ext cx="2642615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1.4%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銷售交車最低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1024128"/>
            <a:ext cx="2642615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61%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態度負面；流失 4.7%</a:t>
            </a:r>
          </a:p>
        </p:txBody>
      </p:sp>
      <p:pic>
        <p:nvPicPr>
          <p:cNvPr id="14" name="Picture 13" descr="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901952"/>
            <a:ext cx="11356848" cy="384667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20624" y="5803490"/>
            <a:ext cx="11356848" cy="615597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840066"/>
            <a:ext cx="11137392" cy="56073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對應接觸點：待料通知（R5），話術見附錄 A3。零件勝算比 2.58、價格 2.64，分母 21,183 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Persona（客群輪廓）報告（T10）、專案架構、知識庫價格摘錄（T11）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024128"/>
            <a:ext cx="2679191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736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一般外廠（句）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024128"/>
            <a:ext cx="2679191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234／135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自備料／DIY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1" y="1024128"/>
            <a:ext cx="2679191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62／17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過保／保固內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61704" y="1024128"/>
            <a:ext cx="2679191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9,000／3,500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</a:t>
            </a:r>
          </a:p>
        </p:txBody>
      </p:sp>
      <p:pic>
        <p:nvPicPr>
          <p:cNvPr id="14" name="Picture 13" descr="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901952"/>
            <a:ext cx="11356848" cy="384667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20624" y="5803490"/>
            <a:ext cx="11356848" cy="615597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840066"/>
            <a:ext cx="11137392" cy="56073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去向可複選，母體 1,671 句流失。定保價是論壇口述中位數，原廠 9,000、外廠 3,500，不是公告價。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來源：資料品質與去識別（T7）、趨勢報告（T15）；圖 F9_pipeline。季趨勢圖見附錄 A2b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5321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1242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27064" y="987552"/>
          <a:ext cx="5550408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1242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2926080"/>
            <a:ext cx="11356848" cy="60350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962656"/>
            <a:ext cx="111373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去識別：文本遮蔽 517 次，抽查 50 句（seed 42）漏網 0。超過 78 字的長句占 7.77%，只標記、不刪除。21,183 句仍全部進入標註。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584448"/>
            <a:ext cx="11356848" cy="3657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602736"/>
            <a:ext cx="1113739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整體輿情：2026Q3 流失率 4.2%，上季 5.3%，去年同季 10.9%（至 9/19）。佐證見附錄 A2b 的 F9。</a:t>
            </a:r>
          </a:p>
        </p:txBody>
      </p:sp>
      <p:pic>
        <p:nvPicPr>
          <p:cNvPr id="12" name="Picture 11" descr="F9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4005072"/>
            <a:ext cx="11356848" cy="22713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運作流程、專案架構；圖 F8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pic>
        <p:nvPicPr>
          <p:cNvPr id="6" name="Picture 5" descr="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987552"/>
            <a:ext cx="11356848" cy="433240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5365678"/>
            <a:ext cx="1355598" cy="66936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402254"/>
            <a:ext cx="1300734" cy="61449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三站已爬完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蒐集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49374" y="5365678"/>
            <a:ext cx="1355598" cy="66936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85950" y="5402254"/>
            <a:ext cx="1300734" cy="61449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切句去重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前處理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8124" y="5365678"/>
            <a:ext cx="1355598" cy="66936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4700" y="5402254"/>
            <a:ext cx="1300734" cy="61449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標註入庫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標註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6874" y="5365678"/>
            <a:ext cx="1355598" cy="66936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3450" y="5402254"/>
            <a:ext cx="1300734" cy="61449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只出機率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決策模型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5365678"/>
            <a:ext cx="1355598" cy="66936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5402254"/>
            <a:ext cx="1300734" cy="61449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規則辨識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風險辨識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64374" y="5365678"/>
            <a:ext cx="1355598" cy="66936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950" y="5402254"/>
            <a:ext cx="1300734" cy="61449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四種客群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客群輪廓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3124" y="5365678"/>
            <a:ext cx="1355598" cy="66936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9700" y="5402254"/>
            <a:ext cx="1300734" cy="61449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引用知識庫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RAG 生成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21874" y="5365678"/>
            <a:ext cx="1355598" cy="66936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58450" y="5402254"/>
            <a:ext cx="1300734" cy="61449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L7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核准才投遞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接觸點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" y="6089903"/>
            <a:ext cx="11356848" cy="3291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108191"/>
            <a:ext cx="111556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先讀上帶產出 1（左到右），再讀下帶產出 2。外緣 L# 對下面八格。KPI 回頭校正門檻，再訓練 r4。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Persona（客群輪廓）報告（T10）；圖 F5。未分類處置見 9/30 會議記錄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四種流失車主，過保精算派最多（511 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126187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24128"/>
            <a:ext cx="2660903" cy="12070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126187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024128"/>
            <a:ext cx="2660903" cy="12070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126187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024128"/>
            <a:ext cx="2660903" cy="12070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126187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1024128"/>
            <a:ext cx="2660903" cy="12070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pic>
        <p:nvPicPr>
          <p:cNvPr id="14" name="Picture 13" descr="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322576"/>
            <a:ext cx="11356848" cy="320556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20624" y="5998464"/>
            <a:ext cx="11356848" cy="42062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6035040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分母：高、中風險 1,280 人。未分類 199 人列觀察名單，不投遞。Persona 為規則定義，每項可回溯原句。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Persona（客群輪廓）報告（T10）；圖 F7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高風險車主 74% 確有流失句，分級可信</a:t>
            </a:r>
          </a:p>
        </p:txBody>
      </p:sp>
      <p:pic>
        <p:nvPicPr>
          <p:cNvPr id="6" name="Picture 5" descr="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456" y="987552"/>
            <a:ext cx="9747183" cy="2240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3282696"/>
            <a:ext cx="11356848" cy="43891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319272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 1,049／中 231／低 5,114。高風險 74% 有流失句，低風險 1.8%。過保精算派 511 人，平均風險 0.73。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20624" y="3776472"/>
          <a:ext cx="11356848" cy="2258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94560"/>
                <a:gridCol w="7973568"/>
              </a:tblGrid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25095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20624" y="6053327"/>
            <a:ext cx="11356848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來源：專案架構、Dcard 複核報告（T1）、其他精煉報告（T2）、殘餘切分報告（T3）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兩段式標註：先寬抓、再複核，一致率 98.4%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3712463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60704"/>
            <a:ext cx="3511295" cy="18562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57%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初篩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57%。先把可能流失的句子留住，不能只靠這一段初篩。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2816" y="987552"/>
            <a:ext cx="3712463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2544" y="1060704"/>
            <a:ext cx="3511295" cy="18562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3,760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帶上下文複核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句。Mobile01、PTT 用 Sonnet，Dcard 用 GPT 再看一次。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987552"/>
            <a:ext cx="3712463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1060704"/>
            <a:ext cx="3511295" cy="18562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98.4%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對得起來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c≥2 一致率 98.4%。九面向標完，殘餘僅 4 句，不再另開面向。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3063240"/>
            <a:ext cx="5623560" cy="1965960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136392"/>
            <a:ext cx="5367528" cy="183794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F1  0.82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本機模型，與 Sonnet 同級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句。正例僅 9 句，召回區間 0.45–0.94。0.82 還不是穩定成績。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3063240"/>
            <a:ext cx="5623560" cy="1965960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216" y="3136392"/>
            <a:ext cx="5367528" cy="183794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F1  0.50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零樣本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同一批人工金標。召回約 57% 不夠，所以才要兩段式，不能只靠初篩。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138928"/>
            <a:ext cx="11356848" cy="6400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193792"/>
            <a:ext cx="1111910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九面向全量標完，殘餘僅 4 句。Haiku 單獨召回約 57%，所以第二段才複核。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正例僅 9 句，召回區間 0.45–0.94。本機 F1 0.82 還不是穩定成績。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來源：本機模型報告（T8）；校準曲線見附錄 A2b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62356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32918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2918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2918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2066544"/>
            <a:ext cx="5623560" cy="530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103120"/>
            <a:ext cx="5394960" cy="45719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 A2b。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987552"/>
            <a:ext cx="5504688" cy="160934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042416"/>
            <a:ext cx="5230368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句：r4 F1 0.685，高於 Haiku 的 0.58。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19088" y="2157984"/>
            <a:ext cx="9601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194560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輸入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9208" y="2157984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157984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2194560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只取下一詞機率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59" y="2157984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65791" y="2157984"/>
            <a:ext cx="14173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65791" y="2194560"/>
            <a:ext cx="14173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各等級機率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" y="2724912"/>
            <a:ext cx="2198217" cy="23957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" y="2779776"/>
            <a:ext cx="2070201" cy="23042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ETL＋弱監督標註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篩出 21,183 句售後語料。先用 Haiku 寬鬆標，再用 Sonnet 或 GPT 帶上下文複核。c≥2 一致率 98.4%，殘餘僅 4 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10281" y="2724912"/>
            <a:ext cx="2198217" cy="23957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3433" y="2779776"/>
            <a:ext cx="2070201" cy="23042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資料切分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（防洩漏）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GroupSplit 整篇排除測試 600 句。驗證 1,096 句，訓練池 9,431 句。同篇句子不進訓練，避免把成績高估。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99939" y="2724912"/>
            <a:ext cx="2198217" cy="23957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3091" y="2779776"/>
            <a:ext cx="2070201" cy="23042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任務轉換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流失四級拆成四個是非題。Prefill-only 只取下一詞在候選上的機率，不生成文字。每句約 0.7 秒，8 GB 顯卡可推，資料不出門。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89596" y="2724912"/>
            <a:ext cx="2198217" cy="23957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2748" y="2779776"/>
            <a:ext cx="2070201" cy="23042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監督式微調 SFT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Qwen3-4B，QLoRA r=16。流失句過採樣到四成。2 epoch，8 GB 顯卡約 5 小時。只訓低秩參數，推論零 API 費。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79254" y="2724912"/>
            <a:ext cx="2198217" cy="23957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52406" y="2779776"/>
            <a:ext cx="2070201" cy="23042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評估與校準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金標 300 句：F1 0.82、κ 0.81。另看精確率、召回與五段校準。最高信心桶 n=71、實際約 68%。曲線見附錄 A2b。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" y="5394959"/>
            <a:ext cx="11356848" cy="10241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449823"/>
            <a:ext cx="11155680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架構沿用開源 LLM2Jev。8 GB 可訓可推，推論零 API 費。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最高信心桶 n=71、實際約 68%（約七成），見附錄 A2b。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句測試集：r4 F1 0.685，高於 Haiku 零樣本的 F1 0.58。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Persona（客群輪廓）報告（T10）、本機模型報告（T8）、專案架構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623560" cy="1170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5385816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規則看替代去向，不靠客訴關鍵字。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這 128 人裡，替代有 55% 是一般外廠。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3912" y="987552"/>
            <a:ext cx="5623560" cy="1170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042416"/>
            <a:ext cx="5385816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74%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分數說得出原因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風險＝模型機率 ×0.6＋命中規則／8 ×0.4。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74% 真有流失句，低風險只有 1.8%。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249424"/>
            <a:ext cx="5623560" cy="1170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04288"/>
            <a:ext cx="5385816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 元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本機就能跑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Qwen3-4B，8 GB 約 5 小時，每句 0.7 秒。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測試集 F1 0.685。CRM 文字不上雲。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2249424"/>
            <a:ext cx="5623560" cy="1170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2304288"/>
            <a:ext cx="5385816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0.080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只有一組被資料分開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k=4 的 ARI 0.08，四個假設沒有全被拆開。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簡報仍用可回溯原句的規則，不假裝分群已分開。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20624" y="3493008"/>
          <a:ext cx="11356848" cy="2926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6784848"/>
              </a:tblGrid>
              <a:tr h="58521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只看客訴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58521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沒抱怨就走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看不到這群人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 128 人，替代 55% 到一般外廠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8521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沒有原因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機率 6 成＋規則 4 成；高 74%、低 1.8%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8521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在哪裡算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資料得出門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本機，每句 0.7 秒，F1 0.685，API 費 0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852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四個客群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主觀標籤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ARI 0.08；只有靜默出走者被資料獨立支持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7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3151662"/>
                <a:gridCol w="3151662"/>
                <a:gridCol w="3151571"/>
              </a:tblGrid>
              <a:tr h="925372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保固到期前 60 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回廠間隔拉長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刪項後首次回廠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925372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過保精算派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您好，提醒您留意愛車保養週期：一般使用建議每六個月回廠；若半年超過一萬公里，則建…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您好，我是服務廠專員。想提醒您，上次未同意的估價項目仍由您決定是否處理。若自費更…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925372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品質失望派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您好，您的保固即將屆滿，目前保證窗口仍在，可先核對新車基本保證；期限為交車日起4…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您好，提醒您，Lexus提供全年免費的尊榮安檢。一般使用建議每六個月回廠保養及檢…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您好，上次未處理的項目是否進行，仍由您決定；若想再確認車況，可預約回廠安排全年免…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925372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口碑建議者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您好，提醒您可依使用頻率安排愛車保養：一般使用建議每六個月回廠；若半年超過一萬公…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您好，官方資訊可轉述給車友：自費於Lexus服務廠更換的正廠零件（消耗性零件除外…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92537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您好，提醒您，愛車保固即將屆滿。新車基本保證為自交車日起4年或行駛120,000…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您好，提醒您，可依愛車使用情況安排回廠：一般使用建議每半年實施定期保養；若半年超…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您好，若您想回廠，自費更換的正廠零件（消耗性零件除外），保證自更換日起2年或行駛…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5705855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5779007"/>
            <a:ext cx="11064240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則對 76 條官方條款查核通過。人工核准才投遞。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十二則只列前 40 字。待料全文見附錄 A3，客訴回訪見附錄 A5。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會議記錄、iPAS 導入對照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4892040" cy="69494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42416"/>
            <a:ext cx="4690872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人走了才知道。過保、刪項、間隔拉長時先找到人。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1755648"/>
            <a:ext cx="4892040" cy="69494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810512"/>
            <a:ext cx="4690872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523744"/>
            <a:ext cx="4892040" cy="9875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578608"/>
            <a:ext cx="4690872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人時（估）。本機模型 4.1 小時跑完，零 API 費。人力改花在審名單與話術。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3584448"/>
            <a:ext cx="4892040" cy="6766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3639312"/>
            <a:ext cx="4690872" cy="5852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五項主要風險，對策與責任人見右表。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4334256"/>
            <a:ext cx="4892040" cy="1170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4389120"/>
            <a:ext cx="4690872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怎麼讀右表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技術：寫錯條款只引用 76 條並人工審；模糊句多報就當初篩。資料註明論壇母體，上線改 CRM。法規只用去識別版。客群寫成可回溯原句的規則。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40679" y="987552"/>
          <a:ext cx="6336792" cy="5431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1965960"/>
                <a:gridCol w="2880360"/>
                <a:gridCol w="777240"/>
              </a:tblGrid>
              <a:tr h="90525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90525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90525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90525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90525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90525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Persona（客群輪廓）被質疑主觀（ARI 0.08）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寫成「規則定義、每項可回溯原句」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會議記錄；模型現況見人工評估（T9）與本機模型報告（T8）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87552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225296"/>
          <a:ext cx="11356848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246120"/>
                <a:gridCol w="3520440"/>
                <a:gridCol w="3538728"/>
              </a:tblGrid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名單一次性產出；12 則主表＋4 則附錄已查核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7490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624" y="3108960"/>
            <a:ext cx="11356848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3346704"/>
            <a:ext cx="11356848" cy="13533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01568"/>
            <a:ext cx="11100816" cy="1261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句人工金標。每季重標，審核回饋持續再訓練。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模型，8 GB 顯卡 5 小時可重訓。推論零 API 費，資料不出門。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條官方條款＋每則話術查核紀錄。價格與保固只引用這 76 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4773168"/>
            <a:ext cx="2183587" cy="135331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828032"/>
            <a:ext cx="2073859" cy="12618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 資料接入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R1–R8 換成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DMS 實際欄位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工單去識別後接入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3939" y="4773168"/>
            <a:ext cx="2183587" cy="135331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8803" y="4828032"/>
            <a:ext cx="2073859" cy="12618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 模型校準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重標 300 句金標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重驗 r4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再調觸發門檻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7254" y="4773168"/>
            <a:ext cx="2183587" cy="135331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2118" y="4828032"/>
            <a:ext cx="2073859" cy="12618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 單一據點試行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一個服務廠跑完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專員審核後投遞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未核准不發出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0569" y="4773168"/>
            <a:ext cx="2183587" cy="135331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5433" y="4828032"/>
            <a:ext cx="2073859" cy="12618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 擴大至全台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依試行調話術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與渠道分批上線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不一次開全台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93884" y="4773168"/>
            <a:ext cx="2183587" cy="135331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748" y="4828032"/>
            <a:ext cx="2073859" cy="12618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 持續監控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不設終點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日監控、週收樣本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月重評 Persona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季重驗模型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6163055"/>
            <a:ext cx="11356848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合計約 24 週（持續監控不設終點）。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A0 補充資料（不計入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運作流程；圖 F8。線框為示意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每則話術都經人工核准；決賽提供可操作版</a:t>
            </a:r>
          </a:p>
        </p:txBody>
      </p:sp>
      <p:pic>
        <p:nvPicPr>
          <p:cNvPr id="6" name="Picture 5" descr="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444" y="987552"/>
            <a:ext cx="10163206" cy="387705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4937759"/>
            <a:ext cx="11356848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" y="4937759"/>
            <a:ext cx="11356848" cy="32918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4956047"/>
            <a:ext cx="1117396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321807"/>
            <a:ext cx="3931920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 H-7F3A　風險 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　過保精算派　觸發 R1 過保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話術草稿　引用條目 41、52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44968" y="5376671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5413247"/>
            <a:ext cx="123444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0848" y="5376671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5413247"/>
            <a:ext cx="123444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96728" y="5376671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96728" y="5413247"/>
            <a:ext cx="123444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035040"/>
            <a:ext cx="110642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未核准不投遞。決賽再給可操作版。代號為示意，不是論壇帳號。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A1 術語表（不計入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來源：本機模型報告（T8）、人工評估（T9）、風險與 Persona（客群輪廓）報告（T10）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4297680"/>
                <a:gridCol w="4727448"/>
              </a:tblGrid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顯卡 5 小時完成；adapter 約數十 MB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36）；12 則主表＋4 則附錄，每則附引用與查核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9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Persona（客群輪廓）：只有靜默出走者被資料獨立支持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來源：統計檢定報告（T7）、風險與 Persona（客群輪廓）報告（T10）；圖 F2、F4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三站發言者流失率，與發言者風險分布</a:t>
            </a:r>
          </a:p>
        </p:txBody>
      </p:sp>
      <p:pic>
        <p:nvPicPr>
          <p:cNvPr id="6" name="Picture 5" descr="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40" y="987552"/>
            <a:ext cx="11000815" cy="20848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3108960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145536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F2　論壇發言者流失率。　Mobile01 18.2%、PTT 14.1%、Dcard 6.8%。母體是論壇發言者，χ²=99.5。</a:t>
            </a:r>
          </a:p>
        </p:txBody>
      </p:sp>
      <p:pic>
        <p:nvPicPr>
          <p:cNvPr id="9" name="Picture 8" descr="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40" y="3621024"/>
            <a:ext cx="11000815" cy="208483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0624" y="5742432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5779008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F4　發言者風險分布。　高風險發言者 1,049 人（16.4%）；約八成在低風險。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A2b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來源：本機模型報告（T8）、趨勢報告（T15）；圖 F6、F9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校準曲線，與季趨勢預警</a:t>
            </a:r>
          </a:p>
        </p:txBody>
      </p:sp>
      <p:pic>
        <p:nvPicPr>
          <p:cNvPr id="6" name="Picture 5" descr="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40" y="987552"/>
            <a:ext cx="11000815" cy="20848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3108960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145536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F6　校準曲線。　最高信心桶 n=71，實際流失 68%。高分仍偏高，方向對。</a:t>
            </a:r>
          </a:p>
        </p:txBody>
      </p:sp>
      <p:pic>
        <p:nvPicPr>
          <p:cNvPr id="9" name="Picture 8" descr="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46" y="3621024"/>
            <a:ext cx="10551802" cy="208483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0624" y="5742432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5779008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F9　季趨勢預警。　討論量達前 4 週平均 3 倍且至少 5 句就亮燈。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A3 待料通知話術（不計入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天就主動通知，話術不寫到貨日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11119104" cy="2569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　LINE 官方帳號推播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26、65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您好，零件還在等料，讓您久等了，很抱歉。到貨時間確定後，我們會第一時間通知您。 到貨後如需到府取送車，可在保養或維修預定入廠日前 2 天預約，單程距離限 10 公里以內。若想了解目前進度，請聯絡您的服務專員。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3/3；重生成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758183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13047"/>
            <a:ext cx="11119104" cy="2569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　服務廠專員電話腳本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26、57、65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目前零件仍在等待中，有進一步消息我會再聯繫您。如果愛車因零件缺料而無法行駛或有行車安全疑慮，需要留廠72小時以上，維修期間我們會提供免費代步車；板金或噴漆維修恕無法提供，現車仍需視服務廠車輛調度實況而定。您也可聯絡我這位服務專員，或致電0800-036-036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6/6；重生成 1 次；生成次數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A4 CRM 觸發門檻（不計入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Persona（客群輪廓）報告（T10）、L7 運作流程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八條規則的欄位與門檻；投影片只留欄位名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 過保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 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 找出口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 零件等料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 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 已離開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 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A5 客訴回訪話術（不計入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來源：客訴關懷策略、話術範例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11119104" cy="2569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　專員電話腳本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尊榮安檢，協助確認目前車況；後續有任何狀況，都可以由我作為您的服務窗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758183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13047"/>
            <a:ext cx="11119104" cy="2569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　LINE 一對一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65、73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