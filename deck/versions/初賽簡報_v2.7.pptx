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大綱列出七個章節與頁碼，並標示兩大產出各落在哪幾頁。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超過78字只標記不刪，仍全部進標註；重複句已上游刪除。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大綱（不計入內容頁，同提案摘要）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七個章節、兩大產出，對照頁碼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  提案概述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位有 1 位在找出口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  目標對象與痛點分析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前兆、面向、外廠與語料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  解決方案設計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雙迴路、四種客群、風險分級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0556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1996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  AI 應用方法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兩段式標註與本機模型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  獨特優勢與差異化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沉默流失看得見、分數可解釋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708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  預期效益與落地評估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話術、效益與 24 週導入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  補充資料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人工核准後才投遞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556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1996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  附錄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19–24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不計入內容頁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術語、圖表、話術與門檻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關鍵數字：21,183 句、四種流失 Persona、r4 F1 0.685。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則話術已查核；待料 A3、門檻 A4、客訴 A5。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07899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　論壇發言者流失率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χ²=99.5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  18.2%</a:t>
            </a: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PTT  14.1%</a:t>
            </a: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Dcard  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94560"/>
            <a:ext cx="5614416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376672" cy="407822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人（第 10 頁）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15.0%（第 6 頁）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句（第 8 頁）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0.685（第 13 頁）；架構第 9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2194560"/>
            <a:ext cx="5614416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2286000"/>
            <a:ext cx="5376672" cy="407822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對的人、對的時機開口（第 15 頁）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則話術已對 76 條條款查核；待料見 A3、客訴見 A5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 60 天、回廠間隔拉長、刪項後首次回廠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洞察與溝通雙迴路（第 9、18 頁），人工核准才發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212080" cy="18653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919472" cy="16824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962656"/>
            <a:ext cx="5212080" cy="18653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072383"/>
            <a:ext cx="4919472" cy="16824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987552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7024" y="1078992"/>
            <a:ext cx="5760720" cy="10728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9008" y="2298192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389632"/>
            <a:ext cx="5760720" cy="10728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3608831"/>
            <a:ext cx="5998464" cy="121919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3700271"/>
            <a:ext cx="5760720" cy="10728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937759"/>
            <a:ext cx="11356848" cy="14813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71292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9036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5612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49977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7721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4297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前兆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8662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6406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982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人走了才知道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07347" y="5687568"/>
            <a:ext cx="219456" cy="201168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45091" y="5266944"/>
            <a:ext cx="2022652" cy="1042416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1667" y="5321807"/>
            <a:ext cx="1949500" cy="969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736 句，可複選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977639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3776472" cy="11567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　流失率最高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363724"/>
            <a:ext cx="3977639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55164"/>
            <a:ext cx="3776472" cy="11567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　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739896"/>
            <a:ext cx="3977639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831335"/>
            <a:ext cx="3776472" cy="11567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　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5116068"/>
            <a:ext cx="3977639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5207507"/>
            <a:ext cx="3776472" cy="11567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態度負面占比；流失只有 4.7%</a:t>
            </a:r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3" y="987552"/>
            <a:ext cx="7287768" cy="409936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89703" y="5160073"/>
            <a:ext cx="7287768" cy="125901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5233225"/>
            <a:ext cx="7068312" cy="11492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160520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3959352" cy="11932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可複選；母體 1,671 句流失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363724"/>
            <a:ext cx="4160520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36876"/>
            <a:ext cx="3959352" cy="11932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同一批流失句裡的其他去向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739896"/>
            <a:ext cx="4160520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813048"/>
            <a:ext cx="3959352" cy="11932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過保後才把人推向外廠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5116068"/>
            <a:ext cx="4160520" cy="13030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5189220"/>
            <a:ext cx="3959352" cy="11932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原廠／外廠，論壇中位數，非公告價</a:t>
            </a:r>
          </a:p>
        </p:txBody>
      </p:sp>
      <p:pic>
        <p:nvPicPr>
          <p:cNvPr id="14" name="Picture 1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3" y="987552"/>
            <a:ext cx="7104888" cy="399649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672583" y="5057203"/>
            <a:ext cx="7104888" cy="13618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5130355"/>
            <a:ext cx="6885432" cy="12521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去向可複選。定保價是論壇口述中位數，不是公告價。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來源：題目選擇分析、資料品質報告（T7）、去識別報告（T7）；圖 F9_pipeline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090672"/>
            <a:ext cx="1135684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145536"/>
            <a:ext cx="1113739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字（Q3+1.5×IQR）占 7.77%，品質檢查只標記、不刪除，21,183 句仍全部進入標註。切句時另把超過 200 字的段落依逗號切開。</a:t>
            </a:r>
          </a:p>
        </p:txBody>
      </p:sp>
      <p:pic>
        <p:nvPicPr>
          <p:cNvPr id="10" name="Picture 9" descr="F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023360"/>
            <a:ext cx="11356848" cy="2271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8659368" cy="40590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71432" y="987552"/>
            <a:ext cx="2606040" cy="543153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" y="5101494"/>
            <a:ext cx="8659368" cy="131759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5156358"/>
            <a:ext cx="8439912" cy="124444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方塊角上的 L# 就是右側這八層。上帶是產出 1，下帶是產出 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4584" y="1042416"/>
            <a:ext cx="2478024" cy="4937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八層＝處理層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L0 蒐集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三站公開論壇已爬完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L1 前處理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合併、切句、去重，留下售後句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L2 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流失、九面向、替代與車主特徵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 決策模型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本機 QLoRA，只輸出各等級機率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L4 風險辨識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八條規則乘上 r4 的流失機率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L5 客群輪廓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規則指派四種流失樣貌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 RAG 生成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價格與保固只引用官方知識庫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 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審核後投遞，並把 KPI 寫回去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179929" cy="20299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051913" cy="19385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1993" y="987552"/>
            <a:ext cx="2179929" cy="20299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5145" y="1042416"/>
            <a:ext cx="2051913" cy="19385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2179929" cy="20299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3163824"/>
            <a:ext cx="2051913" cy="19385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1993" y="3108960"/>
            <a:ext cx="2179929" cy="20299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5145" y="3163824"/>
            <a:ext cx="2051913" cy="19385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63" y="987552"/>
            <a:ext cx="6814108" cy="383293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212080"/>
            <a:ext cx="11356848" cy="120700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266944"/>
            <a:ext cx="11100816" cy="11338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pic>
        <p:nvPicPr>
          <p:cNvPr id="6" name="Picture 5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12064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50992" y="987552"/>
            <a:ext cx="6126480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9007" y="1097280"/>
            <a:ext cx="5888736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模型機率 6 成＋規則命中 4 成。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511 人，平均風險 0.73。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3959352"/>
          <a:ext cx="1135684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2860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0624" y="6044183"/>
            <a:ext cx="1135684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00272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3444240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8912" y="987552"/>
            <a:ext cx="3700272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6928" y="1133856"/>
            <a:ext cx="3444240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987552"/>
            <a:ext cx="3700272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5216" y="1133856"/>
            <a:ext cx="3444240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06324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483864"/>
            <a:ext cx="11356848" cy="2935223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611880"/>
            <a:ext cx="11027664" cy="27340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句：本機模型 F1 0.82，與 Sonnet 同級。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只有 F1 0.50。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限制：正例僅 9 句，召回區間 0.45–0.94。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286000"/>
            <a:ext cx="5623560" cy="106070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15568"/>
            <a:ext cx="5212080" cy="20848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456432"/>
            <a:ext cx="2198217" cy="25237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3529584"/>
            <a:ext cx="2070201" cy="23957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0281" y="3456432"/>
            <a:ext cx="2198217" cy="25237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3433" y="3529584"/>
            <a:ext cx="2070201" cy="23957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9939" y="3456432"/>
            <a:ext cx="2198217" cy="25237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3091" y="3529584"/>
            <a:ext cx="2070201" cy="23957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9596" y="3456432"/>
            <a:ext cx="2198217" cy="25237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2748" y="3529584"/>
            <a:ext cx="2070201" cy="23957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9254" y="3456432"/>
            <a:ext cx="2198217" cy="25237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406" y="3529584"/>
            <a:ext cx="2070201" cy="23957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6016751"/>
            <a:ext cx="11356848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016751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架構沿用開源 LLM2Jev。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最高信心桶命中約七成，見附錄 A2b。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85231" cy="23225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只看客訴，看不到沒抱怨就走的人。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7" y="1188720"/>
            <a:ext cx="5285231" cy="23225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輸出各級機率，並標出命中規則。不是黑箱分數。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767328"/>
            <a:ext cx="5614416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968496"/>
            <a:ext cx="5285231" cy="23225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3767328"/>
            <a:ext cx="5614416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3968496"/>
            <a:ext cx="5285231" cy="23225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每個比率有檢定或區間。也能回到去識別原句。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266944"/>
            <a:ext cx="11356848" cy="115214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340096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286000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34086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584448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63931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82896"/>
            <a:ext cx="5074920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937759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50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47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名單一次性產出；16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46704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608576"/>
            <a:ext cx="2183587" cy="14813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63440"/>
            <a:ext cx="2073859" cy="13898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126480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6446520" cy="30218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082510"/>
            <a:ext cx="6446520" cy="233657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73950"/>
            <a:ext cx="6190488" cy="219027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未核准不投遞。決賽再給可操作版。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59" y="987552"/>
            <a:ext cx="4782312" cy="5431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59" y="987552"/>
            <a:ext cx="4782312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599" y="1024128"/>
            <a:ext cx="4599432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481328"/>
            <a:ext cx="4562856" cy="13258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7" y="1554480"/>
            <a:ext cx="4379976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8" y="2926080"/>
            <a:ext cx="4562856" cy="141732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7" y="3017520"/>
            <a:ext cx="4379976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4888" y="4480560"/>
            <a:ext cx="1459992" cy="47548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4535424"/>
            <a:ext cx="14599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6320" y="4480560"/>
            <a:ext cx="1459992" cy="475488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6320" y="4535424"/>
            <a:ext cx="14599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07752" y="4480560"/>
            <a:ext cx="1459992" cy="475488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07752" y="4535424"/>
            <a:ext cx="14599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084064"/>
            <a:ext cx="4562856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未核准不投遞。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727448"/>
              </a:tblGrid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36）；16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三站發言者流失率，與作者風險分布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05272" cy="31529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213669"/>
            <a:ext cx="5605272" cy="220541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4305109"/>
            <a:ext cx="5404104" cy="205911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F2　論壇發言者流失率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18.2%、PTT 14.1%、Dcard 6.8%。母體是論壇發言者，χ²=99.5。</a:t>
            </a:r>
          </a:p>
        </p:txBody>
      </p:sp>
      <p:pic>
        <p:nvPicPr>
          <p:cNvPr id="9" name="Picture 8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87552"/>
            <a:ext cx="5605272" cy="31529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4213669"/>
            <a:ext cx="5605272" cy="220541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4305109"/>
            <a:ext cx="5404104" cy="205911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F4　作者風險分布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人（16.4%）；約八成作者在低風險。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pic>
        <p:nvPicPr>
          <p:cNvPr id="6" name="Picture 5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05272" cy="31529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213669"/>
            <a:ext cx="5605272" cy="220541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4305109"/>
            <a:ext cx="5404104" cy="205911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F6　校準曲線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n=71，實際流失 68%。高分仍偏高，方向對。</a:t>
            </a:r>
          </a:p>
        </p:txBody>
      </p:sp>
      <p:pic>
        <p:nvPicPr>
          <p:cNvPr id="9" name="Picture 8" descr="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87552"/>
            <a:ext cx="5605272" cy="262747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3688175"/>
            <a:ext cx="5605272" cy="27309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779615"/>
            <a:ext cx="5404104" cy="2584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F9　季趨勢預警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日報、週報、季報。討論量達前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523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官方帳號推播　　引用條目：26、65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67328"/>
            <a:ext cx="11356848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11064240" cy="2523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渠道：服務廠專員電話腳本　　引用條目：26、57、65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523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渠道：專員電話腳本　　引用條目：20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67328"/>
            <a:ext cx="11356848" cy="26517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11064240" cy="2523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一對一　　引用條目：65、73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