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摘要給評審三層目標：回廠率假設加十點，核准八成，模型每季重驗。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售後人走了才知道，三個前兆是過保、刪項、間隔拉長。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零件勝算比二點五八、價格二點六四，分母兩萬一千句。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IQR 定 78 字門檻，上游已去掉 15,182 句重複。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兩個迴路：洞察每天進報告池，關懷由事件觸發，人審核過才投遞。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分群只獨立支持靜默出走者；其餘 Persona 用規則定義。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高風險七成四真有流失句；過保精算派人最多，平均風險也最高。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人工兩人 κ 0.40，不一致處要經仲裁後才成為金標。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r4 原值 P 0.617、R 0.769、κ 0.642。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四種人配三種進廠時機，十二則已過查核，投遞前仍要人工審。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人工篩選工時省九成以上（估），五項風險都已有對策。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每季三百句金標、兩人共五小時，審核回饋持續再訓練。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左邊是兩個迴路；右邊審核佇列是線框，決賽再給可操作版。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附錄術語表：每個名詞一句定義、一句本案用法，評審追問時翻這頁。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附錄四張圖：來源差異、風險分布、校準曲線，和季趨勢預警。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附錄待料通知兩則：進度不承諾到貨日，代步車只照知識庫條件。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CRM 八條規則的門檻列在本頁，投影片只留欄位名稱。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客訴結案七天回訪兩則：電話先道歉，LINE 不要求刪評。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初賽提案簡報（v2，2026-10）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919472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7043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17043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成果：高風險車主 12 個月回廠率提升 10 個百分點（假設值，導入後以基期實測校正）。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流程：高風險名單每月更新、話術人工核准率 ≥ 80%。高風險名單人工篩選工時 −90% 以上（估）。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模型：隨機層 F1 ≥ 0.8、κ ≥ 0.6，每季 300 句人工金標重驗。每句 0.7 秒、零 API 費。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來源：統計檢定報告（T7）、殘餘切分報告（T3）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位有 1 位在找出口，多數沒抱怨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13385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862072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三站差異顯著（χ²=99.5）。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母體為論壇發言者。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1,671 句流失中，186 句沒抱怨就找出口。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來源：統計檢定報告（T7）；Dcard 偏購車階段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售後是人走了才知道；輿情能提前預警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6712" y="987552"/>
            <a:ext cx="6080760" cy="29260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三個流失前兆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96712" y="1353312"/>
            <a:ext cx="6080760" cy="111556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24727" y="1463040"/>
            <a:ext cx="582472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保固到期前先找到人。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96712" y="2587752"/>
            <a:ext cx="6080760" cy="111556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24727" y="2697480"/>
            <a:ext cx="582472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刪項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未同意的項目，回廠時再問。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96712" y="3822191"/>
            <a:ext cx="6080760" cy="111556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4727" y="3931920"/>
            <a:ext cx="5824728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回廠間隔拉長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間隔超過建議週期就提醒。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來源：統計檢定報告（T7）；圖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等料和價格送走人；態度抱怨多，卻少有人走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流失率最高：零件供應 17.3%、價格 15.0%。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最低：銷售交車 1.4%。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態度負面占 61%，流失只有 4.7%。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5918454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對應接觸點：待料通知（R5），話術見附錄 A3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 報告（T10）、專案架構、知識庫價格摘錄（T11）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出口是一般外廠；過保後價差把人推走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去向：一般外廠 736 句、自備料 234、DIY 135。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可複選；母體 1,671 句流失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 62 句，保固內僅 17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定保口述價：原廠 9,000、外廠 3,500。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論壇口述中位數，非公告價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來源：題目選擇分析、資料品質報告（T7）、去識別報告（T7）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2.1 萬句售後語料，品質過關、全數去識別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異常值＝超過 78 字的長句，占 7.77%。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 運作流程、專案架構；圖 F8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洞察每日產出；關懷由事件觸發、人工核准才發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914400"/>
            <a:ext cx="10607040" cy="49720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5941314"/>
            <a:ext cx="1135684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八層對應：L0 蒐集　L1 前處理　L2 標註　L3 決策模型　L4 風險辨識　L5 Persona　L6 RAG 生成　L7 接觸點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 報告（T10）；圖 F5。未分類處置見 9/30 會議記錄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四種流失車主，過保精算派最多（511 人）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6070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　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87268" y="98755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8708" y="106070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　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295351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302666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　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87268" y="2953512"/>
            <a:ext cx="2756916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8708" y="3026664"/>
            <a:ext cx="2592324" cy="17465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　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pic>
        <p:nvPicPr>
          <p:cNvPr id="14" name="Picture 13" descr="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987552"/>
            <a:ext cx="5586983" cy="31426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0624" y="4882895"/>
            <a:ext cx="11356848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分母：高、中風險 1,280 人。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未分類 199 人列觀察名單，不投遞。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Persona 為規則定義，每項可回溯原句。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 報告（T10）；圖 F7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高風險車主 74% 確有流失句，分級可信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5989320" cy="2148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風險分＝模型機率占 6 成＋規則命中占 4 成。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 511 人，平均風險 0.73 最高。</a:t>
            </a:r>
          </a:p>
        </p:txBody>
      </p:sp>
      <p:pic>
        <p:nvPicPr>
          <p:cNvPr id="7" name="Picture 6" descr="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472" y="987552"/>
            <a:ext cx="4421632" cy="248716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566160"/>
          <a:ext cx="11356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保固到期日、延保狀態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工單估價與實收、拒絕估價項目、滿意度價格題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回廠間隔、預約取消、App 查據點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自備零件或機油註記、換油套餐、工單金額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待料天數、改期次數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同項目重複進廠、技術客訴、召回未完成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無工單、過戶或退出會員、App 未開啟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NPS、客訴紀錄、推薦計畫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57607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來源：專案架構、Dcard 複核報告（T1）、其他精煉報告（T2）、殘餘切分報告（T3）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兩段式標註：先寬抓、再複核，一致率 98.4%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九面向全量標完，殘餘僅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227832"/>
            <a:ext cx="11356848" cy="132588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19272"/>
            <a:ext cx="11064240" cy="1143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句：本機模型 F1 0.82，與 Sonnet 同級。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Haiku 只有 F1 0.50。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限制：正例僅 9 句，召回區間 0.45–0.94。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來源：本機模型報告（T8）；校準曲線見附錄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本機小模型勝過雲端 Haiku，零 API 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340864"/>
            <a:ext cx="562356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句測試集比較。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校準曲線見附錄。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987552"/>
            <a:ext cx="5504688" cy="28803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133856"/>
            <a:ext cx="5212080" cy="2606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423367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430682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ETL＋弱監督標註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篩出 21,183 句售後語料。先寬鬆標，再帶上下文複核。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3939" y="423367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3667" y="430682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資料切分（防洩漏）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GroupSplit 整篇排除測試 600 句。驗證 1,096 句，訓練池 9,431 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7254" y="423367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6982" y="430682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任務轉換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流失四級拆成四個是非題。Prefill-only 只取下一詞機率。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423367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430682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監督式微調 SFT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Qwen3-4B 用 QLoRA r=16。過採樣到四成；2 epoch、8 GB、5 小時。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93884" y="4233672"/>
            <a:ext cx="2183587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3612" y="4306824"/>
            <a:ext cx="1964131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評估與校準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金標 300 句：F1 0.82、κ 0.81。另看 P、R 與五段校準。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5559552"/>
            <a:ext cx="113568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架構沿用開源 LLM2Jev。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最高信心桶命中約七成，見附錄。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 報告（T10）、本機模型報告（T8）、專案架構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看得見沒抱怨就走的人，分數說得出原因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只看客訴，看不到沒抱怨就走的人。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輸出各級機率，並標出命中規則。不是黑箱分數。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每個比率有檢定或區間。也能回到去識別原句。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來源：話術範例、生成與查核報告（T14）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對的人、對的時機開口；12 則話術全數查核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291840"/>
                <a:gridCol w="3291840"/>
                <a:gridCol w="3291840"/>
              </a:tblGrid>
              <a:tr h="74066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74066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您好，提醒您留意愛車保養週期：一般使用建議每六個月回廠；若半年超過一萬公里，則建…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您好，我是服務廠專員。想提醒您，上次未同意的估價項目仍由您決定是否處理。若自費更…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您好，您的保固即將屆滿，目前保證窗口仍在，可先核對新車基本保證；期限為交車日起4…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您好，提醒您，Lexus尊榮安檢提供25項原廠標準檢查，全年免費。一般使用建議每…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您好，上次未處理的項目是否進行，仍由您決定；若想再確認車況，可預約回廠安排全年免…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4066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您好，提醒您，愛車保固即將屆滿。新車基本保證為自交車日起4年或120,000公里…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您好，提醒您可依使用頻率安排愛車保養：一般使用建議每六個月回廠；若半年超過一萬公…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您好，官方資訊可轉述給車友：自費於Lexus服務廠更換的正廠零件（消耗性零件除外…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您好，提醒您，愛車保固即將屆滿。新車基本保證為自交車日起4年或行駛120,000…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您好，提醒您，可依愛車使用情況安排回廠：一般使用建議每半年實施定期保養；若半年超…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您好，若您想回廠，自費更換的正廠零件（消耗性零件除外），保證自更換日起2年或行駛…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4754880"/>
            <a:ext cx="11356848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則對 76 條官方條款查核通過。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人工核准才投遞。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全文與查核見附錄 A3。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客訴結案後 7 天回訪，見附錄 A5。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 骨架頁、9/30 會議記錄、iPAS 導入對照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人工篩選工時省九成以上；五項風險都有對策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042416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人走了才知道 → 過保、刪項、間隔拉長時先找到人。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103120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157984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判斷、分群、生成都有原型。8 條規則已對到 DMS 欄位。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218688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273552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財務：人力成本節省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人工逐句篩 2.1 萬句約需 106 人時（估）。本機模型 4.1 小時跑完，零 API 費。人力改花在審名單、審話術。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334256"/>
            <a:ext cx="5074920" cy="1042415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4389120"/>
            <a:ext cx="487375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五項主要風險，對策見右表。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50992" y="987552"/>
          <a:ext cx="612648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148840"/>
                <a:gridCol w="2606040"/>
                <a:gridCol w="713232"/>
              </a:tblGrid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層別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責任人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生成內容寫錯價格或保固條款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只引用 76 條知識庫、數字逐字比對、人工審核必經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技術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模型在模糊句多報（困難層 F1 ≤ 0.51，精確率 0.34）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定位成「初篩＋人工複核」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資料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論壇代表性（正例 67% 來自 Mobile01，母體是論壇發言者）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分析頁註明母體與來源構成；上線改用 CRM 資料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法規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去識別流程，簡報與 Demo 只用去識別版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719328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組織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 被質疑主觀（ARI 0.08）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寫成「規則定義、每項可回溯原句」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 骨架頁、9/30 會議記錄；模型現況見人工評估（T9）與本機模型報告（T8）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24 週導入，目標高風險回廠率 +10 個百分點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11356848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層級對照 iPAS：成果＝業務、流程＝應用、模型＝系統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0624" y="1225296"/>
          <a:ext cx="1135684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246120"/>
                <a:gridCol w="3520440"/>
                <a:gridCol w="3538728"/>
              </a:tblGrid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成果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高風險車主 12 個月回廠率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導入後建立基期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提升 10 個百分點＊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高風險名單更新頻率；話術人工核准率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名單一次性產出；16 則已查核、待人工審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每月更新；核准率 ≥ 80%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74903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高風險名單人工篩選工時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人工約 106 人時 → 模型 4.1 小時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−90% 以上（估）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模型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隨機層 F1、κ；每句判斷時間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0.82、κ 0.81；0.7 秒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≥ 0.8、κ ≥ 0.6，每季 300 句人工金標重驗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3108960"/>
            <a:ext cx="11356848" cy="20116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＊假設值，導入後以基期實測校正。模型現況用隨機層人工金標，與目標同一把尺。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" y="3328416"/>
            <a:ext cx="11356848" cy="117043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11100816" cy="10607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數據護城河：三項資產，全部留在和泰內網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語料：2.1 萬句標註＋300 句人工金標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模型：自有 4B 模型，8 GB 顯卡 5 小時可重訓。人工審核回饋持續再訓練。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知識庫：76 條官方條款＋每則話術查核紀錄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" y="4572000"/>
            <a:ext cx="2183587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4608576"/>
            <a:ext cx="2073859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資料接入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R1–R8 換成 DMS 實際欄位，工單文字去識別後接入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13939" y="4572000"/>
            <a:ext cx="2183587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8803" y="4608576"/>
            <a:ext cx="2073859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模型校準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重標 300 句金標，重驗 r4、調觸發門檻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254" y="4572000"/>
            <a:ext cx="2183587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2118" y="4608576"/>
            <a:ext cx="2073859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單一據點試行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一個服務廠跑完流程，專員審核後投遞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572000"/>
            <a:ext cx="2183587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5433" y="4608576"/>
            <a:ext cx="2073859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  擴大至全台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 週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依試行調整話術與渠道，分批上線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93884" y="4572000"/>
            <a:ext cx="2183587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48748" y="4608576"/>
            <a:ext cx="2073859" cy="8961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  持續監控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不設終點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日監控、週收樣本、月重評、季重驗模型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" y="5577840"/>
            <a:ext cx="1135684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合計約 24 週（持續監控不設終點）。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來源：L7 運作流程；圖 F8。線框為示意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每則話術都經人工核准；決賽提供可操作版</a:t>
            </a:r>
          </a:p>
        </p:txBody>
      </p:sp>
      <p:pic>
        <p:nvPicPr>
          <p:cNvPr id="6" name="Picture 5" descr="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987552"/>
            <a:ext cx="5669280" cy="2657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3699890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兩個迴路、四個資料庫、五個 Dashboard。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報告 T1–T15 與程式在私有庫，評審需要時開。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987552"/>
            <a:ext cx="5522976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54496" y="987552"/>
            <a:ext cx="5522976" cy="384048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5936" y="1024128"/>
            <a:ext cx="5340096" cy="310896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Dashboard 5　溝通審核佇列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481328"/>
            <a:ext cx="5266944" cy="10515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536192"/>
            <a:ext cx="5084064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車主　H-7F3A　　風險　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　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觸發　R1 過保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651760"/>
            <a:ext cx="5266944" cy="123444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724912"/>
            <a:ext cx="5084064" cy="10789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話術草稿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引用條目 1、13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2F5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核准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8640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8640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改寫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54768" y="4023360"/>
            <a:ext cx="1694688" cy="438912"/>
          </a:xfrm>
          <a:prstGeom prst="roundRect">
            <a:avLst>
              <a:gd name="adj" fmla="val 8000"/>
            </a:avLst>
          </a:prstGeom>
          <a:solidFill>
            <a:srgbClr val="C05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4768" y="4078224"/>
            <a:ext cx="1694688" cy="329184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Arial"/>
                <a:ea typeface="微軟正黑體"/>
                <a:cs typeface="Arial"/>
              </a:rPr>
              <a:t>退回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599432"/>
            <a:ext cx="5266944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決賽提供可操作版。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未核准不投遞。代號為示意，不是論壇帳號。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術語表（不計入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來源：本機模型報告（T8）、人工評估（T9）、風險與 Persona 報告（T10）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本案用到的技術名詞：定義與在本案的用法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07408"/>
              </a:tblGrid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名詞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定義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本案用法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ETL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Extract-Transform-Load：擷取、清洗轉換、載入。與 ELT（先載入再轉換）不同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爬蟲擷取→去重、切句、售後關鍵詞篩選→寫入 jsonl；23.6 萬句留 21,183 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弱監督標註（LLM-as-labeler）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用模型而非人工產生訓練標籤，事後以人工樣本驗證品質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初篩＋Sonnet／GPT 帶上下文複核；人工 300 句驗證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監督式學習／監督式微調 SFT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用「輸入＋正確答案」訓練；SFT 是在預訓練模型上以標籤資料微調，非從零訓練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以 21,183 句 LLM 標籤微調 Qwen3-4B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QLoRA（NF4 4-bit、LoRA r=16）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把基底模型量化成 4 位元，只訓練低秩附加參數，省顯存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8 GB 顯卡 5 小時完成；adapter 約數十 MB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GroupSplit／資料洩漏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依群組（文章）切分訓練與測試，避免同篇句子兩邊都出現而高估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600 句測試集所在 421 篇整篇排除訓練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類別不平衡／過採樣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正例太少時重複抽樣正例，避免模型全猜負例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7.9% → 訓練時提高到四成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Prefill-only（System-One 決策）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只讀 prompt 取下一個 token 在候選選項上的機率，不生成文字，快且可控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流失四級與立場各成 yes/no 候選題；每句 0.7 秒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Precision／Recall／F1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報流失的句子有多少是真的／真的流失有多少被抓到／兩者調和平均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 隨機層 P 0.88、R 0.78、F1 0.82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Cohen's κ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扣掉瞎猜也會對的部分後的一致程度；0.6 以上算好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人工兩人 κ 0.40（仲裁後成金標）；r4 對人工 κ 0.81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校準（reliability bins）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把預測機率分箱，看每箱實際正例比例是否接近機率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最高信心桶約七成為真正例，方向對、尚未完全校準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χ²、Cramér's V、Wilson CI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類別關聯檢定、其效果量、比例的信賴區間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來源流失率差異 χ²=99.5、V=0.125；九面向勝算比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RAG（檢索增強生成）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先從知識庫檢索相關條目，再讓模型只依這些內容生成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76 條（官網 40、手冊 36）；16 則話術每則附引用與查核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K-means／silhouette／ARI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分群法、分群品質指標、兩種分群結果的一致度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驗證四個 Persona：只有靜默出走者被資料獨立支持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補充圖表（不計入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來源：統計檢定報告（T7）、風險與 Persona 報告（T10）、本機模型報告（T8）、趨勢報告（T15）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來源差異、風險分布、校準曲線，與季趨勢</a:t>
            </a:r>
          </a:p>
        </p:txBody>
      </p:sp>
      <p:pic>
        <p:nvPicPr>
          <p:cNvPr id="6" name="Picture 5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987552"/>
            <a:ext cx="4242816" cy="23865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3374136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F2　Mobile01 18.2%、PTT 14.1%、Dcard 6.8%（作者流失率）。</a:t>
            </a:r>
          </a:p>
        </p:txBody>
      </p:sp>
      <p:pic>
        <p:nvPicPr>
          <p:cNvPr id="8" name="Picture 7" descr="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87552"/>
            <a:ext cx="4242816" cy="2386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81344" y="3374136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F4　高風險 1,049 人（16.4%）；約八成作者在低風險。</a:t>
            </a:r>
          </a:p>
        </p:txBody>
      </p:sp>
      <p:pic>
        <p:nvPicPr>
          <p:cNvPr id="10" name="Picture 9" descr="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739896"/>
            <a:ext cx="4242816" cy="2386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0624" y="6126479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F6　最高信心桶 n=71，實際流失 68%（校準曲線）。</a:t>
            </a:r>
          </a:p>
        </p:txBody>
      </p:sp>
      <p:pic>
        <p:nvPicPr>
          <p:cNvPr id="12" name="Picture 11" descr="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718" y="3739896"/>
            <a:ext cx="5091379" cy="23865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81344" y="6126479"/>
            <a:ext cx="559612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F9　季趨勢，日報／週報／季報與 200% 預警。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待料通知話術（不計入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來源：話術範例、生成與查核報告（T14）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待料逾 7 天就主動通知，話術不寫到貨日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過保精算派 × 待料通知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渠道：LINE 官方帳號推播　　引用條目：26、65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您好，零件還在等料，讓您久等了，很抱歉。到貨時間確定後，我們會第一時間通知您。 到貨後如需到府取送車，可在保養或維修預定入廠日前 2 天預約，單程距離限 10 公里以內。若想了解目前進度，請聯絡您的服務專員。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3/3；重生成 0 次；生成次數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447288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520440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品質失望派 × 待料通知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渠道：服務廠專員電話腳本　　引用條目：26、57、65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讓您久等了，很抱歉。目前零件仍在等待中，有進一步消息我會再聯繫您。如果愛車因零件缺料而無法行駛或有行車安全疑慮，需要留廠72小時以上，維修期間我們會提供免費代步車；板金或噴漆維修恕無法提供，現車仍需視服務廠車輛調度實況而定。您也可聯絡我這位服務專員，或致電0800-036-036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6/6；重生成 1 次；生成次數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CRM 觸發門檻（不計入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來源：風險與 Persona 報告（T10）、L7 運作流程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八條規則的欄位與門檻；投影片只留欄位名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846320"/>
                <a:gridCol w="4407408"/>
              </a:tblGrid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門檻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 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保固到期日、延保狀態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 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工單估價與實收、拒絕估價項目、滿意度價格題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連續 2 次拒絕估價項目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 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回廠間隔、預約取消、App 查據點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逾期超過建議週期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 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自備零件或機油註記、換油套餐、工單金額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金額較前次下降超過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 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待料天數、改期次數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待料超過 7 天，或同車至少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 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同項目重複進廠、技術客訴、召回未完成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天內同項目回廠至少 2 次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 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無工單、過戶或退出會員、App 未開啟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個月無工單（只驗證，不觸發）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 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NPS、客訴紀錄、推薦計畫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0–6，且 12 個月內有客訴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附錄 客訴回訪話術（不計入 15 頁）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來源：客訴關懷策略、話術範例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客訴結案第 7 天回訪，不推銷、不要求刪評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60704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品質失望派 × 客訴結案後 7 天回訪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渠道：專員電話腳本　　引用條目：21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我是上次為您服務的專員。很抱歉先前維修的狀況讓您費心了，想跟您確認，愛車修好後，同樣的狀況是否還有再出現？如果有，請直接找我，我會協助安排後續確認。您也可以預約全年免費的25項尊榮安檢，協助確認目前車況；後續有任何狀況，都可以由我作為您的服務窗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3/3；重生成 0 次；生成次數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447288"/>
            <a:ext cx="11356848" cy="23317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520440"/>
            <a:ext cx="11064240" cy="2203703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口碑建議者 × 客訴結案後 7 天回訪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渠道：LINE 一對一　　引用條目：65、73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您好，感謝您提出意見，讓我們有機會檢視服務。後續改善為【改善做法，由專員填入】。若仍有疑問，您可聯絡服務專員、Lexus LINE 官方帳號的 AI 客服，或免付費專線 0800-036-036 反映；預約可於入廠前一日完成。也歡迎您回覆目前的感受，我們會持續聆聽。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查核：通過；supported 1/1；重生成 0 次；生成次數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