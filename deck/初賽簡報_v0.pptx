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9"/>
    <p:sldId id="259" r:id="rId10"/>
    <p:sldId id="260" r:id="rId11"/>
    <p:sldId id="261" r:id="rId12"/>
    <p:sldId id="262" r:id="rId13"/>
    <p:sldId id="263" r:id="rId14"/>
    <p:sldId id="264" r:id="rId8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5" roundtripDataSignature="AMtx7mjrqaUac791TJS0tEO4hw7w3R3Ns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131772B-9D1A-420D-A6D2-8A18A351E451}">
  <a:tblStyle styleId="{F131772B-9D1A-420D-A6D2-8A18A351E45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9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customschemas.google.com/relationships/presentationmetadata" Target="metadata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題三初賽：公開輿情裡，每六位售後發言就有一位在找出口。</a:t>
            </a:r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e7e10331f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摘要先給評審：對象是售後決策者，模型在本機，話術還等目標值。</a:t>
            </a:r>
          </a:p>
        </p:txBody>
      </p:sp>
      <p:sp>
        <p:nvSpPr>
          <p:cNvPr id="88" name="Google Shape;88;g3e7e10331f4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先講規模感：六個人裡有一個在找出路，而且多數沒有先抱怨。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決策者現在靠客訴才知道流失，我們要用輿情把時間往前拉。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真正送走人的是等料和價格，態度罵很多，人卻還留著。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出口在一般外廠；定保口述中位原廠九千、外廠三千五，不是公告價。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三站切完是二十三萬句，售後兩萬一千句，遮蔽五百多次、抽查沒漏。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兩個迴路：洞察每天進報告池，關懷由事件觸發，人審核過才投遞。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四種人裡過保精算最多；靜默出走沒有抱怨，分群也單獨撐得住。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高風險七成四真有流失句；輿情訊號怎麼對上 CRM，這格還空著。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兩段式補上漏標，Dcard 換模型複核，重疊句一致率達百分之九十八。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大模型標答案、按文章切考卷、四位元微調五小時；人工驗證 F1 零點八二。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別人看不到不抱怨就走的人；我們給規則和機率，每句都能回原句。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四種人配三種進廠時機，十二則已過查核，投遞前仍要人工審。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模型與語料做得到；要守住的是樣本偏誤、個資，還有生成亂編。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延遲和Ｆ１已經有現況，業務回廠率與導入週數都還是空格。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程式在私有庫，報告從Ｔ１到Ｔ１１，畫面截圖等決賽再補。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附錄術語表：每個名詞一句定義、一句本案用法，評審追問時翻這頁。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投影片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0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0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章節標題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1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1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0" name="Google Shape;20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內容" type="obj">
  <p:cSld name="OBJECT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" name="Google Shape;26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兩個內容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3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13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比較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4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4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14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4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14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只有標題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空白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含輔助字幕的內容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7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7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7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含輔助字幕的圖片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8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8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8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直排文字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9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直排標題及文字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0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0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lang="zh-TW" sz="4400" b="1"/>
              <a:t>Lexus車主流失預警與 AI 溝通系統</a:t>
            </a:r>
            <a:endParaRPr/>
          </a:p>
        </p:txBody>
      </p:sp>
      <p:sp>
        <p:nvSpPr>
          <p:cNvPr id="85" name="Google Shape;85;p1"/>
          <p:cNvSpPr txBox="1"/>
          <p:nvPr/>
        </p:nvSpPr>
        <p:spPr>
          <a:xfrm>
            <a:off x="2252640" y="4614411"/>
            <a:ext cx="7686600" cy="108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2026 和泰 AI 黑客松｜AI 流失風險洞察與智慧溝通：打造Lexus車主忠誠度的終極防線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1800"/>
              <a:t>團隊：回廠率研究所</a:t>
            </a:r>
          </a:p>
          <a:p>
            <a:r>
              <a:rPr sz="1800"/>
              <a:t>初賽提案簡報（v0，2026-09）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e7e10331f4_0_0"/>
          <p:cNvSpPr txBox="1"/>
          <p:nvPr/>
        </p:nvSpPr>
        <p:spPr>
          <a:xfrm>
            <a:off x="2625750" y="375575"/>
            <a:ext cx="9342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TW">
                <a:solidFill>
                  <a:schemeClr val="dk1"/>
                </a:solidFill>
              </a:rPr>
              <a:t>本頁為提案摘要，請以簡短文字填寫各欄位，協助評審快速掌握方案核心。詳細提案內容請於後續頁面展開。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chemeClr val="dk1"/>
                </a:solidFill>
              </a:rPr>
              <a:t>※ 本頁</a:t>
            </a:r>
            <a:r>
              <a:rPr b="1" lang="zh-TW">
                <a:solidFill>
                  <a:schemeClr val="dk1"/>
                </a:solidFill>
              </a:rPr>
              <a:t>不計入提案簡報 15 頁限制</a:t>
            </a:r>
            <a:r>
              <a:rPr lang="zh-TW">
                <a:solidFill>
                  <a:schemeClr val="dk1"/>
                </a:solidFill>
              </a:rPr>
              <a:t>，</a:t>
            </a:r>
            <a:r>
              <a:rPr b="1" lang="zh-TW">
                <a:solidFill>
                  <a:schemeClr val="dk1"/>
                </a:solidFill>
              </a:rPr>
              <a:t>所有欄位皆為必填</a:t>
            </a:r>
            <a:r>
              <a:rPr lang="zh-TW">
                <a:solidFill>
                  <a:schemeClr val="dk1"/>
                </a:solidFill>
              </a:rPr>
              <a:t>。表格樣式可自行美化，但</a:t>
            </a:r>
            <a:r>
              <a:rPr b="1" lang="zh-TW">
                <a:solidFill>
                  <a:schemeClr val="dk1"/>
                </a:solidFill>
              </a:rPr>
              <a:t>欄位名稱與順序請保持一致</a:t>
            </a:r>
            <a:r>
              <a:rPr lang="zh-TW">
                <a:solidFill>
                  <a:schemeClr val="dk1"/>
                </a:solidFill>
              </a:rPr>
              <a:t>。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91" name="Google Shape;91;g3e7e10331f4_0_0"/>
          <p:cNvSpPr txBox="1"/>
          <p:nvPr>
            <p:ph type="title"/>
          </p:nvPr>
        </p:nvSpPr>
        <p:spPr>
          <a:xfrm>
            <a:off x="435425" y="350675"/>
            <a:ext cx="2111100" cy="66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zh-TW" sz="3600"/>
              <a:t>提案</a:t>
            </a:r>
            <a:r>
              <a:rPr b="1" lang="zh-TW" sz="3600"/>
              <a:t>摘要</a:t>
            </a:r>
            <a:endParaRPr sz="3600"/>
          </a:p>
        </p:txBody>
      </p:sp>
      <p:graphicFrame>
        <p:nvGraphicFramePr>
          <p:cNvPr id="92" name="Google Shape;92;g3e7e10331f4_0_0"/>
          <p:cNvGraphicFramePr/>
          <p:nvPr/>
        </p:nvGraphicFramePr>
        <p:xfrm>
          <a:off x="435425" y="1248788"/>
          <a:ext cx="3000000" cy="4645151"/>
        </p:xfrm>
        <a:graphic>
          <a:graphicData uri="http://schemas.openxmlformats.org/drawingml/2006/table">
            <a:tbl>
              <a:tblPr>
                <a:noFill/>
                <a:tableStyleId>{F131772B-9D1A-420D-A6D2-8A18A351E451}</a:tableStyleId>
              </a:tblPr>
              <a:tblGrid>
                <a:gridCol w="2190325"/>
                <a:gridCol w="9036475"/>
              </a:tblGrid>
              <a:tr h="36576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團隊名稱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回廠率研究所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產品/服務名稱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Lexus車主流失預警與 AI 溝通系統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企業挑戰題目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AI 流失風險洞察與智慧溝通：打造Lexus車主忠誠度的終極防線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目標對象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Lexus 售後服務部門決策者與服務廠客戶關係人員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353312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解決方案設計重點</a:t>
                      </a:r>
                      <a:endParaRPr sz="1800"/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(至多3項)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1. 從公開輿情 21,183 句售後語料自動標註流失意圖與九大面向，找出 4 種流失 Persona。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2. 本機自訓 System-One 決策模型即時給出流失機率與可解釋規則，作者層級高／中／低分級。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3. Persona × 接觸點的 RAG 關懷內容生成，價格與保固只引用官方知識庫並經人工審核。</a:t>
                      </a: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運用到的AI技術、</a:t>
                      </a:r>
                      <a:endParaRPr sz="1800"/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服務或模型等資源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Claude Haiku／Sonnet 兩段式標註、GPT-5.6 Sol 複核、Qwen3-4B QLoRA 自訓 prefill-only 決策模型（LLM2Jev 架構，本機 8 GB 顯卡）、K-means 分群、RAG（官方保修知識庫）、統計檢定（χ²、勝算比、Wilson CI）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預期效益簡述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【待補：KPI 目標值】</a:t>
                      </a: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（框架：高風險車主關懷觸達率、過保後回廠率、留存率；每句判斷 0.7 秒、零 API 費）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 提案概述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來源：reports/T7_stats_tests.md、reports/T3_residual_split_report.md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84124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每 6 位在論壇談 Lexus 售後的車主，就有 1 位已在找出口，而且大多沒有抱怨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1261872"/>
            <a:ext cx="3688080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408176"/>
            <a:ext cx="3468623" cy="1417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18.2%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Mobile01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作者流失率最高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5008" y="1261872"/>
            <a:ext cx="3688080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4736" y="1408176"/>
            <a:ext cx="3468623" cy="1417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14.1%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PTT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介於兩者之間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9392" y="1261872"/>
            <a:ext cx="3688080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9120" y="1408176"/>
            <a:ext cx="3468623" cy="1417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6.8%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Dcard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作者流失率最低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" y="3136391"/>
            <a:ext cx="11356848" cy="12344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作者層級 χ²=99.5，p&lt;.001（Cramér's V=0.125）。母體是論壇發言者，不是全體車主。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靜默出走：1,671 句流失裡，186 句沒有痛點訊號，只是在找出口。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方案：提早辨識、分成 Persona、在對的接觸點說對的話。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 目標對象與痛點分析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來源：reports/T7_stats_tests.md；圖 F2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售後現在是人走了才知道，公開輿情可以把時間往前拉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5074920" cy="14173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097280"/>
            <a:ext cx="4782312" cy="12070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As-Is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只靠客訴與回廠紀錄，人流失之後才知道。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" y="2560320"/>
            <a:ext cx="5074920" cy="14173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670048"/>
            <a:ext cx="4782312" cy="12070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To-Be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公開輿情加上 CRM 訊號，在離開之前先辨識。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" y="4114800"/>
            <a:ext cx="507492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使用者是售後決策者，以及服務廠的客戶關係人員。誤差線是 Wilson 95% CI。</a:t>
            </a:r>
          </a:p>
        </p:txBody>
      </p:sp>
      <p:pic>
        <p:nvPicPr>
          <p:cNvPr id="11" name="Picture 10" descr="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8424" y="987552"/>
            <a:ext cx="6080760" cy="28503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 目標對象與痛點分析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來源：reports/T7_stats_tests.md；圖 F1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等料和價格才把人送走；態度抱怨很多，人卻很少真的離開</a:t>
            </a:r>
          </a:p>
        </p:txBody>
      </p:sp>
      <p:pic>
        <p:nvPicPr>
          <p:cNvPr id="6" name="Picture 5" descr="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8" y="987552"/>
            <a:ext cx="8412480" cy="39433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0624" y="4949190"/>
            <a:ext cx="11356848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零件供應 17.3%（勝算比 2.58）、價格 15.0%（勝算比 2.64），是流失率最高的兩面向。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銷售交車 1.4%（勝算比 0.15）最低。分母是全部 21,183 句。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態度負面 61%，流失卻只有 4.7%：抱怨多，不等於人會走。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 目標對象與痛點分析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來源：reports/T10_risk_persona_report.md（F3）、專案架構 §0.1、reports/T11_kb_prices_report.md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人主要去一般外廠；過保之後，口述價差把人推出去</a:t>
            </a:r>
          </a:p>
        </p:txBody>
      </p:sp>
      <p:pic>
        <p:nvPicPr>
          <p:cNvPr id="6" name="Picture 5" descr="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8" y="987552"/>
            <a:ext cx="8412480" cy="39433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0624" y="4949190"/>
            <a:ext cx="11356848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一般外廠 736、自備料 234、DIY 135。一句可以多選，母體是 1,671 句流失。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標得到保固狀態的流失句：過保 62，保固內 17。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口述中位，不是定價：定保原廠 9,000 對外廠 3,500；機油 5,000 對 1,950。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 目標對象與痛點分析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來源：題目選擇分析 §6.5、reports/T7_data_quality.md、reports/T7_deid_report.md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三站售後語料已經齊，品質門檻過了，句子也去過識別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0624" y="987552"/>
          <a:ext cx="55321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2651760"/>
              </a:tblGrid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項目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數量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三站文章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5,765 篇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留言／樓層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225,157（22.5 萬）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切句去重後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235,775（23.6 萬）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售後句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21,183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流失句 c≥2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1,671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27064" y="987552"/>
          <a:ext cx="5550408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87168"/>
              </a:tblGrid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指標（售後句）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結果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關鍵欄缺失率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0.00%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重複率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0.00%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一致性率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100%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異常值率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7.77%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完整性率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100%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20624" y="4005072"/>
            <a:ext cx="11356848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去識別：文本遮蔽 517 次。抽查 50 句（seed 42）漏網 0。簡報例句只用去識別版，不出現論壇帳號。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" y="4846320"/>
            <a:ext cx="11356848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異常值是字數超過 Q3+1.5×IQR 的句子，門檻 78 字，占 7.77%。上游已先去掉 15,182 句重複。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3 解決方案設計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來源：L7運作流程_2026-09-30.md、專案架構_2026-09-23.md §2；圖 F8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84124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兩個迴路：洞察每日進報告池；關懷由事件觸發，人工核准後才投遞</a:t>
            </a:r>
          </a:p>
        </p:txBody>
      </p:sp>
      <p:pic>
        <p:nvPicPr>
          <p:cNvPr id="6" name="Picture 5" descr="F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1188720"/>
            <a:ext cx="10607040" cy="49720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0624" y="6215634"/>
            <a:ext cx="1135684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八層對應：L0 蒐集　L1 前處理　L2 標註　L3 決策模型　L4 風險辨識　L5 Persona　L6 RAG 生成　L7 接觸點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3 解決方案設計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來源：reports/T10_risk_persona_report.md §6（例句為去識別版）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四種流失樣貌裡，最多的是過保之後還在算價格的人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2743200" cy="27889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1097280"/>
            <a:ext cx="2560320" cy="258775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過保精算派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511 人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39.9%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價格句 48%，走向一般外廠與自備料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「去外面換就好，原廠換很貴，外面四顆全換12000有找」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987552"/>
            <a:ext cx="2743200" cy="27889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097280"/>
            <a:ext cx="2560320" cy="258775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品質失望派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247 人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19.3%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技術品質 43%，替代裡看得到換車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「原廠處理不好就去外場」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63056" y="987552"/>
            <a:ext cx="2743200" cy="27889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54496" y="1097280"/>
            <a:ext cx="2560320" cy="258775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口碑建議者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195 人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15.2%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立場「建議他人」占 61%，會把別人帶走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「電瓶、輪胎都不用在原廠換」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34272" y="987552"/>
            <a:ext cx="2743200" cy="27889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25712" y="1097280"/>
            <a:ext cx="2560320" cy="258775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靜默出走者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128 人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10.0%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沒有抱怨；替代有 55% 是一般外廠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「可以去外面民間保養廠」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" y="3849624"/>
            <a:ext cx="11356848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規則指派，分母是高／中風險 1,280 人。另有未分類 199 人（15.5%）。分群只獨立支持靜默出走者（78% 在同一群）。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3 解決方案設計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來源：reports/T10_risk_persona_report.md §2；圖 F4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高風險作者七成四真的有流失句，低風險只有百分之一點八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" y="987552"/>
            <a:ext cx="580644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分數＝作者 p_churn 最大值 × 0.6 ＋（命中規則數／8）× 0.4。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高 1,049／中 231／低 5,114。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高風險作者 74% 有流失句，低風險 1.8%。</a:t>
            </a:r>
          </a:p>
        </p:txBody>
      </p:sp>
      <p:pic>
        <p:nvPicPr>
          <p:cNvPr id="7" name="Picture 6" descr="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944" y="987552"/>
            <a:ext cx="5349240" cy="2507456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20624" y="3593592"/>
          <a:ext cx="11356848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2194560"/>
                <a:gridCol w="7973568"/>
              </a:tblGrid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規則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輿情訊號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CRM 欄位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R1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過保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保固到期日（4 年／12 萬）、延保購買狀態：到期前 90 天未購延保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R2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價格負面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工單估價 vs 實收、拒絕估價項目、滿意度價格題：連續 2 次拒項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R3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找出口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回廠間隔 vs 建議週期、預約取消、App 查據點未預約：逾期 1.5 倍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R4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自理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工單自備零件／機油註記、只做換油套餐、金額逐次下降 &gt; 40%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R5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零件等料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零件待料天數、待料改期次數：待料 &gt; 7 天或同車 ≥ 2 次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R6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品質失望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30 天內同項目重複進廠、技術客訴、召回未完成：comeback ≥ 2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R7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已離開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12 個月無工單、過戶／退出會員、App 長期未開啟（驗證用）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R8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帶人走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NPS 貶損者（0–6）且 12 個月內有客訴、推薦計畫無紀錄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20624" y="5879592"/>
            <a:ext cx="1135684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CRM 欄位為業界通用假設，導入時以和泰 DMS 實際欄位替換；模型輸入由論壇文字改為工單備註與客訴文字，架構不變。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4 AI 應用方法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來源：專案架構 §2、reports/T1_dcard_verify_report.md、T2、T3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先寬鬆抓住，再帶上下文複核；九個面向已經全量標完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3688080" cy="155448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3432047" cy="13350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  Haiku 初篩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單獨召回約 57%，先把可能流失的句子留住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5008" y="987552"/>
            <a:ext cx="3688080" cy="155448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3024" y="1097280"/>
            <a:ext cx="3432047" cy="13350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2  帶上下文複核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Mobile01、PTT 用 Sonnet；Dcard 5,355 句用 GPT-5.6 Sol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9392" y="987552"/>
            <a:ext cx="3688080" cy="155448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7408" y="1097280"/>
            <a:ext cx="3432047" cy="13350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3  對得起來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重疊 3,760 句，c≥2 一致率 98.4%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" y="2724912"/>
            <a:ext cx="11356848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同時標九個面向、替代選項，和車主特徵（車型、是否過保）。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流失原因裡標成「其他」的 396 句再細分；真正沒有原因的殘餘剩 4 句。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" y="3639312"/>
            <a:ext cx="11356848" cy="777240"/>
          </a:xfrm>
          <a:prstGeom prst="roundRect">
            <a:avLst>
              <a:gd name="adj" fmla="val 8000"/>
            </a:avLst>
          </a:prstGeom>
          <a:solidFill>
            <a:srgbClr val="FDE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749039"/>
            <a:ext cx="1106424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人工金標 300 句（9/29）：兩人 κ 0.40，仲裁後隨機層 150 句以人工為準：r4 F1 0.82／κ 0.81 與 Sonnet 相同，Haiku F1 0.50；正例僅 9 句，召回 CI 0.45–0.94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4 AI 應用方法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來源：reports/T8_r4_report.md；圖 F6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84124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本機 4B 比雲端 Haiku 更會把流失句找回來，而且不生成文字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0624" y="1261872"/>
          <a:ext cx="56235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914400"/>
                <a:gridCol w="914400"/>
                <a:gridCol w="914400"/>
                <a:gridCol w="914400"/>
              </a:tblGrid>
              <a:tr h="41148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/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P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R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F1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κ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41148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Haiku 零樣本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0.60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0.55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0.58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0.53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r4　4B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0.62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0.77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0.685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0.64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20624" y="2615184"/>
            <a:ext cx="562356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同一 600 句測試集。r4 原值 P 0.617、R 0.769、κ 0.642（T8 ep2）。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" y="3090672"/>
            <a:ext cx="5623560" cy="12344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Prefill-only：只輸出各等級機率，不生成文字。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8 GB 顯卡可訓（約 5 小時）、可推（每句 0.7 秒）。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資料不出門，推論零 API 費。</a:t>
            </a:r>
          </a:p>
        </p:txBody>
      </p:sp>
      <p:pic>
        <p:nvPicPr>
          <p:cNvPr id="9" name="Picture 8" descr="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1261872"/>
            <a:ext cx="5486400" cy="257175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20624" y="4507992"/>
            <a:ext cx="2183587" cy="12344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4581144"/>
            <a:ext cx="1964131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 ETL＋弱監督標註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爬蟲→清洗去重→切句→關鍵詞篩選得 21,183 句；LLM-as-labeler 兩段式：Haiku 初篩、Sonnet／GPT 帶上下文複核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13939" y="4507992"/>
            <a:ext cx="2183587" cy="12344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23667" y="4581144"/>
            <a:ext cx="1964131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2 資料切分（防洩漏）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GroupSplit 按 doc_id：600 句 held-out 測試集整篇排除；驗證 1,096、訓練池 9,431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07254" y="4507992"/>
            <a:ext cx="2183587" cy="12344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16982" y="4581144"/>
            <a:ext cx="1964131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3 任務轉換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多類別→二元候選：流失四級拆成四個 yes/no 題，prefill-only 只取下一 token 機率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00569" y="4507992"/>
            <a:ext cx="2183587" cy="12344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10297" y="4581144"/>
            <a:ext cx="1964131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4 監督式微調 SFT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Qwen3-4B NF4 4-bit QLoRA（r=16）；類別不平衡用過採樣至四成；2 epoch、8 GB VRAM、5 小時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93884" y="4507992"/>
            <a:ext cx="2183587" cy="12344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03612" y="4581144"/>
            <a:ext cx="1964131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5 評估與校準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P／R／F1／Cohen's κ；五段 reliability bins；人工金標 300 句：隨機層 F1 0.82、κ 0.81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" y="5833872"/>
            <a:ext cx="113568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做法沿用 jev 的 System-One 思路（LLM2Jev 開源框架，prefill-only 只出機率），非 jev 官方模型；機率校準以測試集五段分箱事後驗證（最高信心桶約七成為真正例），尚未達官方宣稱水準。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5 獨特優勢與差異化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來源：reports/T10_risk_persona_report.md、reports/T8_r4_report.md、專案架構 §2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靜默出走別隊看不到；分數說得出是哪條規則，也能回到原句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5605272" cy="1874519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188720"/>
            <a:ext cx="5276088" cy="15453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靜默出走者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別隊若只看客訴，看不到這群沒抱怨就離開的人。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987552"/>
            <a:ext cx="5605272" cy="1874519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36792" y="1188720"/>
            <a:ext cx="5276088" cy="15453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機率可解釋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輸出各等級機率，並標出命中的規則，不是一顆黑箱分數。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" y="3008376"/>
            <a:ext cx="5605272" cy="1874519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3209544"/>
            <a:ext cx="5276088" cy="15453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本機就能跑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CRM 資料不能出門。8 GB 顯卡可訓可推，零 API 費。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008376"/>
            <a:ext cx="5605272" cy="1874519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36792" y="3209544"/>
            <a:ext cx="5276088" cy="15453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數字回得去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每個比率有檢定或區間，也能回到去識別原句。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6 預期效益與落地評估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來源：knowledge/generated_examples.md、reports/T14_generation_report.md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先對上是誰、在什麼時候開口；十二則話術已對過知識庫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0624" y="987552"/>
          <a:ext cx="11356848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3291840"/>
                <a:gridCol w="3291840"/>
                <a:gridCol w="3291840"/>
              </a:tblGrid>
              <a:tr h="83210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Persona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保固到期前 60 天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回廠間隔拉長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刪項後首次回廠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83210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過保精算派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Email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您好，您的愛車保固即將屆滿，新車基本保證為自交車日起4年或120,000公里，以…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LINE 官方帳號推播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一般使用建議每六個月回廠保養；若半年超過一萬公里，則以每一萬公里為週期。您可依實…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服務廠專員電話腳本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您好，我是Lexus服務廠專員。您上次有未同意的估價項目，因此致電說明；是否回廠…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83210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品質失望派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服務廠專員電話腳本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您的保固即將屆滿，目前仍在保固窗口內，可先核對新車基本保證範圍；準時定保與否會影…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App 通知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Lexus尊榮安檢提供25項原廠標準檢查，全年免費。一般使用建議每半年回廠保養及…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服務廠專員電話腳本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針對您上次未同意的項目，是否處理仍由您決定。若想再確認車況，可預約回廠接受全年免…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83210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口碑建議者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LINE 官方帳號推播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保固即將屆滿，這則官方資訊可轉述給車友：新車基本保證為交車日起4年或120,00…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Email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這份說明可供您轉傳：一般使用建議每半年定期保養；若半年超過一萬公里，建議每一萬公…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App 通知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您好，提供一則可安心轉述的官方資訊：自費於Lexus服務廠更換的正廠零件，除消耗…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83210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靜默出走者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App 通知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您的愛車保固即將屆滿，仍可核對自交車日起4年或行駛120,000公里的新車基本保…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LINE 官方帳號推播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若距上次保養已有一段時間，可依一般使用每半年或每一萬公里的週期，視用車狀況安排回…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Email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若您想安排回廠，可透過官網或App預約，於回廠前1天以上選擇合適時段；預約保留2…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20624" y="5266944"/>
            <a:ext cx="11356848" cy="6583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12 則皆通過知識庫事實查核，人工審核後才投遞。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完整文字、引用條目與查核見附錄 knowledge/generated_examples.md。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6 預期效益與落地評估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來源：iPAS導入對照_2026-09-25.md §2.1–2.2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技術與語料已在手上；要守的是代表性、個資，和生成亂編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5349240" cy="987552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60704"/>
            <a:ext cx="5093207" cy="8595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需求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只靠客訴與回廠才知道流失，改成輿情加 CRM 提前辨識。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" y="2066543"/>
            <a:ext cx="5349240" cy="987552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139696"/>
            <a:ext cx="5093207" cy="8595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技術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監督分類、分群、RAG 都有原型。CRM 欄位對照仍空著。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" y="3145536"/>
            <a:ext cx="5349240" cy="987552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218688"/>
            <a:ext cx="5093207" cy="8595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財務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推論零 API 費，本機 8 GB 可跑。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C05600"/>
                </a:solidFill>
                <a:latin typeface="Arial"/>
                <a:ea typeface="微軟正黑體"/>
                <a:cs typeface="Arial"/>
              </a:rPr>
              <a:t>【待補：成本與回收期】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" y="4224528"/>
            <a:ext cx="5349240" cy="987552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297680"/>
            <a:ext cx="5093207" cy="8595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風險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代表性、雙模型、個資、生成幻覺。對策在右表。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952744" y="987552"/>
          <a:ext cx="5824727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3675887"/>
              </a:tblGrid>
              <a:tr h="83210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風險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對策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83210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兩個複核模型並存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揭露。重疊 3,760 句，c≥2 一致率 98.4%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83210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論壇代表性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母體是論壇發言者，不是全體車主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83210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個資與再識別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遮蔽 517 次；抽查 50 句漏網 0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83210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生成幻覺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價格與保固只引用知識庫，並人工審核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6 預期效益與落地評估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來源：iPAS導入對照_2026-09-25.md §2.4；現況數字見 T8、T10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延遲和判準已有現況；業務目標與導入週數都還沒填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0624" y="987552"/>
          <a:ext cx="11356848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5943600"/>
                <a:gridCol w="3950208"/>
              </a:tblGrid>
              <a:tr h="42291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層級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現況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目標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42291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系統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每句 0.7 秒。可用率 </a:t>
                      </a:r>
                      <a:r>
                        <a:rPr sz="13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【待補：可用率現況】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【待補：目標值】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</a:tr>
              <a:tr h="42291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應用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F1 0.685、κ 0.64；校準見 P10 的 F6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【待補：目標值】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</a:tr>
              <a:tr h="42291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業務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【待補：業務現況】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【待補：目標值】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20624" y="2953512"/>
            <a:ext cx="2183587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" y="3081528"/>
            <a:ext cx="2037283" cy="14447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問題定義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05600"/>
                </a:solidFill>
                <a:latin typeface="Arial"/>
                <a:ea typeface="微軟正黑體"/>
                <a:cs typeface="Arial"/>
              </a:rPr>
              <a:t>【待補：週數】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13939" y="2953512"/>
            <a:ext cx="2183587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7091" y="3081528"/>
            <a:ext cx="2037283" cy="14447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2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資料準備與標註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05600"/>
                </a:solidFill>
                <a:latin typeface="Arial"/>
                <a:ea typeface="微軟正黑體"/>
                <a:cs typeface="Arial"/>
              </a:rPr>
              <a:t>【待補：週數】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07254" y="2953512"/>
            <a:ext cx="2183587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80406" y="3081528"/>
            <a:ext cx="2037283" cy="14447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3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模型訓練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05600"/>
                </a:solidFill>
                <a:latin typeface="Arial"/>
                <a:ea typeface="微軟正黑體"/>
                <a:cs typeface="Arial"/>
              </a:rPr>
              <a:t>【待補：週數】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00569" y="2953512"/>
            <a:ext cx="2183587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73721" y="3081528"/>
            <a:ext cx="2037283" cy="14447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4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驗證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05600"/>
                </a:solidFill>
                <a:latin typeface="Arial"/>
                <a:ea typeface="微軟正黑體"/>
                <a:cs typeface="Arial"/>
              </a:rPr>
              <a:t>【待補：週數】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93884" y="2953512"/>
            <a:ext cx="2183587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67036" y="3081528"/>
            <a:ext cx="2037283" cy="14447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5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部署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05600"/>
                </a:solidFill>
                <a:latin typeface="Arial"/>
                <a:ea typeface="微軟正黑體"/>
                <a:cs typeface="Arial"/>
              </a:rPr>
              <a:t>【待補：週數】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7 補充資料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來源：本 repo reports/T1–T11；GitHub 私有庫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報告、模型紀錄與程式都在；畫面截圖留到決賽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11356848" cy="12344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097280"/>
            <a:ext cx="11064240" cy="10241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GitHub（private，評審需要時開）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https://github.com/xxx789666/hotai-ai-hackathon-lexus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" y="2377440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2432304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T1　Dcard 複核（c≥2 一致率 98.4%）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3912" y="2377440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432304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T2　「其他」396 句細分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" y="2907792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62656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T3　靜默出走 186 句；殘餘 4 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3912" y="2907792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2962656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T4　LLM2Jev 試點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4" y="3438144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3493008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T5–T6　QLoRA 診斷（未採用）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3912" y="3438144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3493008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T7　品質、去識別、統計檢定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0624" y="3968496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4023359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T8　r4 決策模型（F1 0.685）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53912" y="3968496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4023359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T10　風險分級與四個 Persona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0624" y="4498848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4553712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T11　口述價格（非官方定價）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3912" y="4498848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4553712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T9　人工評估尚未產出（見 P9）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0624" y="5148072"/>
            <a:ext cx="11356848" cy="658368"/>
          </a:xfrm>
          <a:prstGeom prst="roundRect">
            <a:avLst>
              <a:gd name="adj" fmla="val 8000"/>
            </a:avLst>
          </a:prstGeom>
          <a:solidFill>
            <a:srgbClr val="FDE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5248656"/>
            <a:ext cx="110642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C05600"/>
                </a:solidFill>
                <a:latin typeface="Arial"/>
                <a:ea typeface="微軟正黑體"/>
                <a:cs typeface="Arial"/>
              </a:rPr>
              <a:t>【待補：Prototype 畫面截圖（決賽）】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4" y="5852160"/>
            <a:ext cx="1135684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Model Card 與匿名化紀錄放附錄（T8、T7 去識別報告），不計入 15 頁。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附錄 術語表（不計入 15 頁）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來源：reports/T8_r4_report.md、T9_human_eval.md、T10_risk_persona_report.md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本案用到的技術名詞：定義與在本案的用法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0624" y="987552"/>
          <a:ext cx="11356848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572000"/>
                <a:gridCol w="4407408"/>
              </a:tblGrid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名詞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定義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本案用法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ETL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Extract-Transform-Load：擷取、清洗轉換、載入。與 ELT（先載入再轉換）不同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爬蟲擷取→去重、切句、售後關鍵詞篩選→寫入 jsonl；23.6 萬句留 21,183 句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弱監督標註（LLM-as-labeler）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用模型而非人工產生訓練標籤，事後以人工樣本驗證品質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Haiku 初篩＋Sonnet／GPT 帶上下文複核；人工 300 句驗證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監督式學習／監督式微調 SFT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用「輸入＋正確答案」訓練；SFT 是在預訓練模型上以標籤資料微調，非從零訓練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以 21,183 句 LLM 標籤微調 Qwen3-4B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QLoRA（NF4 4-bit、LoRA r=16）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把基底模型量化成 4 位元，只訓練低秩附加參數，省顯存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8 GB 顯卡 5 小時完成；adapter 約數十 MB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GroupSplit／資料洩漏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依群組（文章）切分訓練與測試，避免同篇句子兩邊都出現而高估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600 句測試集所在 421 篇整篇排除訓練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類別不平衡／過採樣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正例太少時重複抽樣正例，避免模型全猜負例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流失句 7.9% → 訓練時提高到四成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Prefill-only（System-One 決策）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只讀 prompt 取下一個 token 在候選選項上的機率，不生成文字，快且可控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流失四級與立場各成 yes/no 候選題；每句 0.7 秒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Precision／Recall／F1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報流失的句子有多少是真的／真的流失有多少被抓到／兩者調和平均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r4 隨機層 P 0.88、R 0.78、F1 0.82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Cohen's κ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扣掉瞎猜也會對的部分後的一致程度；0.6 以上算好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人工兩人 κ 0.40（仲裁後成金標）；r4 對人工 κ 0.81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校準（reliability bins）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把預測機率分箱，看每箱實際正例比例是否接近機率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最高信心桶約七成為真正例，方向對、尚未完全校準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χ²、Cramér's V、Wilson CI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類別關聯檢定、其效果量、比例的信賴區間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來源流失率差異 χ²=99.5、V=0.125；九面向勝算比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RAG（檢索增強生成）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先從知識庫檢索相關條目，再讓模型只依這些內容生成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72 條官網＋手冊條目；12 則話術每則附引用與查核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K-means／silhouette／ARI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分群法、分群品質指標、兩種分群結果的一致度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驗證四個 Persona：只有靜默出走者被資料獨立支持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佈景主題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2022-06-08T04:50:33Z</dcterms:created>
  <dc:creator>Ariel wang</dc:creator>
</cp:coreProperties>
</file>