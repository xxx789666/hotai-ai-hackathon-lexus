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8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jrqaUac791TJS0tEO4hw7w3R3Ns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131772B-9D1A-420D-A6D2-8A18A351E451}">
  <a:tblStyle styleId="{F131772B-9D1A-420D-A6D2-8A18A351E4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9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customschemas.google.com/relationships/presentationmetadata" Target="metadata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題三初賽：公開輿情裡，每六位售後發言就有一位在找出口。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7e10331f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摘要給評審三層目標：回廠率假設加十點，核准八成，模型每季重驗。</a:t>
            </a:r>
          </a:p>
        </p:txBody>
      </p:sp>
      <p:sp>
        <p:nvSpPr>
          <p:cNvPr id="88" name="Google Shape;88;g3e7e10331f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先講規模感：六個人裡有一個在找出路，而且多數沒有先抱怨。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人走了才知道；三站作者流失率差一截，Dcard偏購車階段。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真正送走人的是等料和價格，態度罵很多，人卻還留著。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出口在一般外廠；定保口述中位原廠九千、外廠三千五，不是公告價。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三站切完是二十三萬句，售後兩萬一千句，遮蔽五百多次、抽查沒漏。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兩個迴路：洞察每天進報告池，關懷由事件觸發，人審核過才投遞。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四種人過保精算最多；未分類一成五留觀察名單，不投遞。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高風險七成四真有流失句；過保精算派人最多，平均風險也最高。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兩段式補上漏標，Dcard 換模型複核，重疊句一致率達百分之九十八。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本機四Ｂ把流失句找回來；校準曲線放附錄，每句零點七秒。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別人看不到不抱怨就走的人；我們給規則和機率，每句都能回原句。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四種人配三種進廠時機，十二則已過查核，投遞前仍要人工審。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四面向都有原型；成本只列結構，右表五項風險已有對策。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回廠率先假設加十點；接到全台約二十四週，監控不設終點。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左邊是兩個迴路；右邊審核佇列是線框，決賽再給可操作版。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附錄術語表：每個名詞一句定義、一句本案用法，評審追問時翻這頁。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附錄四張圖：來源差異、風險分布、校準曲線，和季趨勢預警。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附錄待料通知兩則：進度不承諾到貨日，代步車只照知識庫條件。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zh-TW" sz="4400" b="1"/>
              <a:t>Lexus車主流失預警與 AI 溝通系統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2252640" y="4614411"/>
            <a:ext cx="7686600" cy="10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2026 和泰 AI 黑客松｜AI 流失風險洞察與智慧溝通：打造Lexus車主忠誠度的終極防線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1800"/>
              <a:t>團隊：回廠率研究所</a:t>
            </a:r>
          </a:p>
          <a:p>
            <a:r>
              <a:rPr sz="1800"/>
              <a:t>初賽提案簡報（v1，2026-09）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7e10331f4_0_0"/>
          <p:cNvSpPr txBox="1"/>
          <p:nvPr/>
        </p:nvSpPr>
        <p:spPr>
          <a:xfrm>
            <a:off x="2625750" y="375575"/>
            <a:ext cx="9342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chemeClr val="dk1"/>
                </a:solidFill>
              </a:rPr>
              <a:t>本頁為提案摘要，請以簡短文字填寫各欄位，協助評審快速掌握方案核心。詳細提案內容請於後續頁面展開。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1"/>
                </a:solidFill>
              </a:rPr>
              <a:t>※ 本頁</a:t>
            </a:r>
            <a:r>
              <a:rPr b="1" lang="zh-TW">
                <a:solidFill>
                  <a:schemeClr val="dk1"/>
                </a:solidFill>
              </a:rPr>
              <a:t>不計入提案簡報 15 頁限制</a:t>
            </a:r>
            <a:r>
              <a:rPr lang="zh-TW">
                <a:solidFill>
                  <a:schemeClr val="dk1"/>
                </a:solidFill>
              </a:rPr>
              <a:t>，</a:t>
            </a:r>
            <a:r>
              <a:rPr b="1" lang="zh-TW">
                <a:solidFill>
                  <a:schemeClr val="dk1"/>
                </a:solidFill>
              </a:rPr>
              <a:t>所有欄位皆為必填</a:t>
            </a:r>
            <a:r>
              <a:rPr lang="zh-TW">
                <a:solidFill>
                  <a:schemeClr val="dk1"/>
                </a:solidFill>
              </a:rPr>
              <a:t>。表格樣式可自行美化，但</a:t>
            </a:r>
            <a:r>
              <a:rPr b="1" lang="zh-TW">
                <a:solidFill>
                  <a:schemeClr val="dk1"/>
                </a:solidFill>
              </a:rPr>
              <a:t>欄位名稱與順序請保持一致</a:t>
            </a:r>
            <a:r>
              <a:rPr lang="zh-TW">
                <a:solidFill>
                  <a:schemeClr val="dk1"/>
                </a:solidFill>
              </a:rPr>
              <a:t>。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1" name="Google Shape;91;g3e7e10331f4_0_0"/>
          <p:cNvSpPr txBox="1"/>
          <p:nvPr>
            <p:ph type="title"/>
          </p:nvPr>
        </p:nvSpPr>
        <p:spPr>
          <a:xfrm>
            <a:off x="435425" y="350675"/>
            <a:ext cx="21111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zh-TW" sz="3600"/>
              <a:t>提案</a:t>
            </a:r>
            <a:r>
              <a:rPr b="1" lang="zh-TW" sz="3600"/>
              <a:t>摘要</a:t>
            </a:r>
            <a:endParaRPr sz="3600"/>
          </a:p>
        </p:txBody>
      </p:sp>
      <p:graphicFrame>
        <p:nvGraphicFramePr>
          <p:cNvPr id="92" name="Google Shape;92;g3e7e10331f4_0_0"/>
          <p:cNvGraphicFramePr/>
          <p:nvPr/>
        </p:nvGraphicFramePr>
        <p:xfrm>
          <a:off x="435425" y="1248788"/>
          <a:ext cx="3000000" cy="4864608"/>
        </p:xfrm>
        <a:graphic>
          <a:graphicData uri="http://schemas.openxmlformats.org/drawingml/2006/table">
            <a:tbl>
              <a:tblPr>
                <a:noFill/>
                <a:tableStyleId>{F131772B-9D1A-420D-A6D2-8A18A351E451}</a:tableStyleId>
              </a:tblPr>
              <a:tblGrid>
                <a:gridCol w="2190325"/>
                <a:gridCol w="9036475"/>
              </a:tblGrid>
              <a:tr h="36576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團隊名稱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回廠率研究所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產品/服務名稱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Lexus車主流失預警與 AI 溝通系統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企業挑戰題目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AI 流失風險洞察與智慧溝通：打造Lexus車主忠誠度的終極防線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目標對象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 售後服務部門決策者與服務廠客戶關係人員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9844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解決方案設計重點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(至多3項)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1. 從公開輿情 21,183 句售後語料自動標註流失意圖與九大面向，找出 4 種流失 Persona。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2. 本機自訓 System-One 決策模型即時給出流失機率與可解釋規則，作者層級高／中／低分級。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3. Persona × 接觸點的 RAG 關懷內容生成，價格與保固只引用官方知識庫並經人工審核。</a:t>
                      </a: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運用到的AI技術、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服務或模型等資源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Claude Haiku／Sonnet 兩段式標註、GPT-5.6 Sol 複核、Qwen3-4B QLoRA 自訓 prefill-only 決策模型（LLM2Jev 架構，本機 8 GB 顯卡）、K-means 分群、RAG（官方保修知識庫）、統計檢定（χ²、勝算比、Wilson CI）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預期效益簡述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成果：高風險車主 12 個月回廠率提升 10 個百分點（假設值，導入後以基期實測校正）。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流程：高風險名單每月更新、話術人工核准率 ≥ 80%。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模型：隨機層 F1 ≥ 0.8、κ ≥ 0.6，每季 300 句人工金標重驗。每句 0.7 秒、零 API 費。</a:t>
                      </a: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 提案概述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來源：reports/T7_stats_tests.md、reports/T3_residual_split_report.md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 6 位有 1 位在找出口，多數沒抱怨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3385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18.2%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作者流失率最高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98755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4736" y="113385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14.1%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PTT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介於兩者之間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98755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9120" y="113385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6.8%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Dcard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作者流失率最低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2862072"/>
            <a:ext cx="11356848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作者層級 χ²=99.5，p&lt;.001（Cramér's V=0.125）。母體是論壇發言者，不是全體車主。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靜默出走：1,671 句流失裡，186 句沒有痛點訊號，只是在找出口。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方案：提早辨識、分成 Persona、在對的接觸點說對的話。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來源：reports/T7_stats_tests.md（作者層級流失率；Dcard 偏購車階段）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售後現在是人走了才知道，公開輿情可以把時間往前拉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97280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As-Is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只靠客訴與回廠紀錄，人流失之後才知道。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560320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70048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To-Be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公開輿情加上 CRM 訊號，在離開之前先辨識。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4114800"/>
            <a:ext cx="507492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使用者是售後決策者，以及服務廠的客戶關係人員。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96712" y="987552"/>
          <a:ext cx="608076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4418"/>
                <a:gridCol w="2736342"/>
              </a:tblGrid>
              <a:tr h="49149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來源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作者流失率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9149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6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Mobile01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6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18.2%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6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PTT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6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14.1%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9149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6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Dcard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6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6.8%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696712" y="3090672"/>
            <a:ext cx="608076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χ²(2)=99.5，V=0.125。母體是論壇發言者。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Dcard 偏購車階段。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來源：reports/T7_stats_tests.md；圖 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等料和價格才把人送走；態度抱怨很多，人卻很少真的離開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9601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零件供應 17.3%（勝算比 2.58）、價格 15.0%（勝算比 2.64），是流失率最高的兩面向。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銷售交車 1.4%（勝算比 0.15）最低。分母是全部 21,183 句。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態度負面 61%，流失卻只有 4.7%：抱怨多，不等於人會走。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5918454"/>
            <a:ext cx="113568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對應接觸點：待料通知（R5），話術見附錄 A3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來源：reports/T10_risk_persona_report.md（F3）、專案架構 §0.1、reports/T11_kb_prices_report.md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人主要去一般外廠；過保之後，口述價差把人推出去</a:t>
            </a:r>
          </a:p>
        </p:txBody>
      </p:sp>
      <p:pic>
        <p:nvPicPr>
          <p:cNvPr id="6" name="Picture 5" descr="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一般外廠 736、自備料 234、DIY 135。一句可以多選，母體是 1,671 句流失。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標得到保固狀態的流失句：過保 62，保固內 17。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口述中位，不是定價：定保原廠 9,000 對外廠 3,500；機油 5,000 對 1,950。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來源：題目選擇分析 §6.5、reports/T7_data_quality.md、reports/T7_deid_report.md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三站售後語料已經齊，品質門檻過了，句子也去過識別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5532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651760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項目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數量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三站文章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5,765 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留言／樓層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225,157（22.5 萬）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切句去重後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235,775（23.6 萬）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售後句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21,183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流失句 c≥2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1,671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27064" y="987552"/>
          <a:ext cx="5550408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87168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指標（售後句）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結果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關鍵欄缺失率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重複率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一致性率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異常值率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7.77%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完整性率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20624" y="400507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去識別：文本遮蔽 517 次。抽查 50 句（seed 42）漏網 0。簡報例句只用去識別版，不出現論壇帳號。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4846320"/>
            <a:ext cx="11356848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異常值是字數超過 Q3+1.5×IQR 的句子，門檻 78 字，占 7.77%。上游已先去掉 15,182 句重複。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來源：L7運作流程_2026-09-30.md、專案架構_2026-09-23.md §2；圖 F8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兩個迴路：洞察每日進報告池；關懷由事件觸發，人工核准後才投遞</a:t>
            </a:r>
          </a:p>
        </p:txBody>
      </p:sp>
      <p:pic>
        <p:nvPicPr>
          <p:cNvPr id="6" name="Picture 5" descr="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188720"/>
            <a:ext cx="10607040" cy="49720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6215634"/>
            <a:ext cx="1135684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八層對應：L0 蒐集　L1 前處理　L2 標註　L3 決策模型　L4 風險辨識　L5 Persona　L6 RAG 生成　L7 接觸點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 §6；圖 F5。未分類處置見會議記錄_2026-09-30.md §四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四種流失樣貌裡，最多的是過保之後還在算價格的人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56916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060704"/>
            <a:ext cx="2592324" cy="17465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過保精算派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511 人　39.9%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價格句 48%，走向一般外廠與自備料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「去外面換就好，原廠換很貴，外面四顆全換12000有找」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87268" y="987552"/>
            <a:ext cx="2756916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8708" y="1060704"/>
            <a:ext cx="2592324" cy="17465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品質失望派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247 人　19.3%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技術品質 43%，替代裡看得到換車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「原廠處理不好就去外場」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2953512"/>
            <a:ext cx="2756916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3026664"/>
            <a:ext cx="2592324" cy="17465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口碑建議者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195 人　15.2%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立場「建議他人」占 61%，會把別人帶走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「電瓶、輪胎都不用在原廠換」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87268" y="2953512"/>
            <a:ext cx="2756916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8708" y="3026664"/>
            <a:ext cx="2592324" cy="17465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128 人　10.0%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沒有抱怨；替代有 55% 是一般外廠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「可以去外面民間保養廠」</a:t>
            </a:r>
          </a:p>
        </p:txBody>
      </p:sp>
      <p:pic>
        <p:nvPicPr>
          <p:cNvPr id="14" name="Picture 13" descr="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488" y="987552"/>
            <a:ext cx="5586983" cy="314267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624" y="4882895"/>
            <a:ext cx="11356848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規則指派，分母是高／中風險 1,280 人。未分類 199 人（15.5%）保留為觀察名單，不投遞。分群只獨立支持靜默出走者。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 §2、§6；圖 F7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高風險七成四真有流失句；過保精算派規模最大、平均風險也最高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261872"/>
            <a:ext cx="5989320" cy="2148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分數＝作者 p_churn 最大值 × 0.6 ＋（命中規則數／8）× 0.4。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 1,049／中 231／低 5,114。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高風險作者 74% 有流失句，低風險 1.8%。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右圖是 Persona 規模與平均風險：過保精算派 511 人、平均風險 0.73，五組裡最高。</a:t>
            </a:r>
          </a:p>
        </p:txBody>
      </p:sp>
      <p:pic>
        <p:nvPicPr>
          <p:cNvPr id="7" name="Picture 6" descr="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1472" y="1261872"/>
            <a:ext cx="4421632" cy="248716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0624" y="3840480"/>
          <a:ext cx="11356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94560"/>
                <a:gridCol w="7973568"/>
              </a:tblGrid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規則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輿情訊號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CRM 欄位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保固到期日（4 年／12 萬）、延保購買狀態：到期前 90 天未購延保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價格負面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工單估價 vs 實收、拒絕估價項目、滿意度價格題：連續 2 次拒項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找出口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 vs 建議週期、預約取消、App 查據點未預約：逾期 1.5 倍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自理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工單自備零件／機油註記、只做換油套餐、金額逐次下降 &gt; 40%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零件等料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零件待料天數、待料改期次數：待料 &gt; 7 天或同車 ≥ 2 次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R6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30 天內同項目重複進廠、技術客訴、召回未完成：comeback ≥ 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R7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已離開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12 個月無工單、過戶／退出會員、App 長期未開啟（驗證用）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R8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帶人走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NPS 貶損者（0–6）且 12 個月內有客訴、推薦計畫無紀錄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0624" y="6035040"/>
            <a:ext cx="11356848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CRM 欄位為業界通用假設，導入時以和泰 DMS 實際欄位替換；模型輸入由論壇文字改為工單備註與客訴文字，架構不變。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 §2、reports/T1_dcard_verify_report.md、T2、T3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先寬鬆抓住，再帶上下文複核；九個面向已經全量標完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 Haiku 初篩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單獨召回約 57%，先把可能流失的句子留住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3024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 帶上下文複核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Mobile01、PTT 用 Sonnet；Dcard 5,355 句用 GPT-5.6 Sol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7408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 對得起來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重疊 3,760 句，c≥2 一致率 98.4%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272491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先寬鬆抓可能流失的句子。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再帶上上下文複核。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九面向已全量標完；其他 396 句，殘餘剩 4 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" y="3639312"/>
            <a:ext cx="11356848" cy="777240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749039"/>
            <a:ext cx="11064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人工金標 300 句（9/29）：兩人 κ 0.40，仲裁後隨機層 150 句以人工為準：r4 F1 0.82／κ 0.81 與 Sonnet 相同，Haiku F1 0.50；正例僅 9 句，召回 CI 0.45–0.94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來源：reports/T8_r4_report.md；校準曲線 F6 見附錄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本機 4B 比雲端 Haiku 更會把流失句找回來，而且不生成文字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1261872"/>
          <a:ext cx="56235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914400"/>
                <a:gridCol w="914400"/>
                <a:gridCol w="914400"/>
                <a:gridCol w="914400"/>
              </a:tblGrid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/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R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F1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κ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Haiku 零樣本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0.60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0.58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　4B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0.77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0.685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2615184"/>
            <a:ext cx="56235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同一 600 句測試集。r4 原值 P 0.617、R 0.769、κ 0.642（T8 ep2）。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校準曲線見附錄。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261872"/>
            <a:ext cx="5504688" cy="28803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408176"/>
            <a:ext cx="5212080" cy="2606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Prefill-only：只輸出各等級機率，不生成文字。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8 GB 顯卡可訓（約 5 小時）、可推（每句 0.7 秒）。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資料不出門，推論零 API 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ETL＋弱監督標註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篩出 21,183 句售後語料。先寬鬆標，再帶上下文複核。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13939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23667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資料切分（防洩漏）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GroupSplit 整篇排除測試 600 句。驗證 1,096 句，訓練池 9,431 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7254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16982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任務轉換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流失四級拆成四個是非題。Prefill-only 只取下一詞機率。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4 監督式微調 SFT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Qwen3-4B 用 QLoRA r=16。過採樣到四成；2 epoch、8 GB、5 小時。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93884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03612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 評估與校準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金標 300 句：F1 0.82、κ 0.81。另看 P、R 與五段校準。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" y="5833872"/>
            <a:ext cx="113568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沿用 jev（LLM2Jev），非官方模型。只出機率。最高桶約七成，未達宣稱。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 獨特優勢與差異化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來源：reports/T10_risk_persona_report.md、reports/T8_r4_report.md、專案架構 §2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靜默出走別隊看不到；分數說得出是哪條規則，也能回到原句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只看客訴，看不到沒抱怨就走的人。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機率可解釋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輸出各級機率，並標出命中規則。不是黑箱分數。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本機就能跑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CRM 資料不能出門。8 GB 可訓可推，零 API 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數字回得去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每個比率有檢定或區間。也能回到去識別原句。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來源：knowledge/generated_examples.md、reports/T14_generation_report.md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先對上是誰、在什麼時候開口；十二則話術已對過知識庫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3291840"/>
                <a:gridCol w="3291840"/>
                <a:gridCol w="3291840"/>
              </a:tblGrid>
              <a:tr h="795527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Persona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保固到期前 60 天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回廠間隔拉長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刪項後首次回廠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795527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過保精算派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您好，提醒您，愛車保固即將屆滿。新車基本保證為自交車日起4年或120,000公里…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您好，提醒您留意愛車保養週期：一般使用建議每六個月回廠；若半年超過一萬公里，則建…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您好，我是服務廠專員。想提醒您，上次未同意的估價項目仍由您決定是否處理。若自費更…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795527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品質失望派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您好，提醒您，愛車的新車保固即將屆滿。保固期內，於正常使用情況下，因材質或製造不…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您好，提醒您，Lexus尊榮安檢提供25項原廠標準檢查，全年免費。一般使用建議每…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您好，上次未處理的項目是否進行，仍由您決定；若想再確認車況，可預約回廠安排全年免…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795527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口碑建議者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您好，提醒您，愛車保固即將屆滿。新車基本保證為自交車日起4年或120,000公里…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您好，提醒您可依使用頻率安排愛車保養：一般使用建議每六個月回廠；若半年超過一萬公…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您好，官方資訊可轉述給車友：自費於Lexus服務廠更換的正廠零件（消耗性零件除外…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795531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靜默出走者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您好，提醒您，愛車保固即將屆滿。新車基本保證為自交車日起4年或行駛120,000…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您好，提醒您，可依愛車使用情況安排回廠：一般使用建議每半年實施定期保養；若半年超…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您好，若您想回廠，自費更換的正廠零件（消耗性零件除外），保證自更換日起2年或行駛…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5029200"/>
            <a:ext cx="11356848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12 則皆通過知識庫事實查核，人工審核後才投遞。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完整文字、引用條目與查核見附錄 knowledge/generated_examples.md。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零件等料（R5）逾 7 天主動通知，範例見附錄 A3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來源：iPAS骨架頁_草稿.md、會議記錄_2026-09-30.md §五、iPAS導入對照_2026-09-25.md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四個面向都有原型；成本只列結構，五項風險已有對策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074920" cy="104241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42416"/>
            <a:ext cx="487375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需求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售後現在要等客訴或不回廠才知道車主走了；改用輿情與 CRM 訊號，在過保、刪項、回廠間隔拉長時就先找到人。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103120"/>
            <a:ext cx="5074920" cy="104241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157984"/>
            <a:ext cx="487375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技術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判斷、分群、生成三段都有可跑的原型；八條規則已對到 DMS 欄位，導入時換成實際欄位名即可。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218688"/>
            <a:ext cx="5074920" cy="104241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273552"/>
            <a:ext cx="487375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財務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判斷在本機跑，每句 0.7 秒、零 API 費；8 GB 顯卡就能訓練與推論。成本結構已列（人力、標註、模型、整合、授權），回報待試行基期。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4334256"/>
            <a:ext cx="5074920" cy="104241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4389120"/>
            <a:ext cx="487375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風險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代表性、雙複核模型、個資、生成亂編、Persona 主觀性；對策在右表，每項都已有處理。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50992" y="987552"/>
          <a:ext cx="6126480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2148840"/>
                <a:gridCol w="2606040"/>
                <a:gridCol w="713232"/>
              </a:tblGrid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層別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風險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對策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責任人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技術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生成內容寫錯價格或保固條款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只引用知識庫、數字逐字比對、人工審核必經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技術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模型在模糊句多報（困難層 F1 ≤ 0.51，精確率 0.34）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定位成「初篩＋人工複核」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資料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論壇代表性（正例 67% 來自 Mobile01，母體是論壇發言者）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分析頁註明母體與來源構成；上線改用 CRM 資料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B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法規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個資與再識別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去識別流程，簡報與 Demo 只用去識別版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組織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Persona 被質疑主觀（ARI 0.08）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寫成「規則定義、每項可回溯原句」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B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來源：iPAS骨架頁_草稿.md、會議記錄_2026-09-30.md §四；模型現況見 T9、T8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回廠率先假設提升十個百分點；導入約二十四週，之後持續監控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987552"/>
            <a:ext cx="11356848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層級對照 iPAS：成果＝業務、流程＝應用、模型＝系統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20624" y="1261872"/>
          <a:ext cx="11356848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246120"/>
                <a:gridCol w="3520440"/>
                <a:gridCol w="3538728"/>
              </a:tblGrid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層級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指標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現況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目標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成果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高風險車主 12 個月回廠率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導入後建立基期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提升 10 個百分點＊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流程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高風險名單更新頻率；話術人工核准率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名單一次性產出；12 則已查核、待人工審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每月更新；核准率 ≥ 80%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模型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隨機層 F1、κ；每句判斷時間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F1 0.82、κ 0.81；0.7 秒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F1 ≥ 0.8、κ ≥ 0.6，每季 300 句人工金標重驗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20624" y="2980944"/>
            <a:ext cx="11356848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＊假設值，導入後以基期實測校正。模型現況用隨機層人工金標，與目標同一把尺。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" y="3291840"/>
            <a:ext cx="2183587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364992"/>
            <a:ext cx="2073859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資料接入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754880"/>
            <a:ext cx="2183587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R1–R8 換成 DMS 實際欄位，工單文字去識別後接入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13939" y="3291840"/>
            <a:ext cx="2183587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8803" y="3364992"/>
            <a:ext cx="2073859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模型校準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3939" y="4754880"/>
            <a:ext cx="2183587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重標 300 句金標，重驗 r4、調觸發門檻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7254" y="3291840"/>
            <a:ext cx="2183587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2118" y="3364992"/>
            <a:ext cx="2073859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單一據點試行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7254" y="4754880"/>
            <a:ext cx="2183587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一個服務廠跑完流程，專員審核後投遞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00569" y="3291840"/>
            <a:ext cx="2183587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5433" y="3364992"/>
            <a:ext cx="2073859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4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擴大至全台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 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0569" y="4754880"/>
            <a:ext cx="2183587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依試行調整話術與渠道，分批上線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93884" y="3291840"/>
            <a:ext cx="2183587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8748" y="3364992"/>
            <a:ext cx="2073859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持續監控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不設終點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3884" y="4754880"/>
            <a:ext cx="2183587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日監控、週收樣本、月重評、季重驗模型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" y="5340096"/>
            <a:ext cx="11356848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合計約 24 週（持續監控不設終點）。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 補充資料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來源：L7運作流程_2026-09-30.md；圖 F8。線框為示意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流程圖在左；右邊是溝通審核佇列線框，決賽再給可操作版</a:t>
            </a:r>
          </a:p>
        </p:txBody>
      </p:sp>
      <p:pic>
        <p:nvPicPr>
          <p:cNvPr id="6" name="Picture 5" descr="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987552"/>
            <a:ext cx="5669280" cy="26574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3699890"/>
            <a:ext cx="56692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兩個迴路、四個資料庫、五個 Dashboard。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報告 T1–T15 與程式在私有庫，評審需要時開。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987552"/>
            <a:ext cx="5522976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54496" y="987552"/>
            <a:ext cx="5522976" cy="384048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1024128"/>
            <a:ext cx="5340096" cy="31089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Dashboard 5　溝通審核佇列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481328"/>
            <a:ext cx="5266944" cy="10515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536192"/>
            <a:ext cx="5084064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車主　H-7F3A　　風險　高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Persona　過保精算派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觸發　R1 過保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651760"/>
            <a:ext cx="5266944" cy="123444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724912"/>
            <a:ext cx="5084064" cy="10789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話術草稿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引用條目 1、13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82512" y="4023360"/>
            <a:ext cx="1694688" cy="438912"/>
          </a:xfrm>
          <a:prstGeom prst="roundRect">
            <a:avLst>
              <a:gd name="adj" fmla="val 8000"/>
            </a:avLst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4078224"/>
            <a:ext cx="1694688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核准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8640" y="4023360"/>
            <a:ext cx="1694688" cy="438912"/>
          </a:xfrm>
          <a:prstGeom prst="roundRect">
            <a:avLst>
              <a:gd name="adj" fmla="val 8000"/>
            </a:avLst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8640" y="4078224"/>
            <a:ext cx="1694688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改寫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54768" y="4023360"/>
            <a:ext cx="1694688" cy="438912"/>
          </a:xfrm>
          <a:prstGeom prst="roundRect">
            <a:avLst>
              <a:gd name="adj" fmla="val 8000"/>
            </a:avLst>
          </a:prstGeom>
          <a:solidFill>
            <a:srgbClr val="C05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54768" y="4078224"/>
            <a:ext cx="1694688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退回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599432"/>
            <a:ext cx="5266944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決賽提供可操作版。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未核准不投遞。代號為示意，不是論壇帳號。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術語表（不計入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來源：reports/T8_r4_report.md、T9_human_eval.md、T10_risk_persona_report.md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本案用到的技術名詞：定義與在本案的用法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  <a:gridCol w="4407408"/>
              </a:tblGrid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名詞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定義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本案用法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ETL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Extract-Transform-Load：擷取、清洗轉換、載入。與 ELT（先載入再轉換）不同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爬蟲擷取→去重、切句、售後關鍵詞篩選→寫入 jsonl；23.6 萬句留 21,183 句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弱監督標註（LLM-as-labeler）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用模型而非人工產生訓練標籤，事後以人工樣本驗證品質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Haiku 初篩＋Sonnet／GPT 帶上下文複核；人工 300 句驗證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監督式學習／監督式微調 SFT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用「輸入＋正確答案」訓練；SFT 是在預訓練模型上以標籤資料微調，非從零訓練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以 21,183 句 LLM 標籤微調 Qwen3-4B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QLoRA（NF4 4-bit、LoRA r=16）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把基底模型量化成 4 位元，只訓練低秩附加參數，省顯存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8 GB 顯卡 5 小時完成；adapter 約數十 MB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GroupSplit／資料洩漏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依群組（文章）切分訓練與測試，避免同篇句子兩邊都出現而高估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600 句測試集所在 421 篇整篇排除訓練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類別不平衡／過採樣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正例太少時重複抽樣正例，避免模型全猜負例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流失句 7.9% → 訓練時提高到四成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Prefill-only（System-One 決策）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只讀 prompt 取下一個 token 在候選選項上的機率，不生成文字，快且可控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流失四級與立場各成 yes/no 候選題；每句 0.7 秒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Precision／Recall／F1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報流失的句子有多少是真的／真的流失有多少被抓到／兩者調和平均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 隨機層 P 0.88、R 0.78、F1 0.82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Cohen's κ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扣掉瞎猜也會對的部分後的一致程度；0.6 以上算好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人工兩人 κ 0.40（仲裁後成金標）；r4 對人工 κ 0.81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校準（reliability bins）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把預測機率分箱，看每箱實際正例比例是否接近機率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最高信心桶約七成為真正例，方向對、尚未完全校準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χ²、Cramér's V、Wilson CI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類別關聯檢定、其效果量、比例的信賴區間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來源流失率差異 χ²=99.5、V=0.125；九面向勝算比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RAG（檢索增強生成）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先從知識庫檢索相關條目，再讓模型只依這些內容生成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72 條官網＋手冊條目；12 則話術每則附引用與查核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K-means／silhouette／ARI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分群法、分群品質指標、兩種分群結果的一致度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驗證四個 Persona：只有靜默出走者被資料獨立支持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補充圖表（不計入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來源：reports/T7_stats_tests.md、T10_risk_persona_report.md、T8_r4_report.md、T15_trend_reports.md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來源差異、風險分布、校準曲線，與季趨勢</a:t>
            </a:r>
          </a:p>
        </p:txBody>
      </p:sp>
      <p:pic>
        <p:nvPicPr>
          <p:cNvPr id="6" name="Picture 5" descr="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87552"/>
            <a:ext cx="4242816" cy="23865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3374136"/>
            <a:ext cx="559612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F2　Mobile01 18.2%、PTT 14.1%、Dcard 6.8%（作者流失率）。</a:t>
            </a:r>
          </a:p>
        </p:txBody>
      </p:sp>
      <p:pic>
        <p:nvPicPr>
          <p:cNvPr id="8" name="Picture 7" descr="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987552"/>
            <a:ext cx="4242816" cy="2386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81344" y="3374136"/>
            <a:ext cx="559612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F4　高風險 1,049 人（16.4%）；約八成作者在低風險。</a:t>
            </a:r>
          </a:p>
        </p:txBody>
      </p:sp>
      <p:pic>
        <p:nvPicPr>
          <p:cNvPr id="10" name="Picture 9" descr="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739896"/>
            <a:ext cx="4242816" cy="2386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0624" y="6126479"/>
            <a:ext cx="559612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F6　最高信心桶 n=71，實際流失 68%（校準曲線）。</a:t>
            </a:r>
          </a:p>
        </p:txBody>
      </p:sp>
      <p:pic>
        <p:nvPicPr>
          <p:cNvPr id="12" name="Picture 11" descr="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3718" y="3739896"/>
            <a:ext cx="5091379" cy="23865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81344" y="6126479"/>
            <a:ext cx="559612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F9　季趨勢，日報／週報／季報與 200% 預警。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待料通知話術（不計入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來源：knowledge/generated_examples.md、reports/T14_generation_report.md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待料逾 7 天就主動通知，話術不寫到貨日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11356848" cy="23317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60704"/>
            <a:ext cx="11064240" cy="22037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過保精算派 × 待料通知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渠道：LINE 官方帳號推播　　引用條目：9、26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您好，您的愛車目前還在等零件，進度尚未確定；有進一步消息時，我們會再與您聯繫。 自費更換的正廠零件，保證為自更換日起2年或行駛50,000公里以內，以先到者為準。若想查詢進度，可撥顧客服務專線0800-036-036。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查核：通過；supported 3/3；重生成 0 次；生成次數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3447288"/>
            <a:ext cx="11356848" cy="23317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520440"/>
            <a:ext cx="11064240" cy="22037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品質失望派 × 待料通知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渠道：服務廠專員電話腳本　　引用條目：26、57、65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您好，讓您久等了，很抱歉。我是您的服務專員，目前零件仍在等料中，有進一步消息我會再與您聯繫。若因零件缺料，車輛無法行駛或有行車安全疑慮，且留廠達 72 小時以上，才在維修期間提供免費代步車；板金或噴漆不提供。現車需視各廠車輛調度實況而定。您也可聯絡我，或撥免付費顧客服務專線 0800-036-036。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查核：通過；supported 7/7；重生成 0 次；生成次數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2022-06-08T04:50:33Z</dcterms:created>
  <dc:creator>Ariel wang</dc:creator>
</cp:coreProperties>
</file>