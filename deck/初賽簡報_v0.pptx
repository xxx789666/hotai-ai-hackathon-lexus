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8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5" roundtripDataSignature="AMtx7mjrqaUac791TJS0tEO4hw7w3R3Ns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131772B-9D1A-420D-A6D2-8A18A351E451}">
  <a:tblStyle styleId="{F131772B-9D1A-420D-A6D2-8A18A351E45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9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customschemas.google.com/relationships/presentationmetadata" Target="metadata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題三初賽：公開輿情裡，每六位售後發言就有一位在找出口。</a:t>
            </a:r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7e10331f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摘要先給評審：對象是售後決策者，模型在本機，話術還等目標值。</a:t>
            </a:r>
          </a:p>
        </p:txBody>
      </p:sp>
      <p:sp>
        <p:nvSpPr>
          <p:cNvPr id="88" name="Google Shape;88;g3e7e10331f4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先講規模感：六個人裡有一個在找出路，而且多數沒有先抱怨。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決策者現在靠客訴才知道流失，我們要用輿情把時間往前拉。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真正送走人的是等料和價格，態度罵很多，人卻還留著。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出口在一般外廠；定保口述中位原廠九千、外廠三千五，不是公告價。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三站切完是二十三萬句，售後兩萬一千句，遮蔽五百多次、抽查沒漏。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八層從爬文走到接觸點，判斷在自己的顯卡上，資料不用出門。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四種人裡過保精算最多；靜默出走沒有抱怨，分群也單獨撐得住。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高風險七成四真有流失句；輿情訊號怎麼對上 CRM，這格還空著。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兩段式補上漏標，Dcard 換模型複核，重疊句一致率達百分之九十八。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四Ｂ模型只吐機率、不寫句子，八Ｇ顯卡五小時練完，一句零點七秒。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別人看不到不抱怨就走的人；我們給規則和機率，每句都能回原句。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四種人配三種進廠時機，話還沒寫，價格保固只能引用知識庫。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模型與語料做得到；要守住的是樣本偏誤、個資，還有生成亂編。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延遲和Ｆ１已經有現況，業務回廠率與導入週數都還是空格。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程式在私有庫，報告從Ｔ１到Ｔ１１，畫面截圖等決賽再補。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0" name="Google Shape;20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 type="obj">
  <p:cSld name="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zh-TW"/>
              <a:t>2026和泰AI黑客松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2252640" y="4614411"/>
            <a:ext cx="7686600" cy="10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說明：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簡報版面與文字排版可自由設計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總頁數限制</a:t>
            </a:r>
            <a:r>
              <a:rPr lang="zh-TW" sz="1800">
                <a:solidFill>
                  <a:schemeClr val="dk1"/>
                </a:solidFill>
              </a:rPr>
              <a:t>15</a:t>
            </a:r>
            <a:r>
              <a:rPr b="0" i="0" lang="zh-TW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頁內，不包含附錄 (*決賽需提交 Prototype 或 Demo 完整版)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7e10331f4_0_0"/>
          <p:cNvSpPr txBox="1"/>
          <p:nvPr/>
        </p:nvSpPr>
        <p:spPr>
          <a:xfrm>
            <a:off x="2625750" y="375575"/>
            <a:ext cx="9342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chemeClr val="dk1"/>
                </a:solidFill>
              </a:rPr>
              <a:t>本頁為提案摘要，請以簡短文字填寫各欄位，協助評審快速掌握方案核心。詳細提案內容請於後續頁面展開。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1"/>
                </a:solidFill>
              </a:rPr>
              <a:t>※ 本頁</a:t>
            </a:r>
            <a:r>
              <a:rPr b="1" lang="zh-TW">
                <a:solidFill>
                  <a:schemeClr val="dk1"/>
                </a:solidFill>
              </a:rPr>
              <a:t>不計入提案簡報 15 頁限制</a:t>
            </a:r>
            <a:r>
              <a:rPr lang="zh-TW">
                <a:solidFill>
                  <a:schemeClr val="dk1"/>
                </a:solidFill>
              </a:rPr>
              <a:t>，</a:t>
            </a:r>
            <a:r>
              <a:rPr b="1" lang="zh-TW">
                <a:solidFill>
                  <a:schemeClr val="dk1"/>
                </a:solidFill>
              </a:rPr>
              <a:t>所有欄位皆為必填</a:t>
            </a:r>
            <a:r>
              <a:rPr lang="zh-TW">
                <a:solidFill>
                  <a:schemeClr val="dk1"/>
                </a:solidFill>
              </a:rPr>
              <a:t>。表格樣式可自行美化，但</a:t>
            </a:r>
            <a:r>
              <a:rPr b="1" lang="zh-TW">
                <a:solidFill>
                  <a:schemeClr val="dk1"/>
                </a:solidFill>
              </a:rPr>
              <a:t>欄位名稱與順序請保持一致</a:t>
            </a:r>
            <a:r>
              <a:rPr lang="zh-TW">
                <a:solidFill>
                  <a:schemeClr val="dk1"/>
                </a:solidFill>
              </a:rPr>
              <a:t>。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91" name="Google Shape;91;g3e7e10331f4_0_0"/>
          <p:cNvSpPr txBox="1"/>
          <p:nvPr>
            <p:ph type="title"/>
          </p:nvPr>
        </p:nvSpPr>
        <p:spPr>
          <a:xfrm>
            <a:off x="435425" y="350675"/>
            <a:ext cx="21111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zh-TW" sz="3600"/>
              <a:t>提案</a:t>
            </a:r>
            <a:r>
              <a:rPr b="1" lang="zh-TW" sz="3600"/>
              <a:t>摘要</a:t>
            </a:r>
            <a:endParaRPr sz="3600"/>
          </a:p>
        </p:txBody>
      </p:sp>
      <p:graphicFrame>
        <p:nvGraphicFramePr>
          <p:cNvPr id="92" name="Google Shape;92;g3e7e10331f4_0_0"/>
          <p:cNvGraphicFramePr/>
          <p:nvPr/>
        </p:nvGraphicFramePr>
        <p:xfrm>
          <a:off x="435425" y="1248788"/>
          <a:ext cx="3000000" cy="4645151"/>
        </p:xfrm>
        <a:graphic>
          <a:graphicData uri="http://schemas.openxmlformats.org/drawingml/2006/table">
            <a:tbl>
              <a:tblPr>
                <a:noFill/>
                <a:tableStyleId>{F131772B-9D1A-420D-A6D2-8A18A351E451}</a:tableStyleId>
              </a:tblPr>
              <a:tblGrid>
                <a:gridCol w="2190325"/>
                <a:gridCol w="9036475"/>
              </a:tblGrid>
              <a:tr h="36576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團隊名稱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【待補：團隊名稱】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產品/服務名稱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【待補：產品名稱】</a:t>
                      </a: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（暫用「Lexus 車主流失預警與智慧關懷」）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企業挑戰題目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題 3　AI 流失風險洞察與智慧溝通：打造 Lexus 車主忠誠度的終極防線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目標對象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 售後服務部門決策者與服務廠客戶關係人員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53312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解決方案設計重點</a:t>
                      </a:r>
                      <a:endParaRPr sz="1800"/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(至多3項)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1. 從公開輿情 21,183 句售後語料自動標註流失意圖與九大面向，找出 4 種流失 Persona。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2. 本機自訓 System-One 決策模型即時給出流失機率與可解釋規則，作者層級高／中／低分級。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3. Persona × 接觸點的 RAG 關懷內容生成，價格與保固只引用官方知識庫並經人工審核。</a:t>
                      </a: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運用到的AI技術、</a:t>
                      </a:r>
                      <a:endParaRPr sz="1800"/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服務或模型等資源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Claude Haiku／Sonnet 兩段式標註、GPT-5.6 Sol 複核、Qwen3-4B QLoRA 自訓 prefill-only 決策模型（LLM2Jev 架構，本機 8 GB 顯卡）、K-means 分群、RAG（官方保修知識庫）、統計檢定（χ²、勝算比、Wilson CI）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預期效益簡述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【待補：KPI 目標值】</a:t>
                      </a: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（框架：高風險車主關懷觸達率、過保後回廠率、留存率；每句判斷 0.7 秒、零 API 費）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 提案概述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來源：reports/T7_stats_tests.md、reports/T3_residual_split_report.md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每 6 位在論壇談 Lexus 售後的車主，就有 1 位已在找出口，而且大多沒有抱怨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6187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40817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18.2%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Mobile01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作者流失率最高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5008" y="126187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4736" y="140817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14.1%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PTT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介於兩者之間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9392" y="126187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9120" y="140817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6.8%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Dcard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作者流失率最低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3136391"/>
            <a:ext cx="11356848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作者層級 χ²=99.5，p&lt;.001（Cramér's V=0.125）。母體是論壇發言者，不是全體車主。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靜默出走：1,671 句流失裡，186 句沒有痛點訊號，只是在找出口。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方案：提早辨識、分成 Persona、在對的接觸點說對的話。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來源：reports/T7_stats_tests.md；圖 F2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售後現在是人走了才知道，公開輿情可以把時間往前拉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07492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97280"/>
            <a:ext cx="4782312" cy="12070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As-Is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只靠客訴與回廠紀錄，人流失之後才知道。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560320"/>
            <a:ext cx="507492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70048"/>
            <a:ext cx="4782312" cy="12070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To-Be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公開輿情加上 CRM 訊號，在離開之前先辨識。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4114800"/>
            <a:ext cx="507492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使用者是售後決策者，以及服務廠的客戶關係人員。誤差線是 Wilson 95% CI。</a:t>
            </a:r>
          </a:p>
        </p:txBody>
      </p:sp>
      <p:pic>
        <p:nvPicPr>
          <p:cNvPr id="11" name="Picture 10" descr="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8424" y="987552"/>
            <a:ext cx="6080760" cy="28503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來源：reports/T7_stats_tests.md；圖 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等料和價格才把人送走；態度抱怨很多，人卻很少真的離開</a:t>
            </a:r>
          </a:p>
        </p:txBody>
      </p:sp>
      <p:pic>
        <p:nvPicPr>
          <p:cNvPr id="6" name="Picture 5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987552"/>
            <a:ext cx="8412480" cy="394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4949190"/>
            <a:ext cx="11356848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零件供應 17.3%（勝算比 2.58）、價格 15.0%（勝算比 2.64），是流失率最高的兩面向。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銷售交車 1.4%（勝算比 0.15）最低。分母是全部 21,183 句。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態度負面 61%，流失卻只有 4.7%：抱怨多，不等於人會走。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來源：reports/T10_risk_persona_report.md（F3）、專案架構 §0.1、reports/T11_kb_prices_report.md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人主要去一般外廠；過保之後，口述價差把人推出去</a:t>
            </a:r>
          </a:p>
        </p:txBody>
      </p:sp>
      <p:pic>
        <p:nvPicPr>
          <p:cNvPr id="6" name="Picture 5" descr="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987552"/>
            <a:ext cx="8412480" cy="394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4949190"/>
            <a:ext cx="11356848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一般外廠 736、自備料 234、DIY 135。一句可以多選，母體是 1,671 句流失。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標得到保固狀態的流失句：過保 62，保固內 17。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口述中位，不是定價：定保原廠 9,000 對外廠 3,500；機油 5,000 對 1,950。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來源：題目選擇分析 §6.5、reports/T7_data_quality.md、reports/T7_deid_report.md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三站售後語料已經齊，品質門檻過了，句子也去過識別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5532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651760"/>
              </a:tblGrid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項目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數量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三站文章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5,765 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留言／樓層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225,157（22.5 萬）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切句去重後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235,775（23.6 萬）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售後句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21,183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流失句 c≥2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1,671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27064" y="987552"/>
          <a:ext cx="5550408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87168"/>
              </a:tblGrid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指標（售後句）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結果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關鍵欄缺失率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重複率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0.00%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一致性率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異常值率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7.77%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完整性率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20624" y="4005072"/>
            <a:ext cx="11356848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去識別：文本遮蔽 517 次。抽查 50 句（seed 42）漏網 0。簡報例句只用去識別版，不出現論壇帳號。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4846320"/>
            <a:ext cx="11356848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異常值是字數超過 Q3+1.5×IQR 的句子，門檻 78 字，占 7.77%。上游已先去掉 15,182 句重複。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來源：專案架構_2026-09-23.md §2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從蒐集到接觸點都在本機：判斷不用上雲，資料也不出門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133856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L0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蒐集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三站公開論壇已爬完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987552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1568" y="1133856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前處理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合併、切句、去重，留下售後句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3056" y="987552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133856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標註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流失、九面向、替代與車主特徵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34272" y="987552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133856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L3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決策模型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本機 QLoRA，只輸出各等級機率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" y="308152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227832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L4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風險辨識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八條規則乘上 r4 的流失機率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308152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01568" y="3227832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Persona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規則指派四種流失樣貌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308152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3227832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L6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RAG 生成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價格與保固只引用官方知識庫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34272" y="308152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3227832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L7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接觸點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審核後投遞，並把 KPI 寫回去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 §6（例句為去識別版）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四種流失樣貌裡，最多的是過保之後還在算價格的人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過保精算派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511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39.9%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價格句 48%，走向一般外廠與自備料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「去外面換就好，原廠換很貴，外面四顆全換12000有找」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品質失望派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247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19.3%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技術品質 43%，替代裡看得到換車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「原廠處理不好就去外場」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3056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4496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口碑建議者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195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15.2%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立場「建議他人」占 61%，會把別人帶走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「電瓶、輪胎都不用在原廠換」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34272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25712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128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10.0%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沒有抱怨；替代有 55% 是一般外廠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「可以去外面民間保養廠」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3849624"/>
            <a:ext cx="11356848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規則指派，分母是高／中風險 1,280 人。另有未分類 199 人（15.5%）。分群只獨立支持靜默出走者（78% 在同一群）。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 §2；圖 F4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高風險作者七成四真的有流失句，低風險只有百分之一點八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987552"/>
            <a:ext cx="580644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分數＝作者 p_churn 最大值 × 0.6 ＋（命中規則數／8）× 0.4。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 1,049／中 231／低 5,114。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高風險作者 74% 有流失句，低風險 1.8%。</a:t>
            </a:r>
          </a:p>
        </p:txBody>
      </p:sp>
      <p:pic>
        <p:nvPicPr>
          <p:cNvPr id="7" name="Picture 6" descr="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987552"/>
            <a:ext cx="5349240" cy="2507456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0624" y="3593592"/>
          <a:ext cx="11356848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194560"/>
                <a:gridCol w="7973568"/>
              </a:tblGrid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規則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輿情訊號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CRM 欄位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過保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【待補：B 的 PB-08】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價格負面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【待補：B 的 PB-08】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R3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找出口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【待補：B 的 PB-08】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自理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【待補：B 的 PB-08】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R5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零件等料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【待補：B 的 PB-08】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R6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品質失望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【待補：B 的 PB-08】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R7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已離開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【待補：B 的 PB-08】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R8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帶人走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【待補：B 的 PB-08】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AI 應用方法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來源：專案架構 §2、reports/T1_dcard_verify_report.md、T2、T3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先寬鬆抓住，再帶上下文複核；九個面向已經全量標完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  Haiku 初篩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單獨召回約 57%，先把可能流失的句子留住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5008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3024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  帶上下文複核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Mobile01、PTT 用 Sonnet；Dcard 5,355 句用 GPT-5.6 Sol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9392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7408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  對得起來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重疊 3,760 句，c≥2 一致率 98.4%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2724912"/>
            <a:ext cx="11356848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同時標九個面向、替代選項，和車主特徵（車型、是否過保）。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流失原因裡標成「其他」的 396 句再細分；真正沒有原因的殘餘剩 4 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" y="3639312"/>
            <a:ext cx="11356848" cy="777240"/>
          </a:xfrm>
          <a:prstGeom prst="roundRect">
            <a:avLst>
              <a:gd name="adj" fmla="val 8000"/>
            </a:avLst>
          </a:prstGeom>
          <a:solidFill>
            <a:srgbClr val="FDE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749039"/>
            <a:ext cx="1106424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【待補：人工標註 300 句 A/B κ 與三模型對人工指標（9/29）】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AI 應用方法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來源：reports/T8_r4_report.md；圖 F6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本機 4B 比雲端 Haiku 更會把流失句找回來，而且不生成文字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1261872"/>
          <a:ext cx="56235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914400"/>
                <a:gridCol w="914400"/>
                <a:gridCol w="914400"/>
                <a:gridCol w="914400"/>
              </a:tblGrid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/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P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R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F1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κ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Haiku 零樣本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0.60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0.55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0.58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0.53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　4B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0.77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0.685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0.64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20624" y="2615184"/>
            <a:ext cx="562356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同一 600 句測試集。r4 原值 P 0.617、R 0.769、κ 0.642（T8 ep2）。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" y="3090672"/>
            <a:ext cx="5623560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Prefill-only：只輸出各等級機率，不生成文字。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8 GB 顯卡可訓（約 5 小時）、可推（每句 0.7 秒）。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資料不出門，推論零 API 費。</a:t>
            </a:r>
          </a:p>
        </p:txBody>
      </p:sp>
      <p:pic>
        <p:nvPicPr>
          <p:cNvPr id="9" name="Picture 8" descr="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1261872"/>
            <a:ext cx="54864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5 獨特優勢與差異化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來源：reports/T10_risk_persona_report.md、reports/T8_r4_report.md、專案架構 §2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靜默出走別隊看不到；分數說得出是哪條規則，也能回到原句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188720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靜默出走者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別隊若只看客訴，看不到這群沒抱怨就離開的人。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987552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6792" y="1188720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機率可解釋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輸出各等級機率，並標出命中的規則，不是一顆黑箱分數。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3008376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3209544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本機就能跑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CRM 資料不能出門。8 GB 顯卡可訓可推，零 API 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08376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3209544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數字回得去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每個比率有檢定或區間，也能回到去識別原句。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來源：專案架構 §2 L6–L7、knowledge/lexus_aftersales_kb.md（40 條）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先對上是誰、在什麼時候開口；話術範例還等 Sprint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1261872"/>
          <a:ext cx="1135684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3127248"/>
                <a:gridCol w="3127248"/>
                <a:gridCol w="3136392"/>
              </a:tblGrid>
              <a:tr h="46634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Persona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保固到期前 60 天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回廠間隔拉長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刪項後首次回廠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6634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過保精算派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46634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品質失望派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46634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口碑建議者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46634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靜默出走者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【待補：Sprint 3 生成範例】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20624" y="3730752"/>
            <a:ext cx="11356848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觸發 → 判 Persona → 生成 → 人工審核 → 投遞 → KPI 回饋。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知識庫已備 40 條。價格與保固只引用有 URL 的條目，不能拿口述中位數當官方定價。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來源：iPAS導入對照_2026-09-25.md §2.1–2.2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技術與語料已在手上；要守的是代表性、個資，和生成亂編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需求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只靠客訴與回廠才知道流失，改成輿情加 CRM 提前辨識。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066543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39696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技術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監督分類、分群、RAG 都有原型。CRM 欄位對照仍空著。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3145536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18688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財務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推論零 API 費，本機 8 GB 可跑。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【待補：成本與回收期】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" y="4224528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297680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風險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代表性、雙模型、個資、生成幻覺。對策在右表。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52744" y="987552"/>
          <a:ext cx="5824727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3675887"/>
              </a:tblGrid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風險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對策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兩個複核模型並存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揭露。重疊 3,760 句，c≥2 一致率 98.4%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論壇代表性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母體是論壇發言者，不是全體車主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個資與再識別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遮蔽 517 次；抽查 50 句漏網 0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生成幻覺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價格與保固只引用知識庫，並人工審核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來源：iPAS導入對照_2026-09-25.md §2.4；現況數字見 T8、T10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延遲和判準已有現況；業務目標與導入週數都還沒填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11356848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943600"/>
                <a:gridCol w="3950208"/>
              </a:tblGrid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層級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現況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目標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系統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每句 0.7 秒。可用率 </a:t>
                      </a: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【待補：可用率現況】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【待補：目標值】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應用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F1 0.685、κ 0.64；校準見 P10 的 F6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【待補：目標值】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業務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【待補：業務現況】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【待補：目標值】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20624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問題定義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3939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7091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資料準備與標註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7254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80406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模型訓練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3721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4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驗證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93884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67036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部署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7 補充資料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來源：本 repo reports/T1–T11；GitHub 私有庫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報告、模型紀錄與程式都在；畫面截圖留到決賽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11356848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97280"/>
            <a:ext cx="11064240" cy="10241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GitHub（private，評審需要時開）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https://github.com/xxx789666/hotai-ai-hackathon-lexus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377440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2432304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T1　Dcard 複核（c≥2 一致率 98.4%）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2377440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432304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T2　「其他」396 句細分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" y="2907792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62656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T3　靜默出走 186 句；殘餘 4 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2907792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962656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T4　LLM2Jev 試點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" y="3438144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493008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T5–T6　QLoRA 診斷（未採用）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438144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493008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T7　品質、去識別、統計檢定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" y="3968496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4023359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T8　r4 決策模型（F1 0.685）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3912" y="3968496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4023359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T10　風險分級與四個 Persona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" y="4498848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553712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T11　口述價格（非官方定價）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498848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4553712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T9　人工評估尚未產出（見 P9）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624" y="5148072"/>
            <a:ext cx="11356848" cy="658368"/>
          </a:xfrm>
          <a:prstGeom prst="roundRect">
            <a:avLst>
              <a:gd name="adj" fmla="val 8000"/>
            </a:avLst>
          </a:prstGeom>
          <a:solidFill>
            <a:srgbClr val="FDE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248656"/>
            <a:ext cx="110642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【待補：Prototype 畫面截圖（決賽）】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" y="5852160"/>
            <a:ext cx="113568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Model Card 與匿名化紀錄放附錄（T8、T7 去識別報告），不計入 15 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2022-06-08T04:50:33Z</dcterms:created>
  <dc:creator>Ariel wang</dc:creator>
</cp:coreProperties>
</file>