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題三初賽：公開輿情裡，每六位售後發言就有一位在找出口。</a:t>
            </a:r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摘要給評審三層目標：回廠率假設加十點，核准八成，模型每季重驗。</a:t>
            </a:r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大綱列出七個章節與頁碼，並標示兩大產出各落在哪幾頁。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提案分成兩份產出：一份輿情洞察，一份對準四種客群的溝通。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售後人走了才知道，三個前兆是過保、刪項、間隔拉長。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零件勝算比二點五八、價格二點六四，分母兩萬一千句。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出口在一般外廠；定保口述中位原廠九千、外廠三千五，不是公告價。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超過78字只標記不刪，仍全部進標註；重複句已上游刪除。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八層對到雙迴路：上面是產出一，下面是產出二，審核後才投遞。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分群只獨立支持靜默出走者；其餘 Persona（客群輪廓）用規則定義。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高風險七成四真有流失句；過保精算派人最多，平均風險也最高。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人工兩人 κ 0.40，不一致處要經仲裁後才成為金標。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r4 原值 P 0.617、R 0.769、κ 0.642。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別人看不到不抱怨就走的人；我們給規則和機率，每句都能回原句。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四種人配三種進廠時機，十二則已過查核，投遞前仍要人工審。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人工篩選工時省九成以上（估），五項風險都已有對策。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每季三百句金標、兩人共五小時，審核回饋持續再訓練。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左邊是兩個迴路；右邊審核佇列是線框，決賽再給可操作版。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附錄術語表：每個名詞一句定義、一句本案用法，評審追問時翻這頁。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附錄前兩張圖：三站發言者流失率，以及高中低風險分布。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附錄後兩張圖：校準曲線五個信心桶，以及季趨勢預警。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附錄待料通知兩則：進度不承諾到貨日，代步車只照知識庫條件。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CRM 八條規則的門檻列在本頁，投影片只留欄位名稱。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客訴結案七天回訪兩則：電話先道歉，LINE 不要求刪評。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zh-TW" sz="4400" b="1"/>
              <a:t>Lexus車主流失預警與 AI 溝通系統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2252640" y="4614411"/>
            <a:ext cx="76866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2026 和泰 AI 黑客松｜AI 流失風險洞察與智慧溝通：打造Lexus車主忠誠度的終極防線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sz="1800"/>
              <a:t>團隊：回廠率研究所</a:t>
            </a:r>
          </a:p>
          <a:p>
            <a:r>
              <a:rPr sz="1800"/>
              <a:t>初賽提案簡報（v2，2026-10）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※ 本頁</a:t>
            </a:r>
            <a:r>
              <a:rPr b="1" lang="zh-TW">
                <a:solidFill>
                  <a:schemeClr val="dk1"/>
                </a:solidFill>
              </a:rPr>
              <a:t>不計入提案簡報 15 頁限制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b="1" lang="zh-TW">
                <a:solidFill>
                  <a:schemeClr val="dk1"/>
                </a:solidFill>
              </a:rPr>
              <a:t>所有欄位皆為必填</a:t>
            </a:r>
            <a:r>
              <a:rPr lang="zh-TW">
                <a:solidFill>
                  <a:schemeClr val="dk1"/>
                </a:solidFill>
              </a:rPr>
              <a:t>。表格樣式可自行美化，但</a:t>
            </a:r>
            <a:r>
              <a:rPr b="1" lang="zh-TW">
                <a:solidFill>
                  <a:schemeClr val="dk1"/>
                </a:solidFill>
              </a:rPr>
              <a:t>欄位名稱與順序請保持一致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 sz="3600"/>
              <a:t>提案</a:t>
            </a:r>
            <a:r>
              <a:rPr b="1" lang="zh-TW" sz="3600"/>
              <a:t>摘要</a:t>
            </a:r>
            <a:endParaRPr sz="3600"/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4919472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36576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團隊名稱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回廠率研究所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產品/服務名稱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Lexus車主流失預警與 AI 溝通系統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企業挑戰題目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AI 流失風險洞察與智慧溝通：打造Lexus車主忠誠度的終極防線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目標對象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 售後服務部門決策者與服務廠客戶關係人員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解決方案設計重點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(至多3項)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1. 從公開輿情 21,183 句售後語料自動標註流失意圖與九大面向，找出 4 種流失 Persona（客群輪廓）。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2. 本機自訓 System-One 決策模型即時給出流失機率與可解釋規則，發言者層級高／中／低分級。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3. Persona（客群輪廓） × 接觸點的 RAG 關懷內容生成，價格與保固只引用官方知識庫並經人工審核。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運用到的AI技術、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服務或模型等資源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Claude Haiku／Sonnet 兩段式標註、GPT-5.6 Sol 複核、Qwen3-4B QLoRA 自訓 prefill-only 決策模型（LLM2Jev 架構，本機 8 GB 顯卡）、K-means 分群、RAG（官方保修知識庫）、統計檢定（χ²、勝算比、Wilson CI）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預期效益簡述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成果：高風險車主 12 個月回廠率提升 10 個百分點（假設值，導入後以基期實測校正）。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流程：高風險名單每月更新、話術人工核准率 ≥ 80%。高風險名單人工篩選工時 −90% 以上（估）。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模型：隨機層 F1 ≥ 0.8、κ ≥ 0.6，每季 300 句人工金標重驗。每句 0.7 秒、零 API 費。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大綱（不計入內容頁，同提案摘要）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來源：本簡報章節；兩大產出依企業挑戰題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七個章節、兩大產出，對照頁碼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06070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  提案概述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4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21,183 句；186 句沒抱怨就走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7268" y="98755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78708" y="106070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  目標對象與痛點分析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5–8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 17.3%；一般外廠 736 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98755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5352" y="106070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  解決方案設計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9–11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1＋2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雙迴路、511 人、高風險 74%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20556" y="98755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11996" y="106070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  AI 應用方法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12–13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兩段式 98.4%；r4 F1 0.685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" y="254203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61518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  獨特優勢與差異化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14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支撐兩份產出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128 位靜默出走者看得到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87268" y="254203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78708" y="261518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  預期效益與落地評估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15–17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則主表＋4 則附錄已查核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3912" y="254203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261518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  補充資料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18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人工核准後才投遞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20556" y="254203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11996" y="261518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附  附錄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19–24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不計入內容頁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術語、圖表、話術與門檻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" y="4133088"/>
            <a:ext cx="5623560" cy="2285999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224528"/>
            <a:ext cx="5367528" cy="213969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網路輿情洞察系統架構與報告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客群 Persona、高風險議題、市場輿情、AI 技術／模型。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落在第 4–13 頁。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21,183 句、四種流失 Persona、r4 F1 0.685。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 1,049 人，74% 真有流失句。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4133088"/>
            <a:ext cx="5623560" cy="2285999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1928" y="4224528"/>
            <a:ext cx="5367528" cy="213969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針對目標 Persona（客群輪廓）的 AI 溝通計畫與系統流程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核心溝通策略、AI 生成內容、接觸點、運作流程圖。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落在第 9、15–18、22–24 頁。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則主表＋4 則附錄已查核。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待料 A3、門檻 A4、客訴 A5。人工核准才發。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 提案概述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來源：企業挑戰題、統計檢定報告（T7）、殘餘切分報告（T3）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提案是兩份產出：輿情洞察，以及對準客群的溝通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111556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24128"/>
            <a:ext cx="11064240" cy="10424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為什麼要做</a:t>
            </a: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　論壇發言者流失率</a:t>
            </a:r>
            <a:r>
              <a:rPr sz="15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　　χ²=99.5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Mobile01  18.2%</a:t>
            </a: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　　PTT  14.1%</a:t>
            </a: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　　Dcard  6.8%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1,671 句流失中，186 句沒抱怨就找出口。母體是論壇發言者，不是全體車主。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194560"/>
            <a:ext cx="5623560" cy="422452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2249424"/>
            <a:ext cx="5422392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網路輿情洞察系統架構與報告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852928"/>
            <a:ext cx="5422392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  客群 Persona（客群輪廓）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四種流失樣貌；過保精算派 511 人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10 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3730752"/>
            <a:ext cx="5422392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 高風險議題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 17.3%、價格 15.0%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6 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4608575"/>
            <a:ext cx="5422392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 整體市場輿情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售後語料 21,183 句；186 句沒抱怨就走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8 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5486399"/>
            <a:ext cx="5422392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 AI 技術／模型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r4 本機模型 F1 0.685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13、9 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2194560"/>
            <a:ext cx="5623560" cy="422452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249424"/>
            <a:ext cx="5422392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針對目標 Persona（客群輪廓）的 AI 溝通計畫與系統流程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852928"/>
            <a:ext cx="5422392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  核心溝通策略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對的人、對的時機開口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15 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730752"/>
            <a:ext cx="5422392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 AI 生成內容範例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則主表已對 76 條條款查核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附錄 A3、A5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608575"/>
            <a:ext cx="5422392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 精準接觸點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保固前 60 天、間隔拉長、刪項後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15 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5486399"/>
            <a:ext cx="5422392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 運作流程圖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洞察與溝通雙迴路，人工核准才發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9、18 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來源：統計檢定報告（T7）；Dcard 偏購車階段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售後是人走了才知道；輿情能提前預警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212080" cy="186537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97280"/>
            <a:ext cx="4919472" cy="168249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As-Is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只靠客訴與回廠紀錄，人流失之後才知道。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1,671 句流失裡，186 句沒抱怨就找出口。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使用者是售後決策者與服務廠客戶關係人員。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962656"/>
            <a:ext cx="5212080" cy="186537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072383"/>
            <a:ext cx="4919472" cy="168249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To-Be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公開輿情加上 CRM 訊號，在離開之前先辨識。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過保前 60 天、刪項後、間隔拉長，先找到人。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79008" y="987552"/>
            <a:ext cx="5998464" cy="121919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07024" y="1060704"/>
            <a:ext cx="5760720" cy="110947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過保 62 句、保固內 17 句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保固到期前先找到人。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79008" y="2298192"/>
            <a:ext cx="5998464" cy="121919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07024" y="2371344"/>
            <a:ext cx="5760720" cy="110947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刪項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連續 2 次拒項就列管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未同意的項目，回廠時再問。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79008" y="3608831"/>
            <a:ext cx="5998464" cy="121919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07024" y="3681983"/>
            <a:ext cx="5760720" cy="110947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回廠間隔拉長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逾期超過建議週期 1.5 倍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間隔超過建議週期就提醒。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4937759"/>
            <a:ext cx="11356848" cy="14813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0352" y="5266944"/>
            <a:ext cx="2022652" cy="1042416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321807"/>
            <a:ext cx="1949500" cy="9692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前兆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571292" y="5687568"/>
            <a:ext cx="219456" cy="201168"/>
          </a:xfrm>
          <a:prstGeom prst="right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809036" y="5266944"/>
            <a:ext cx="2022652" cy="1042416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45612" y="5321807"/>
            <a:ext cx="1949500" cy="9692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刪項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前兆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849977" y="5687568"/>
            <a:ext cx="219456" cy="201168"/>
          </a:xfrm>
          <a:prstGeom prst="right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87721" y="5266944"/>
            <a:ext cx="2022652" cy="1042416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4297" y="5321807"/>
            <a:ext cx="1949500" cy="9692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間隔拉長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前兆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128662" y="5687568"/>
            <a:ext cx="219456" cy="201168"/>
          </a:xfrm>
          <a:prstGeom prst="right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66406" y="5266944"/>
            <a:ext cx="2022652" cy="1042416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2982" y="5321807"/>
            <a:ext cx="1949500" cy="9692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離開原廠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人走了才知道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407347" y="5687568"/>
            <a:ext cx="219456" cy="201168"/>
          </a:xfrm>
          <a:prstGeom prst="right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45091" y="5266944"/>
            <a:ext cx="2022652" cy="1042416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81667" y="5321807"/>
            <a:ext cx="1949500" cy="9692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一般外廠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736 句，可複選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來源：統計檢定報告（T7）；圖 F1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等料和價格送走人；態度抱怨多，卻少有人走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70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024128"/>
            <a:ext cx="2642615" cy="7863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17.3%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零件供應最高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2696" y="987552"/>
            <a:ext cx="2770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5848" y="1024128"/>
            <a:ext cx="2642615" cy="7863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15.0%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價格次高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987552"/>
            <a:ext cx="2770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024128"/>
            <a:ext cx="2642615" cy="7863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1.4%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銷售交車最低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987552"/>
            <a:ext cx="2770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9992" y="1024128"/>
            <a:ext cx="2642615" cy="7863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61%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態度負面；流失 4.7%</a:t>
            </a:r>
          </a:p>
        </p:txBody>
      </p:sp>
      <p:pic>
        <p:nvPicPr>
          <p:cNvPr id="14" name="Picture 13" descr="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901952"/>
            <a:ext cx="11356848" cy="384667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20624" y="5803490"/>
            <a:ext cx="11356848" cy="615597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840066"/>
            <a:ext cx="11137392" cy="56073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對應接觸點：待料通知（R5），話術見附錄 A3。零件勝算比 2.58、價格 2.64，分母 21,183 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Persona（客群輪廓）報告（T10）、專案架構、知識庫價格摘錄（T11）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出口是一般外廠；過保後價差把人推走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70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024128"/>
            <a:ext cx="2679191" cy="7863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736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一般外廠（句）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2696" y="987552"/>
            <a:ext cx="2770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024128"/>
            <a:ext cx="2679191" cy="7863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234／135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自備料／DIY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987552"/>
            <a:ext cx="2770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9631" y="1024128"/>
            <a:ext cx="2679191" cy="7863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62／17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過保／保固內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987552"/>
            <a:ext cx="2770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61704" y="1024128"/>
            <a:ext cx="2679191" cy="7863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9,000／3,500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定保口述價</a:t>
            </a:r>
          </a:p>
        </p:txBody>
      </p:sp>
      <p:pic>
        <p:nvPicPr>
          <p:cNvPr id="14" name="Picture 13" descr="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901952"/>
            <a:ext cx="11356848" cy="384667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20624" y="5803490"/>
            <a:ext cx="11356848" cy="615597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840066"/>
            <a:ext cx="11137392" cy="56073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去向可複選，母體 1,671 句流失。定保價是論壇口述中位數，原廠 9,000、外廠 3,500，不是公告價。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來源：題目選擇分析、資料品質報告（T7）、去識別報告（T7）；圖 F9_pipeline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2.1 萬句售後語料，品質過關、全數去識別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5532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651760"/>
              </a:tblGrid>
              <a:tr h="3352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項目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數量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3352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三站文章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5,765 篇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352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留言／樓層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225,157（22.5 萬）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352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切句去重後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235,775（23.6 萬）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352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售後句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21,183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352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c≥2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1,671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27064" y="987552"/>
          <a:ext cx="555040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2487168"/>
              </a:tblGrid>
              <a:tr h="3352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指標（售後句）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結果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3352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關鍵欄缺失率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352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重複率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352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一致性率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352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異常值率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7.77%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352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完整性率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20624" y="3090672"/>
            <a:ext cx="11356848" cy="10515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3127248"/>
            <a:ext cx="11137392" cy="9692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去識別：文本遮蔽 517 次，抽查 50 句（seed 42）漏網 0。超過 78 字（Q3+1.5×IQR）占 7.77%，品質檢查只標記、不刪除，21,183 句仍全部進入標註。切句時另把超過 200 字的段落依逗號切開。22.5 萬則留言切句後為 23.6 萬句（切句使句數增加）。</a:t>
            </a:r>
          </a:p>
        </p:txBody>
      </p:sp>
      <p:pic>
        <p:nvPicPr>
          <p:cNvPr id="10" name="Picture 9" descr="F9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4224528"/>
            <a:ext cx="10515599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來源：L7 運作流程、專案架構；圖 F8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洞察每日產出；關懷由事件觸發、人工核准才發</a:t>
            </a:r>
          </a:p>
        </p:txBody>
      </p:sp>
      <p:pic>
        <p:nvPicPr>
          <p:cNvPr id="6" name="Picture 5" descr="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377" y="987552"/>
            <a:ext cx="11065341" cy="3703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0624" y="4745736"/>
            <a:ext cx="1355598" cy="960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818888"/>
            <a:ext cx="1300734" cy="8503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三站已爬完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蒐集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49374" y="4745736"/>
            <a:ext cx="1355598" cy="960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85950" y="4818888"/>
            <a:ext cx="1300734" cy="8503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切句去重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前處理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8124" y="4745736"/>
            <a:ext cx="1355598" cy="960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4700" y="4818888"/>
            <a:ext cx="1300734" cy="8503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標註入庫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標註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6874" y="4745736"/>
            <a:ext cx="1355598" cy="960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43450" y="4818888"/>
            <a:ext cx="1300734" cy="8503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只出機率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決策模型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35624" y="4745736"/>
            <a:ext cx="1355598" cy="960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4818888"/>
            <a:ext cx="1300734" cy="8503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L4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規則辨識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風險辨識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64374" y="4745736"/>
            <a:ext cx="1355598" cy="960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950" y="4818888"/>
            <a:ext cx="1300734" cy="8503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四種客群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客群輪廓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93124" y="4745736"/>
            <a:ext cx="1355598" cy="960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29700" y="4818888"/>
            <a:ext cx="1300734" cy="8503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L6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引用知識庫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RAG 生成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21874" y="4745736"/>
            <a:ext cx="1355598" cy="960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58450" y="4818888"/>
            <a:ext cx="1300734" cy="8503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L7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核准才投遞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接觸點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" y="5760719"/>
            <a:ext cx="11356848" cy="65836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5797295"/>
            <a:ext cx="11155680" cy="6035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先讀上帶產出 1（左到右），再讀下帶產出 2。外緣 L# 對下面八格。KPI 回頭校正門檻，再訓練 r4。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Persona（客群輪廓）報告（T10）；圖 F5。未分類處置見 9/30 會議記錄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四種流失車主，過保精算派最多（511 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024128"/>
            <a:ext cx="2660903" cy="15179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511 人　39.9%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價格句 48%，走向一般外廠與自備料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「去外面換就好，原廠換很貴，外面四顆全換12000有找」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2696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5848" y="1024128"/>
            <a:ext cx="2660903" cy="15179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247 人　19.3%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 43%，替代裡看得到換車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「原廠處理不好就去外場」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024128"/>
            <a:ext cx="2660903" cy="15179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195 人　15.2%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立場「建議他人」占 61%，會把別人帶走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「電瓶、輪胎都不用在原廠換」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9992" y="1024128"/>
            <a:ext cx="2660903" cy="15179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　10.0%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沒有抱怨；替代有 55% 是一般外廠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「可以去外面民間保養廠」</a:t>
            </a:r>
          </a:p>
        </p:txBody>
      </p:sp>
      <p:pic>
        <p:nvPicPr>
          <p:cNvPr id="14" name="Picture 13" descr="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633472"/>
            <a:ext cx="11356848" cy="3205561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20624" y="5893897"/>
            <a:ext cx="11356848" cy="52519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930473"/>
            <a:ext cx="11155680" cy="48861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分母：高、中風險 1,280 人。未分類 199 人列觀察名單，不投遞。Persona 為規則定義，每項可回溯原句。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Persona（客群輪廓）報告（T10）；圖 F7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高風險車主 74% 確有流失句，分級可信</a:t>
            </a:r>
          </a:p>
        </p:txBody>
      </p:sp>
      <p:pic>
        <p:nvPicPr>
          <p:cNvPr id="6" name="Picture 5" descr="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456" y="987552"/>
            <a:ext cx="9747183" cy="2240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0624" y="3282696"/>
            <a:ext cx="11356848" cy="43891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3319272"/>
            <a:ext cx="11155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 1,049／中 231／低 5,114。高風險 74% 有流失句，低風險 1.8%。過保精算派 511 人，平均風險 0.73。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20624" y="3776472"/>
          <a:ext cx="11356848" cy="22585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194560"/>
                <a:gridCol w="7973568"/>
              </a:tblGrid>
              <a:tr h="25095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輿情訊號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CRM 欄位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25095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R1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25095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價格負面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25095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R3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找出口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25095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自理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25095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R5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零件等料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25095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R6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25095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R7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已離開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25095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R8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帶人走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20624" y="6053327"/>
            <a:ext cx="11356848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CRM 欄位為業界通用假設，導入時以和泰 DMS 實際欄位替換；模型輸入由論壇文字改為工單備註與客訴文字，架構不變。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來源：專案架構、Dcard 複核報告（T1）、其他精煉報告（T2）、殘餘切分報告（T3）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兩段式標註：先寬抓、再複核，一致率 98.4%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3700272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60704"/>
            <a:ext cx="3499104" cy="176479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57%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Haiku 初篩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單獨召回約 57%。先把可能流失的句子留住。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48912" y="987552"/>
            <a:ext cx="3700272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58640" y="1060704"/>
            <a:ext cx="3499104" cy="176479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3,760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帶上下文複核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重疊 3,760 句。Mobile01、PTT 用 Sonnet，Dcard 用 GPT。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77200" y="987552"/>
            <a:ext cx="3700272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6928" y="1060704"/>
            <a:ext cx="3499104" cy="176479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98.4%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對得起來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c≥2 一致率 98.4%。九面向標完，殘餘僅 4 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2953512"/>
            <a:ext cx="5614416" cy="1874519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044952"/>
            <a:ext cx="5358383" cy="17282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F1  0.82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本機模型，與 Sonnet 同級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人工金標 300 句。限制：正例僅 9 句，召回區間 0.45–0.94。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2953512"/>
            <a:ext cx="5614416" cy="1874519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3044952"/>
            <a:ext cx="5358383" cy="17282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C05600"/>
                </a:solidFill>
                <a:latin typeface="Arial"/>
                <a:ea typeface="微軟正黑體"/>
                <a:cs typeface="Arial"/>
              </a:rPr>
              <a:t>F1  0.50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Haiku 零樣本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同一批人工金標。所以才要兩段式，不能只靠初篩。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4901183"/>
            <a:ext cx="11356848" cy="151790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956047"/>
            <a:ext cx="11119104" cy="1444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限制要一起看：正例僅 9 句，召回區間 0.45–0.94，0.82 不是穩定成績。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九面向全量標完，殘餘僅 4 句。Haiku 單獨召回約 57%，所以第二段才複核。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來源：本機模型報告（T8）；校準曲線見附錄 A2b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本機小模型勝過雲端 Haiku，零 API 費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56235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914400"/>
                <a:gridCol w="914400"/>
                <a:gridCol w="914400"/>
                <a:gridCol w="914400"/>
              </a:tblGrid>
              <a:tr h="4114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R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F1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κ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零樣本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0.60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0.55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0.58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0.53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　4B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0.77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0.685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0.64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20624" y="2286000"/>
            <a:ext cx="5623560" cy="106070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2340864"/>
            <a:ext cx="56235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同一 600 句測試集比較。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校準曲線見附錄 A2b。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987552"/>
            <a:ext cx="5504688" cy="23317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115568"/>
            <a:ext cx="5212080" cy="208483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Prefill-only：只輸出各等級機率，不生成文字。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 GB 顯卡可訓（約 5 小時）、可推（每句 0.7 秒）。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資料不出門，推論零 API 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3319272"/>
            <a:ext cx="2198217" cy="1481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" y="3392424"/>
            <a:ext cx="2070201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 ETL＋弱監督標註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篩出 21,183 句售後語料。先寬鬆標，再帶上下文複核。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10281" y="3319272"/>
            <a:ext cx="2198217" cy="1481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3433" y="3392424"/>
            <a:ext cx="2070201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 資料切分（防洩漏）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GroupSplit 整篇排除測試 600 句。驗證 1,096 句，訓練池 9,431 句。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99939" y="3319272"/>
            <a:ext cx="2198217" cy="1481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3091" y="3392424"/>
            <a:ext cx="2070201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 任務轉換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流失四級拆成四個是非題。Prefill-only 只取下一詞機率。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89596" y="3319272"/>
            <a:ext cx="2198217" cy="1481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2748" y="3392424"/>
            <a:ext cx="2070201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 監督式微調 SFT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Qwen3-4B 用 QLoRA r=16。過採樣到四成；2 epoch、8 GB、5 小時。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79254" y="3319272"/>
            <a:ext cx="2198217" cy="1481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52406" y="3392424"/>
            <a:ext cx="2070201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 評估與校準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金標 300 句：F1 0.82、κ 0.81。另看 P、R 與五段校準。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" y="4855464"/>
            <a:ext cx="11356848" cy="156362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4892040"/>
            <a:ext cx="11192256" cy="1527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架構沿用開源 LLM2Jev。8 GB 可訓可推，推論零 API 費。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最高信心桶 n=71、實際約 68%（約七成），見附錄 A2b。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 600 句測試集：r4 F1 0.685，高於 Haiku 零樣本的 F1 0.58。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 獨特優勢與差異化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Persona（客群輪廓）報告（T10）、本機模型報告（T8）、專案架構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看得見沒抱怨就走的人，分數說得出原因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623560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6"/>
            <a:ext cx="5385816" cy="13533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</a:t>
            </a: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靜默出走者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規則看替代去向，不靠客訴關鍵字。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這 128 人裡，替代有 55% 是一般外廠。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3912" y="987552"/>
            <a:ext cx="5623560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042416"/>
            <a:ext cx="5385816" cy="13533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74%</a:t>
            </a: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分數說得出原因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風險＝模型機率 ×0.6＋命中規則／8 ×0.4。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 74% 真有流失句，低風險只有 1.8%。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2523744"/>
            <a:ext cx="5623560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78608"/>
            <a:ext cx="5385816" cy="13533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0 元</a:t>
            </a: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本機就能跑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Qwen3-4B，8 GB 約 5 小時，每句 0.7 秒。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測試集 F1 0.685。CRM 文字不上雲。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2523744"/>
            <a:ext cx="5623560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2578608"/>
            <a:ext cx="5385816" cy="13533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0.080</a:t>
            </a: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只有一組被資料分開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k=4 的 ARI 0.08，四個假設沒有全被拆開。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簡報仍用可回溯原句的規則，不假裝分群已分開。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20624" y="4041648"/>
          <a:ext cx="11356848" cy="2377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017520"/>
                <a:gridCol w="6784848"/>
              </a:tblGrid>
              <a:tr h="47548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只看客訴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47548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沒抱怨就走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看不到這群人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靜默出走者 128 人，替代 55% 到一般外廠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47548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分數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沒有原因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機率 6 成＋規則 4 成；高 74%、低 1.8%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47548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在哪裡算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資料得出門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 GB 本機，每句 0.7 秒，F1 0.685，API 費 0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47549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四個客群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主觀標籤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ARI 0.08；只有靜默出走者被資料獨立支持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來源：話術範例、生成與查核報告（T14）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對的人、對的時機開口；12 則話術全數查核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7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1952"/>
                <a:gridCol w="3151662"/>
                <a:gridCol w="3151662"/>
                <a:gridCol w="3151571"/>
              </a:tblGrid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Persona（客群輪廓）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保固到期前 60 天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回廠間隔拉長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刪項後首次回廠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過保精算派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您好，提醒您，愛車保固即將屆滿。新車基本保證為自交車日起4年或120,000公里…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您好，提醒您留意愛車保養週期：一般使用建議每六個月回廠；若半年超過一萬公里，則建…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您好，我是服務廠專員。想提醒您，上次未同意的估價項目仍由您決定是否處理。若自費更…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品質失望派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您好，您的保固即將屆滿，目前保證窗口仍在，可先核對新車基本保證；期限為交車日起4…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您好，提醒您，Lexus提供全年免費的尊榮安檢。一般使用建議每六個月回廠保養及檢…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您好，上次未處理的項目是否進行，仍由您決定；若想再確認車況，可預約回廠安排全年免…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口碑建議者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您好，提醒您，愛車保固即將屆滿。新車基本保證為自交車日起4年或120,000公里…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您好，提醒您可依使用頻率安排愛車保養：一般使用建議每六個月回廠；若半年超過一萬公…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您好，官方資訊可轉述給車友：自費於Lexus服務廠更換的正廠零件（消耗性零件除外…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靜默出走者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您好，提醒您，愛車保固即將屆滿。新車基本保證為自交車日起4年或行駛120,000…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您好，提醒您，可依愛車使用情況安排回廠：一般使用建議每半年實施定期保養；若半年超…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您好，若您想回廠，自費更換的正廠零件（消耗性零件除外），保證自更換日起2年或行駛…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20624" y="5266944"/>
            <a:ext cx="11356848" cy="115214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5340096"/>
            <a:ext cx="11064240" cy="10424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則對 76 條官方條款查核通過。人工核准才投遞。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十二則只列前 40 字。待料全文見附錄 A3，客訴回訪見附錄 A5。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來源：iPAS 骨架頁、9/30 會議記錄、iPAS 導入對照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人工篩選工時省九成以上；五項風險都有對策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074920" cy="12070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42416"/>
            <a:ext cx="487375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需求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人走了才知道 → 過保、刪項、間隔拉長時先找到人。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286000"/>
            <a:ext cx="5074920" cy="12070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2340864"/>
            <a:ext cx="487375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技術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判斷、分群、生成都有原型。8 條規則已對到 DMS 欄位。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584448"/>
            <a:ext cx="5074920" cy="12070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3639312"/>
            <a:ext cx="487375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財務：人力成本節省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人工逐句篩 2.1 萬句約需 106 人時（估）。本機模型 4.1 小時跑完，零 API 費。人力改花在審名單、審話術。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4882896"/>
            <a:ext cx="5074920" cy="12070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4937759"/>
            <a:ext cx="487375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風險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五項主要風險，對策見右表。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650992" y="987552"/>
          <a:ext cx="6126480" cy="5084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/>
                <a:gridCol w="2148840"/>
                <a:gridCol w="2606040"/>
                <a:gridCol w="713232"/>
              </a:tblGrid>
              <a:tr h="84734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層別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風險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對策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責任人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84734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生成內容寫錯價格或保固條款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只引用 76 條知識庫、數字逐字比對、人工審核必經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84734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模型在模糊句多報（困難層 F1 ≤ 0.51，精確率 0.34）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定位成「初篩＋人工複核」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84734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論壇代表性（正例 67% 來自 Mobile01，母體是論壇發言者）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分析頁註明母體與來源構成；上線改用 CRM 資料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84734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法規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個資與再識別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去識別流程，簡報與 Demo 只用去識別版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84734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組織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Persona（客群輪廓）被質疑主觀（ARI 0.08）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寫成「規則定義、每項可回溯原句」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來源：iPAS 骨架頁、9/30 會議記錄；模型現況見人工評估（T9）與本機模型報告（T8）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24 週導入，目標高風險回廠率 +10 個百分點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987552"/>
            <a:ext cx="11356848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層級對照 iPAS：成果＝業務、流程＝應用、模型＝系統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0624" y="1225296"/>
          <a:ext cx="11356848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3246120"/>
                <a:gridCol w="3520440"/>
                <a:gridCol w="3538728"/>
              </a:tblGrid>
              <a:tr h="37490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層級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現況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目標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37490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成果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高風險車主 12 個月回廠率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導入後建立基期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提升 10 個百分點＊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7490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高風險名單更新頻率；話術人工核准率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名單一次性產出；12 則主表＋4 則附錄已查核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每月更新；核准率 ≥ 80%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7490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高風險名單人工篩選工時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人工約 106 人時 → 模型 4.1 小時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−90% 以上（估）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7490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隨機層 F1、κ；每句判斷時間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0.82、κ 0.81；0.7 秒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≥ 0.8、κ ≥ 0.6，每季 300 句人工金標重驗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20624" y="3108960"/>
            <a:ext cx="11356848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＊假設值，導入後以基期實測校正。模型現況用隨機層人工金標，與目標同一把尺。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3346704"/>
            <a:ext cx="11356848" cy="11704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401568"/>
            <a:ext cx="11100816" cy="10607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數據護城河：三項資產，全部留在和泰內網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語料：2.1 萬句標註＋300 句人工金標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模型：自有 4B 模型，8 GB 顯卡 5 小時可重訓。人工審核回饋持續再訓練。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知識庫：76 條官方條款＋每則話術查核紀錄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4608576"/>
            <a:ext cx="2183587" cy="148132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4663440"/>
            <a:ext cx="2073859" cy="138988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  資料接入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R1–R8 換成 DMS 實際欄位，工單文字去識別後接入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13939" y="4608576"/>
            <a:ext cx="2183587" cy="148132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8803" y="4663440"/>
            <a:ext cx="2073859" cy="138988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  模型校準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重標 300 句金標，重驗 r4、調觸發門檻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07254" y="4608576"/>
            <a:ext cx="2183587" cy="148132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62118" y="4663440"/>
            <a:ext cx="2073859" cy="138988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  單一據點試行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一個服務廠跑完流程，專員審核後投遞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0569" y="4608576"/>
            <a:ext cx="2183587" cy="148132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55433" y="4663440"/>
            <a:ext cx="2073859" cy="138988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  擴大至全台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依試行調整話術與渠道，分批上線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93884" y="4608576"/>
            <a:ext cx="2183587" cy="148132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8748" y="4663440"/>
            <a:ext cx="2073859" cy="138988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  持續監控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不設終點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日監控、週收樣本、月重評、季重驗模型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" y="6126480"/>
            <a:ext cx="11356848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合計約 24 週（持續監控不設終點）。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 補充資料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來源：L7 運作流程；圖 F8。線框為示意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每則話術都經人工核准；決賽提供可操作版</a:t>
            </a:r>
          </a:p>
        </p:txBody>
      </p:sp>
      <p:pic>
        <p:nvPicPr>
          <p:cNvPr id="6" name="Picture 5" descr="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595" y="987552"/>
            <a:ext cx="10518905" cy="3520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0624" y="4581144"/>
            <a:ext cx="11356848" cy="183794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624" y="4581144"/>
            <a:ext cx="11356848" cy="32918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4599431"/>
            <a:ext cx="1117396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5　溝通審核佇列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965192"/>
            <a:ext cx="3931920" cy="138074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車主 H-7F3A　風險 高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Persona　過保精算派　觸發 R1 過保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話術草稿　引用條目 1、13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44968" y="5020056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8" y="5056632"/>
            <a:ext cx="123444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核准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70848" y="5020056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0848" y="5056632"/>
            <a:ext cx="123444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改寫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96728" y="5020056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C05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96728" y="5056632"/>
            <a:ext cx="123444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退回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035040"/>
            <a:ext cx="110642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未核准不投遞。決賽再給可操作版。代號為示意，不是論壇帳號。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A1 術語表（不計入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來源：本機模型報告（T8）、人工評估（T9）、風險與 Persona（客群輪廓）報告（T10）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本案用到的技術名詞：定義與在本案的用法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4297680"/>
                <a:gridCol w="4727448"/>
              </a:tblGrid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名詞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定義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本案用法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ETL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Extract-Transform-Load：擷取、清洗轉換、載入。與 ELT（先載入再轉換）不同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爬蟲擷取→去重、切句、售後關鍵詞篩選→寫入 jsonl；23.6 萬句留 21,183 句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弱監督標註（LLM-as-labeler）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用模型而非人工產生訓練標籤，事後以人工樣本驗證品質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初篩＋Sonnet／GPT 帶上下文複核；人工 300 句驗證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監督式學習／監督式微調 SFT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用「輸入＋正確答案」訓練；SFT 是在預訓練模型上以標籤資料微調，非從零訓練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以 21,183 句 LLM 標籤微調 Qwen3-4B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QLoRA（NF4 4-bit、LoRA r=16）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把基底模型量化成 4 位元，只訓練低秩附加參數，省顯存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 GB 顯卡 5 小時完成；adapter 約數十 MB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GroupSplit／資料洩漏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依群組（文章）切分訓練與測試，避免同篇句子兩邊都出現而高估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600 句測試集所在 421 篇整篇排除訓練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類別不平衡／過採樣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正例太少時重複抽樣正例，避免模型全猜負例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7.9% → 訓練時提高到四成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Prefill-only（System-One 決策）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只讀 prompt 取下一個 token 在候選選項上的機率，不生成文字，快且可控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流失四級與立場各成 yes/no 候選題；每句 0.7 秒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Precision／Recall／F1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報流失的句子有多少是真的／真的流失有多少被抓到／兩者調和平均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 隨機層 P 0.88、R 0.78、F1 0.82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Cohen's κ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扣掉瞎猜也會對的部分後的一致程度；0.6 以上算好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人工兩人 κ 0.40（仲裁後成金標）；r4 對人工 κ 0.81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校準（reliability bins）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把預測機率分箱，看每箱實際正例比例是否接近機率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最高信心桶約七成為真正例，方向對、尚未完全校準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χ²、Cramér's V、Wilson CI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類別關聯檢定、其效果量、比例的信賴區間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來源流失率差異 χ²=99.5、V=0.125；九面向勝算比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RAG（檢索增強生成）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先從知識庫檢索相關條目，再讓模型只依這些內容生成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76 條（官網 40、手冊 36）；12 則主表＋4 則附錄，每則附引用與查核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8209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K-means／silhouette／ARI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分群法、分群品質指標、兩種分群結果的一致度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驗證四個 Persona（客群輪廓）：只有靜默出走者被資料獨立支持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A2 補充圖表（不計入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來源：統計檢定報告（T7）、風險與 Persona（客群輪廓）報告（T10）；圖 F2、F4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三站發言者流失率，與發言者風險分布</a:t>
            </a:r>
          </a:p>
        </p:txBody>
      </p:sp>
      <p:pic>
        <p:nvPicPr>
          <p:cNvPr id="6" name="Picture 5" descr="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40" y="987552"/>
            <a:ext cx="11000815" cy="208483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0624" y="3108960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3145536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F2　論壇發言者流失率。　Mobile01 18.2%、PTT 14.1%、Dcard 6.8%。母體是論壇發言者，χ²=99.5。</a:t>
            </a:r>
          </a:p>
        </p:txBody>
      </p:sp>
      <p:pic>
        <p:nvPicPr>
          <p:cNvPr id="9" name="Picture 8" descr="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40" y="3621024"/>
            <a:ext cx="11000815" cy="208483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20624" y="5742432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5779008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F4　發言者風險分布。　高風險發言者 1,049 人（16.4%）；約八成在低風險。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A2b 補充圖表（不計入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來源：本機模型報告（T8）、趨勢報告（T15）；圖 F6、F9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校準曲線，與季趨勢預警</a:t>
            </a:r>
          </a:p>
        </p:txBody>
      </p:sp>
      <p:pic>
        <p:nvPicPr>
          <p:cNvPr id="6" name="Picture 5" descr="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40" y="987552"/>
            <a:ext cx="11000815" cy="208483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0624" y="3108960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3145536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F6　校準曲線。　最高信心桶 n=71，實際流失 68%。高分仍偏高，方向對。</a:t>
            </a:r>
          </a:p>
        </p:txBody>
      </p:sp>
      <p:pic>
        <p:nvPicPr>
          <p:cNvPr id="9" name="Picture 8" descr="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146" y="3621024"/>
            <a:ext cx="10551802" cy="208483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20624" y="5742432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5779008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F9　季趨勢預警。　討論量達前 4 週平均 3 倍且至少 5 句就亮燈。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A3 待料通知話術（不計入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來源：話術範例、生成與查核報告（T14）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待料逾 7 天就主動通知，話術不寫到貨日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26609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6"/>
            <a:ext cx="11119104" cy="256946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過保精算派 × 待料通知　LINE 官方帳號推播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26、65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您好，零件還在等料，讓您久等了，很抱歉。到貨時間確定後，我們會第一時間通知您。 到貨後如需到府取送車，可在保養或維修預定入廠日前 2 天預約，單程距離限 10 公里以內。若想了解目前進度，請聯絡您的服務專員。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3/3；重生成 0 次；生成次數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3758183"/>
            <a:ext cx="11356848" cy="26609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813047"/>
            <a:ext cx="11119104" cy="256946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待料通知　服務廠專員電話腳本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26、57、65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讓您久等了，很抱歉。目前零件仍在等待中，有進一步消息我會再聯繫您。如果愛車因零件缺料而無法行駛或有行車安全疑慮，需要留廠72小時以上，維修期間我們會提供免費代步車；板金或噴漆維修恕無法提供，現車仍需視服務廠車輛調度實況而定。您也可聯絡我這位服務專員，或致電0800-036-036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6/6；重生成 1 次；生成次數 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A4 CRM 觸發門檻（不計入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Persona（客群輪廓）報告（T10）、L7 運作流程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八條規則的欄位與門檻；投影片只留欄位名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846320"/>
                <a:gridCol w="4407408"/>
              </a:tblGrid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欄位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門檻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R1 過保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到期前 90 天未購延保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R2 價格負面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連續 2 次拒絕估價項目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R3 找出口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逾期超過建議週期 1.5 倍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 自理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金額較前次下降超過 40%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R5 零件等料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待料超過 7 天，或同車至少 2 次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R6 品質失望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30 天內同項目回廠至少 2 次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R7 已離開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12 個月無工單（只驗證，不觸發）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R8 帶人走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 0–6，且 12 個月內有客訴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A5 客訴回訪話術（不計入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來源：客訴關懷策略、話術範例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客訴結案第 7 天回訪，不推銷、不要求刪評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26609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6"/>
            <a:ext cx="11119104" cy="256946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客訴結案後 7 天回訪　專員電話腳本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我是上次為您服務的專員。很抱歉先前維修的狀況讓您費心了，想跟您確認，愛車修好後，同樣的狀況是否還有再出現？如果有，請直接找我，我會協助安排後續確認。您也可以預約全年免費的尊榮安檢，協助確認目前車況；後續有任何狀況，都可以由我作為您的服務窗口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1/1；重生成 0 次；生成次數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3758183"/>
            <a:ext cx="11356848" cy="26609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813047"/>
            <a:ext cx="11119104" cy="256946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口碑建議者 × 客訴結案後 7 天回訪　LINE 一對一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65、73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您好，感謝您提出意見，讓我們有機會檢視服務。後續改善為【改善做法，由專員填入】。若仍有疑問，您可聯絡服務專員、Lexus LINE 官方帳號的 AI 客服，或免付費專線 0800-036-036 反映；預約可於入廠前一日完成。也歡迎您回覆目前的感受，我們會持續聆聽。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1/1；重生成 0 次；生成次數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